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rts/chartEx1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5CDE"/>
    <a:srgbClr val="E0C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usiness%20analyst%20%20course\Excel\final%20project\excel%20project%20final\Sales_v1_final%20(Recovered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usiness%20analyst%20%20course\Excel\final%20project\excel%20project%20final\Sales_v1_final%20(Recovered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usiness%20analyst%20%20course\Excel\final%20project\excel%20project%20final\Sales_v1_final%20(Recovered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usiness%20analyst%20%20course\Excel\final%20project\excel%20project%20final\Sales_v1_final%20(Recovered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business%20analyst%20%20course\Excel\final%20project\excel%20project%20final\Sales_v1_final%20(Recovered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D:\business%20analyst%20%20course\Excel\final%20project\excel%20project%20final\Sales_v1_final%20(Recovered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i="0" u="none" strike="noStrike" kern="1200" baseline="0">
                <a:solidFill>
                  <a:srgbClr val="44546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Sales by Country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Sheet1!$K$15</c:f>
              <c:strCache>
                <c:ptCount val="1"/>
                <c:pt idx="0">
                  <c:v>Canada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Sheet1!$L$14</c:f>
              <c:strCache>
                <c:ptCount val="1"/>
                <c:pt idx="0">
                  <c:v>Sum of  Sales</c:v>
                </c:pt>
              </c:strCache>
            </c:strRef>
          </c:cat>
          <c:val>
            <c:numRef>
              <c:f>Sheet1!$L$15</c:f>
              <c:numCache>
                <c:formatCode>General</c:formatCode>
                <c:ptCount val="1"/>
                <c:pt idx="0">
                  <c:v>24887654.88499999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FE-4E52-9E53-BED3FC66003E}"/>
            </c:ext>
          </c:extLst>
        </c:ser>
        <c:ser>
          <c:idx val="1"/>
          <c:order val="1"/>
          <c:tx>
            <c:strRef>
              <c:f>Sheet1!$K$16</c:f>
              <c:strCache>
                <c:ptCount val="1"/>
                <c:pt idx="0">
                  <c:v>France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Sheet1!$L$14</c:f>
              <c:strCache>
                <c:ptCount val="1"/>
                <c:pt idx="0">
                  <c:v>Sum of  Sales</c:v>
                </c:pt>
              </c:strCache>
            </c:strRef>
          </c:cat>
          <c:val>
            <c:numRef>
              <c:f>Sheet1!$L$16</c:f>
              <c:numCache>
                <c:formatCode>General</c:formatCode>
                <c:ptCount val="1"/>
                <c:pt idx="0">
                  <c:v>24354172.280000009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FE-4E52-9E53-BED3FC66003E}"/>
            </c:ext>
          </c:extLst>
        </c:ser>
        <c:ser>
          <c:idx val="2"/>
          <c:order val="2"/>
          <c:tx>
            <c:strRef>
              <c:f>Sheet1!$K$17</c:f>
              <c:strCache>
                <c:ptCount val="1"/>
                <c:pt idx="0">
                  <c:v>Germany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Sheet1!$L$14</c:f>
              <c:strCache>
                <c:ptCount val="1"/>
                <c:pt idx="0">
                  <c:v>Sum of  Sales</c:v>
                </c:pt>
              </c:strCache>
            </c:strRef>
          </c:cat>
          <c:val>
            <c:numRef>
              <c:f>Sheet1!$L$17</c:f>
              <c:numCache>
                <c:formatCode>General</c:formatCode>
                <c:ptCount val="1"/>
                <c:pt idx="0">
                  <c:v>23505340.820000004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FE-4E52-9E53-BED3FC66003E}"/>
            </c:ext>
          </c:extLst>
        </c:ser>
        <c:ser>
          <c:idx val="3"/>
          <c:order val="3"/>
          <c:tx>
            <c:strRef>
              <c:f>Sheet1!$K$18</c:f>
              <c:strCache>
                <c:ptCount val="1"/>
                <c:pt idx="0">
                  <c:v>Mexico</c:v>
                </c:pt>
              </c:strCache>
            </c:strRef>
          </c:tx>
          <c:spPr>
            <a:solidFill>
              <a:schemeClr val="accent4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Sheet1!$L$14</c:f>
              <c:strCache>
                <c:ptCount val="1"/>
                <c:pt idx="0">
                  <c:v>Sum of  Sales</c:v>
                </c:pt>
              </c:strCache>
            </c:strRef>
          </c:cat>
          <c:val>
            <c:numRef>
              <c:f>Sheet1!$L$18</c:f>
              <c:numCache>
                <c:formatCode>General</c:formatCode>
                <c:ptCount val="1"/>
                <c:pt idx="0">
                  <c:v>20949352.109999992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FE-4E52-9E53-BED3FC66003E}"/>
            </c:ext>
          </c:extLst>
        </c:ser>
        <c:ser>
          <c:idx val="4"/>
          <c:order val="4"/>
          <c:tx>
            <c:strRef>
              <c:f>Sheet1!$K$19</c:f>
              <c:strCache>
                <c:ptCount val="1"/>
                <c:pt idx="0">
                  <c:v>USA</c:v>
                </c:pt>
              </c:strCache>
            </c:strRef>
          </c:tx>
          <c:spPr>
            <a:solidFill>
              <a:schemeClr val="accent5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Sheet1!$L$14</c:f>
              <c:strCache>
                <c:ptCount val="1"/>
                <c:pt idx="0">
                  <c:v>Sum of  Sales</c:v>
                </c:pt>
              </c:strCache>
            </c:strRef>
          </c:cat>
          <c:val>
            <c:numRef>
              <c:f>Sheet1!$L$19</c:f>
              <c:numCache>
                <c:formatCode>General</c:formatCode>
                <c:ptCount val="1"/>
                <c:pt idx="0">
                  <c:v>25029830.165000007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FE-4E52-9E53-BED3FC66003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537746928"/>
        <c:axId val="1537742128"/>
      </c:barChart>
      <c:catAx>
        <c:axId val="15377469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742128"/>
        <c:crosses val="autoZero"/>
        <c:auto val="1"/>
        <c:lblAlgn val="ctr"/>
        <c:lblOffset val="100"/>
        <c:noMultiLvlLbl val="0"/>
      </c:catAx>
      <c:valAx>
        <c:axId val="15377421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5000"/>
                  <a:lumOff val="35000"/>
                  <a:alpha val="48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746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[Sales_v1_final (Recovered).xlsx]pivot table!2.Segment-wise Sales &amp; Profit</c:name>
    <c:fmtId val="3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Segment-wise Sales &amp; Profit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layout>
        <c:manualLayout>
          <c:xMode val="edge"/>
          <c:yMode val="edge"/>
          <c:x val="0.3139234342968143"/>
          <c:y val="3.23979258521959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3888888888888888E-2"/>
              <c:y val="-1.9047619047619049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b="1" baseline="0"/>
                  <a:t> </a:t>
                </a:r>
                <a:fld id="{504CB44A-04B6-472E-A6DE-C8B4ABD5CEBB}" type="PERCENTAGE">
                  <a:rPr lang="en-US" b="1" baseline="0"/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t>[PERCENTAGE]</a:t>
                </a:fld>
                <a:endParaRPr lang="en-US" b="1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1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0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22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23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24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25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2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2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3888888888888888E-2"/>
              <c:y val="-1.9047619047619049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b="1" baseline="0"/>
                  <a:t> </a:t>
                </a:r>
                <a:fld id="{504CB44A-04B6-472E-A6DE-C8B4ABD5CEBB}" type="PERCENTAGE">
                  <a:rPr lang="en-US" b="1" baseline="0"/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t>[PERCENTAGE]</a:t>
                </a:fld>
                <a:endParaRPr lang="en-US" b="1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3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2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34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35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36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37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3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4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4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4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3888888888888888E-2"/>
              <c:y val="-1.9047619047619049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b="1" baseline="0"/>
                  <a:t> </a:t>
                </a:r>
                <a:fld id="{3223AD64-28C0-4B9E-8C19-3CC01821BA0F}" type="VALUE">
                  <a:rPr lang="en-US" b="1" baseline="0"/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t>[VALUE]</a:t>
                </a:fld>
                <a:endParaRPr lang="en-US" b="1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4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44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46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47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48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49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5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5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5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5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3888888888888888E-2"/>
              <c:y val="-1.9047619047619049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b="1" baseline="0"/>
                  <a:t> </a:t>
                </a:r>
                <a:fld id="{3223AD64-28C0-4B9E-8C19-3CC01821BA0F}" type="VALUE">
                  <a:rPr lang="en-US" b="1" baseline="0"/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t>[VALUE]</a:t>
                </a:fld>
                <a:endParaRPr lang="en-US" b="1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5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56"/>
        <c:spPr>
          <a:solidFill>
            <a:schemeClr val="accent2"/>
          </a:solidFill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58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59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60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61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6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6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6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6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3888888888888888E-2"/>
              <c:y val="-1.9047619047619049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b="1" baseline="0"/>
                  <a:t> </a:t>
                </a:r>
                <a:fld id="{3223AD64-28C0-4B9E-8C19-3CC01821BA0F}" type="VALUE">
                  <a:rPr lang="en-US" b="1" baseline="0"/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t>[VALUE]</a:t>
                </a:fld>
                <a:endParaRPr lang="en-US" b="1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6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6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70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71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72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73"/>
        <c:spPr>
          <a:solidFill>
            <a:schemeClr val="accent2"/>
          </a:solidFill>
          <a:ln w="28575" cap="rnd">
            <a:solidFill>
              <a:schemeClr val="accent4"/>
            </a:solidFill>
            <a:round/>
          </a:ln>
          <a:effectLst/>
        </c:spPr>
        <c:marker>
          <c:symbol val="none"/>
        </c:marker>
      </c:pivotFmt>
      <c:pivotFmt>
        <c:idx val="7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7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7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7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3888888888888888E-2"/>
              <c:y val="-1.9047619047619049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b="1" baseline="0"/>
                  <a:t> </a:t>
                </a:r>
                <a:fld id="{3223AD64-28C0-4B9E-8C19-3CC01821BA0F}" type="VALUE">
                  <a:rPr lang="en-US" b="1" baseline="0"/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t>[VALUE]</a:t>
                </a:fld>
                <a:endParaRPr lang="en-US" b="1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7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8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solidFill>
            <a:schemeClr val="accent4"/>
          </a:solidFill>
          <a:ln w="28575" cap="rnd">
            <a:solidFill>
              <a:schemeClr val="accent4"/>
            </a:solidFill>
            <a:round/>
          </a:ln>
          <a:effectLst/>
        </c:spPr>
      </c:pivotFmt>
      <c:pivotFmt>
        <c:idx val="82"/>
        <c:spPr>
          <a:solidFill>
            <a:schemeClr val="accent4"/>
          </a:solidFill>
          <a:ln w="28575" cap="rnd">
            <a:solidFill>
              <a:schemeClr val="accent4"/>
            </a:solidFill>
            <a:round/>
          </a:ln>
          <a:effectLst/>
        </c:spPr>
      </c:pivotFmt>
      <c:pivotFmt>
        <c:idx val="83"/>
        <c:spPr>
          <a:solidFill>
            <a:schemeClr val="accent4"/>
          </a:solidFill>
          <a:ln w="28575" cap="rnd">
            <a:solidFill>
              <a:schemeClr val="accent4"/>
            </a:solidFill>
            <a:round/>
          </a:ln>
          <a:effectLst/>
        </c:spPr>
      </c:pivotFmt>
      <c:pivotFmt>
        <c:idx val="84"/>
        <c:spPr>
          <a:solidFill>
            <a:schemeClr val="accent4"/>
          </a:solidFill>
          <a:ln w="28575" cap="rnd">
            <a:solidFill>
              <a:schemeClr val="accent4"/>
            </a:solidFill>
            <a:round/>
          </a:ln>
          <a:effectLst/>
        </c:spPr>
      </c:pivotFmt>
      <c:pivotFmt>
        <c:idx val="85"/>
        <c:spPr>
          <a:solidFill>
            <a:schemeClr val="accent4"/>
          </a:solidFill>
          <a:ln w="28575" cap="rnd">
            <a:solidFill>
              <a:schemeClr val="accent4"/>
            </a:solidFill>
            <a:round/>
          </a:ln>
          <a:effectLst/>
        </c:spPr>
      </c:pivotFmt>
      <c:pivotFmt>
        <c:idx val="8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8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8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9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1.3888888888888888E-2"/>
              <c:y val="-1.9047619047619049E-2"/>
            </c:manualLayout>
          </c:layout>
          <c:tx>
            <c:rich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b="1" baseline="0"/>
                  <a:t> </a:t>
                </a:r>
                <a:fld id="{3223AD64-28C0-4B9E-8C19-3CC01821BA0F}" type="VALUE">
                  <a:rPr lang="en-US" b="1" baseline="0"/>
                  <a:pPr>
                    <a:defRPr sz="900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Times New Roman" panose="02020603050405020304" pitchFamily="18" charset="0"/>
                      <a:ea typeface="+mn-ea"/>
                      <a:cs typeface="Times New Roman" panose="02020603050405020304" pitchFamily="18" charset="0"/>
                    </a:defRPr>
                  </a:pPr>
                  <a:t>[VALUE]</a:t>
                </a:fld>
                <a:endParaRPr lang="en-US" b="1" baseline="0"/>
              </a:p>
            </c:rich>
          </c:tx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9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9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spPr>
          <a:solidFill>
            <a:schemeClr val="accent4"/>
          </a:solidFill>
          <a:ln w="28575" cap="rnd">
            <a:solidFill>
              <a:schemeClr val="accent4"/>
            </a:solidFill>
            <a:round/>
          </a:ln>
          <a:effectLst/>
        </c:spPr>
      </c:pivotFmt>
      <c:pivotFmt>
        <c:idx val="94"/>
        <c:spPr>
          <a:solidFill>
            <a:schemeClr val="accent4"/>
          </a:solidFill>
          <a:ln w="28575" cap="rnd">
            <a:solidFill>
              <a:schemeClr val="accent4"/>
            </a:solidFill>
            <a:round/>
          </a:ln>
          <a:effectLst/>
        </c:spPr>
      </c:pivotFmt>
      <c:pivotFmt>
        <c:idx val="95"/>
        <c:spPr>
          <a:solidFill>
            <a:schemeClr val="accent4"/>
          </a:solidFill>
          <a:ln w="28575" cap="rnd">
            <a:solidFill>
              <a:schemeClr val="accent4"/>
            </a:solidFill>
            <a:round/>
          </a:ln>
          <a:effectLst/>
        </c:spPr>
      </c:pivotFmt>
      <c:pivotFmt>
        <c:idx val="96"/>
        <c:spPr>
          <a:solidFill>
            <a:schemeClr val="accent4"/>
          </a:solidFill>
          <a:ln w="28575" cap="rnd">
            <a:solidFill>
              <a:schemeClr val="accent4"/>
            </a:solidFill>
            <a:round/>
          </a:ln>
          <a:effectLst/>
        </c:spPr>
      </c:pivotFmt>
      <c:pivotFmt>
        <c:idx val="97"/>
        <c:spPr>
          <a:solidFill>
            <a:schemeClr val="accent4"/>
          </a:solidFill>
          <a:ln w="28575" cap="rnd">
            <a:solidFill>
              <a:schemeClr val="accent4"/>
            </a:solidFill>
            <a:round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2971872265966755"/>
          <c:y val="0.12531288598116411"/>
          <c:w val="0.69814394721732176"/>
          <c:h val="0.8447211186073999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'pivot table'!$D$14</c:f>
              <c:strCache>
                <c:ptCount val="1"/>
                <c:pt idx="0">
                  <c:v>Sum of  Sales</c:v>
                </c:pt>
              </c:strCache>
            </c:strRef>
          </c:tx>
          <c:spPr>
            <a:solidFill>
              <a:schemeClr val="accent2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AC5-4511-A11C-ADCF281A462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AC5-4511-A11C-ADCF281A462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AC5-4511-A11C-ADCF281A462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AC5-4511-A11C-ADCF281A462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AC5-4511-A11C-ADCF281A4623}"/>
              </c:ext>
            </c:extLst>
          </c:dPt>
          <c:dLbls>
            <c:dLbl>
              <c:idx val="3"/>
              <c:layout>
                <c:manualLayout>
                  <c:x val="1.3888888888888888E-2"/>
                  <c:y val="-1.9047619047619049E-2"/>
                </c:manualLayout>
              </c:layout>
              <c:tx>
                <c:rich>
                  <a:bodyPr/>
                  <a:lstStyle/>
                  <a:p>
                    <a:r>
                      <a:rPr lang="en-US" b="1" baseline="0"/>
                      <a:t> </a:t>
                    </a:r>
                    <a:fld id="{3223AD64-28C0-4B9E-8C19-3CC01821BA0F}" type="VALUE">
                      <a:rPr lang="en-US" b="1" baseline="0"/>
                      <a:pPr/>
                      <a:t>[VALUE]</a:t>
                    </a:fld>
                    <a:endParaRPr lang="en-US" b="1" baseline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7AC5-4511-A11C-ADCF281A46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'pivot table'!$C$15:$C$20</c:f>
              <c:strCache>
                <c:ptCount val="5"/>
                <c:pt idx="0">
                  <c:v>Channel Partners</c:v>
                </c:pt>
                <c:pt idx="1">
                  <c:v>Enterprise</c:v>
                </c:pt>
                <c:pt idx="2">
                  <c:v>Government</c:v>
                </c:pt>
                <c:pt idx="3">
                  <c:v>Midmarket</c:v>
                </c:pt>
                <c:pt idx="4">
                  <c:v>Small Business</c:v>
                </c:pt>
              </c:strCache>
            </c:strRef>
          </c:cat>
          <c:val>
            <c:numRef>
              <c:f>'pivot table'!$D$15:$D$20</c:f>
              <c:numCache>
                <c:formatCode>General</c:formatCode>
                <c:ptCount val="5"/>
                <c:pt idx="0">
                  <c:v>1800593.6399999997</c:v>
                </c:pt>
                <c:pt idx="1">
                  <c:v>19611694.375</c:v>
                </c:pt>
                <c:pt idx="2">
                  <c:v>52504260.670000046</c:v>
                </c:pt>
                <c:pt idx="3">
                  <c:v>2381883.0749999997</c:v>
                </c:pt>
                <c:pt idx="4">
                  <c:v>42427918.5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AC5-4511-A11C-ADCF281A4623}"/>
            </c:ext>
          </c:extLst>
        </c:ser>
        <c:ser>
          <c:idx val="1"/>
          <c:order val="1"/>
          <c:tx>
            <c:strRef>
              <c:f>'pivot table'!$E$14</c:f>
              <c:strCache>
                <c:ptCount val="1"/>
                <c:pt idx="0">
                  <c:v>Sum of Profit</c:v>
                </c:pt>
              </c:strCache>
            </c:strRef>
          </c:tx>
          <c:spPr>
            <a:solidFill>
              <a:schemeClr val="accent4"/>
            </a:solidFill>
            <a:ln w="19050">
              <a:solidFill>
                <a:schemeClr val="lt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 w="28575" cap="rnd">
                <a:solidFill>
                  <a:schemeClr val="accent4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C-7AC5-4511-A11C-ADCF281A462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28575" cap="rnd">
                <a:solidFill>
                  <a:schemeClr val="accent4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E-7AC5-4511-A11C-ADCF281A462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 w="28575" cap="rnd">
                <a:solidFill>
                  <a:schemeClr val="accent4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0-7AC5-4511-A11C-ADCF281A462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 w="28575" cap="rnd">
                <a:solidFill>
                  <a:schemeClr val="accent4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2-7AC5-4511-A11C-ADCF281A462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 w="28575" cap="rnd">
                <a:solidFill>
                  <a:schemeClr val="accent4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4-7AC5-4511-A11C-ADCF281A46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table'!$C$15:$C$20</c:f>
              <c:strCache>
                <c:ptCount val="5"/>
                <c:pt idx="0">
                  <c:v>Channel Partners</c:v>
                </c:pt>
                <c:pt idx="1">
                  <c:v>Enterprise</c:v>
                </c:pt>
                <c:pt idx="2">
                  <c:v>Government</c:v>
                </c:pt>
                <c:pt idx="3">
                  <c:v>Midmarket</c:v>
                </c:pt>
                <c:pt idx="4">
                  <c:v>Small Business</c:v>
                </c:pt>
              </c:strCache>
            </c:strRef>
          </c:cat>
          <c:val>
            <c:numRef>
              <c:f>'pivot table'!$E$15:$E$20</c:f>
              <c:numCache>
                <c:formatCode>General</c:formatCode>
                <c:ptCount val="5"/>
                <c:pt idx="0">
                  <c:v>1316803.1400000004</c:v>
                </c:pt>
                <c:pt idx="1">
                  <c:v>-614545.625</c:v>
                </c:pt>
                <c:pt idx="2">
                  <c:v>11388173.169999994</c:v>
                </c:pt>
                <c:pt idx="3">
                  <c:v>660103.07500000007</c:v>
                </c:pt>
                <c:pt idx="4">
                  <c:v>4143168.5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7AC5-4511-A11C-ADCF281A46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806354479"/>
        <c:axId val="1806344879"/>
      </c:barChart>
      <c:catAx>
        <c:axId val="180635447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6344879"/>
        <c:crosses val="autoZero"/>
        <c:auto val="1"/>
        <c:lblAlgn val="ctr"/>
        <c:lblOffset val="100"/>
        <c:noMultiLvlLbl val="0"/>
      </c:catAx>
      <c:valAx>
        <c:axId val="1806344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6354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E0CBF5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[Sales_v1_final (Recovered).xlsx]pivot table!3.Discount Band Impact Analysis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Band Impact (Discount vs Sales)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'pivot table'!$E$22</c:f>
              <c:strCache>
                <c:ptCount val="1"/>
                <c:pt idx="0">
                  <c:v>Sum of  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table'!$C$23:$C$27</c:f>
              <c:strCache>
                <c:ptCount val="4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  <c:pt idx="3">
                  <c:v>None</c:v>
                </c:pt>
              </c:strCache>
            </c:strRef>
          </c:cat>
          <c:val>
            <c:numRef>
              <c:f>'pivot table'!$E$23:$E$27</c:f>
              <c:numCache>
                <c:formatCode>General</c:formatCode>
                <c:ptCount val="4"/>
                <c:pt idx="0">
                  <c:v>37372486.724999987</c:v>
                </c:pt>
                <c:pt idx="1">
                  <c:v>34629778.700000003</c:v>
                </c:pt>
                <c:pt idx="2">
                  <c:v>38780430.835000001</c:v>
                </c:pt>
                <c:pt idx="3">
                  <c:v>7943654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2B-48F2-9998-5978EEBDA9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806404879"/>
        <c:axId val="1806407279"/>
      </c:barChart>
      <c:lineChart>
        <c:grouping val="standard"/>
        <c:varyColors val="0"/>
        <c:ser>
          <c:idx val="0"/>
          <c:order val="0"/>
          <c:tx>
            <c:strRef>
              <c:f>'pivot table'!$D$22</c:f>
              <c:strCache>
                <c:ptCount val="1"/>
                <c:pt idx="0">
                  <c:v>Sum of Discounts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table'!$C$23:$C$27</c:f>
              <c:strCache>
                <c:ptCount val="4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  <c:pt idx="3">
                  <c:v>None</c:v>
                </c:pt>
              </c:strCache>
            </c:strRef>
          </c:cat>
          <c:val>
            <c:numRef>
              <c:f>'pivot table'!$D$23:$D$27</c:f>
              <c:numCache>
                <c:formatCode>General</c:formatCode>
                <c:ptCount val="4"/>
                <c:pt idx="0">
                  <c:v>5317026.2749999994</c:v>
                </c:pt>
                <c:pt idx="1">
                  <c:v>885675.8</c:v>
                </c:pt>
                <c:pt idx="2">
                  <c:v>3002546.1649999986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2B-48F2-9998-5978EEBDA9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06404879"/>
        <c:axId val="1806407279"/>
      </c:lineChart>
      <c:catAx>
        <c:axId val="180640487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6407279"/>
        <c:crosses val="autoZero"/>
        <c:auto val="1"/>
        <c:lblAlgn val="ctr"/>
        <c:lblOffset val="100"/>
        <c:noMultiLvlLbl val="0"/>
      </c:catAx>
      <c:valAx>
        <c:axId val="1806407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64048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E0CBF5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[Sales_v1_final (Recovered).xlsx]pivot table!4.Monthly Sales Trend</c:name>
    <c:fmtId val="10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 and forcast line</a:t>
            </a:r>
          </a:p>
        </c:rich>
      </c:tx>
      <c:layout>
        <c:manualLayout>
          <c:xMode val="edge"/>
          <c:yMode val="edge"/>
          <c:x val="0.25423489573924718"/>
          <c:y val="6.84237386993292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4258092738407699"/>
          <c:y val="0.24053913550661241"/>
          <c:w val="0.81809411981397073"/>
          <c:h val="0.55048214081935409"/>
        </c:manualLayout>
      </c:layout>
      <c:lineChart>
        <c:grouping val="standard"/>
        <c:varyColors val="0"/>
        <c:ser>
          <c:idx val="0"/>
          <c:order val="0"/>
          <c:tx>
            <c:strRef>
              <c:f>'pivot table'!$H$3:$H$4</c:f>
              <c:strCache>
                <c:ptCount val="1"/>
                <c:pt idx="0">
                  <c:v>2013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'pivot table'!$G$5:$G$17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'pivot table'!$H$5:$H$17</c:f>
              <c:numCache>
                <c:formatCode>General</c:formatCode>
                <c:ptCount val="12"/>
                <c:pt idx="8">
                  <c:v>4484000.0299999993</c:v>
                </c:pt>
                <c:pt idx="9">
                  <c:v>9295611.0999999978</c:v>
                </c:pt>
                <c:pt idx="10">
                  <c:v>7267203.2999999998</c:v>
                </c:pt>
                <c:pt idx="11">
                  <c:v>5368441.08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AF4-43D6-B310-840CAB40E6BE}"/>
            </c:ext>
          </c:extLst>
        </c:ser>
        <c:ser>
          <c:idx val="1"/>
          <c:order val="1"/>
          <c:tx>
            <c:strRef>
              <c:f>'pivot table'!$I$3:$I$4</c:f>
              <c:strCache>
                <c:ptCount val="1"/>
                <c:pt idx="0">
                  <c:v>2014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forward val="3"/>
            <c:dispRSqr val="0"/>
            <c:dispEq val="0"/>
          </c:trendline>
          <c:cat>
            <c:strRef>
              <c:f>'pivot table'!$G$5:$G$17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'pivot table'!$I$5:$I$17</c:f>
              <c:numCache>
                <c:formatCode>General</c:formatCode>
                <c:ptCount val="12"/>
                <c:pt idx="0">
                  <c:v>6607761.6799999997</c:v>
                </c:pt>
                <c:pt idx="1">
                  <c:v>7297531.3900000006</c:v>
                </c:pt>
                <c:pt idx="2">
                  <c:v>5586859.8699999992</c:v>
                </c:pt>
                <c:pt idx="3">
                  <c:v>6964775.0700000003</c:v>
                </c:pt>
                <c:pt idx="4">
                  <c:v>6210211.0600000005</c:v>
                </c:pt>
                <c:pt idx="5">
                  <c:v>9518893.8199999966</c:v>
                </c:pt>
                <c:pt idx="6">
                  <c:v>8102920.1800000016</c:v>
                </c:pt>
                <c:pt idx="7">
                  <c:v>5864622.4199999999</c:v>
                </c:pt>
                <c:pt idx="8">
                  <c:v>6398697.2400000002</c:v>
                </c:pt>
                <c:pt idx="9">
                  <c:v>12375819.920000004</c:v>
                </c:pt>
                <c:pt idx="10">
                  <c:v>5384214.2000000002</c:v>
                </c:pt>
                <c:pt idx="11">
                  <c:v>11998787.9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AF4-43D6-B310-840CAB40E6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6455392"/>
        <c:axId val="1266474592"/>
      </c:lineChart>
      <c:catAx>
        <c:axId val="1266455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6474592"/>
        <c:crosses val="autoZero"/>
        <c:auto val="1"/>
        <c:lblAlgn val="ctr"/>
        <c:lblOffset val="100"/>
        <c:noMultiLvlLbl val="0"/>
      </c:catAx>
      <c:valAx>
        <c:axId val="1266474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6455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601637851948671"/>
          <c:y val="2.0823348168435434E-2"/>
          <c:w val="0.18723598315392762"/>
          <c:h val="0.1777571734692583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E0CBF5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vs COGS vs Profit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Sheet1!$G$14</c:f>
              <c:strCache>
                <c:ptCount val="1"/>
                <c:pt idx="0">
                  <c:v>Sum of COGS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4.5325779036827198E-2"/>
                  <c:y val="-0.11374407582938388"/>
                </c:manualLayout>
              </c:layout>
              <c:tx>
                <c:rich>
                  <a:bodyPr/>
                  <a:lstStyle/>
                  <a:p>
                    <a:fld id="{4E3899F1-32E7-426F-A561-D5AC87A4DD22}" type="VALUE">
                      <a:rPr lang="en-US" baseline="0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9F88-49E0-BE6A-CE4155F756CF}"/>
                </c:ext>
              </c:extLst>
            </c:dLbl>
            <c:dLbl>
              <c:idx val="1"/>
              <c:layout>
                <c:manualLayout>
                  <c:x val="-6.5155807365439092E-2"/>
                  <c:y val="-3.3175355450236969E-2"/>
                </c:manualLayout>
              </c:layout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7F7DCC85-1053-46F7-AD04-3D05A20D91A5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F88-49E0-BE6A-CE4155F756CF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Sheet1!$F$15:$F$16</c:f>
              <c:numCache>
                <c:formatCode>General</c:formatCode>
                <c:ptCount val="2"/>
                <c:pt idx="0">
                  <c:v>2013</c:v>
                </c:pt>
                <c:pt idx="1">
                  <c:v>2014</c:v>
                </c:pt>
              </c:numCache>
            </c:numRef>
          </c:cat>
          <c:val>
            <c:numRef>
              <c:f>Sheet1!$G$15:$G$16</c:f>
              <c:numCache>
                <c:formatCode>General</c:formatCode>
                <c:ptCount val="2"/>
                <c:pt idx="0">
                  <c:v>22536791</c:v>
                </c:pt>
                <c:pt idx="1">
                  <c:v>79295857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88-49E0-BE6A-CE4155F756CF}"/>
            </c:ext>
          </c:extLst>
        </c:ser>
        <c:ser>
          <c:idx val="1"/>
          <c:order val="1"/>
          <c:tx>
            <c:strRef>
              <c:f>Sheet1!$H$14</c:f>
              <c:strCache>
                <c:ptCount val="1"/>
                <c:pt idx="0">
                  <c:v>Sum of  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8328611898016998E-2"/>
                  <c:y val="-5.2132701421801035E-2"/>
                </c:manualLayout>
              </c:layout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A82ECE45-3843-48D6-BAB3-8ED0359415E2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F88-49E0-BE6A-CE4155F756C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5DB9A46E-CCF7-40DE-AA31-B240D170C961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9F88-49E0-BE6A-CE4155F756CF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Sheet1!$F$15:$F$16</c:f>
              <c:numCache>
                <c:formatCode>General</c:formatCode>
                <c:ptCount val="2"/>
                <c:pt idx="0">
                  <c:v>2013</c:v>
                </c:pt>
                <c:pt idx="1">
                  <c:v>2014</c:v>
                </c:pt>
              </c:numCache>
            </c:numRef>
          </c:cat>
          <c:val>
            <c:numRef>
              <c:f>Sheet1!$H$15:$H$16</c:f>
              <c:numCache>
                <c:formatCode>General</c:formatCode>
                <c:ptCount val="2"/>
                <c:pt idx="0">
                  <c:v>26415255.509999998</c:v>
                </c:pt>
                <c:pt idx="1">
                  <c:v>92311094.75000006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F88-49E0-BE6A-CE4155F756CF}"/>
            </c:ext>
          </c:extLst>
        </c:ser>
        <c:ser>
          <c:idx val="2"/>
          <c:order val="2"/>
          <c:tx>
            <c:strRef>
              <c:f>Sheet1!$I$14</c:f>
              <c:strCache>
                <c:ptCount val="1"/>
                <c:pt idx="0">
                  <c:v>Sum of Profit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9490084985835641E-2"/>
                  <c:y val="-4.2654028436019044E-2"/>
                </c:manualLayout>
              </c:layout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57D6B83A-8651-4220-9B43-269C406F2850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9F88-49E0-BE6A-CE4155F756CF}"/>
                </c:ext>
              </c:extLst>
            </c:dLbl>
            <c:dLbl>
              <c:idx val="1"/>
              <c:layout>
                <c:manualLayout>
                  <c:x val="4.2492917847025392E-2"/>
                  <c:y val="-5.2132701421801035E-2"/>
                </c:manualLayout>
              </c:layout>
              <c:tx>
                <c:rich>
                  <a:bodyPr/>
                  <a:lstStyle/>
                  <a:p>
                    <a:r>
                      <a:rPr lang="en-US" baseline="0"/>
                      <a:t> </a:t>
                    </a:r>
                    <a:fld id="{E2F696C8-6F6A-4F81-85E2-FB96AFD33FD6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9F88-49E0-BE6A-CE4155F756CF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numRef>
              <c:f>Sheet1!$F$15:$F$16</c:f>
              <c:numCache>
                <c:formatCode>General</c:formatCode>
                <c:ptCount val="2"/>
                <c:pt idx="0">
                  <c:v>2013</c:v>
                </c:pt>
                <c:pt idx="1">
                  <c:v>2014</c:v>
                </c:pt>
              </c:numCache>
            </c:numRef>
          </c:cat>
          <c:val>
            <c:numRef>
              <c:f>Sheet1!$I$15:$I$16</c:f>
              <c:numCache>
                <c:formatCode>General</c:formatCode>
                <c:ptCount val="2"/>
                <c:pt idx="0">
                  <c:v>3878464.5100000021</c:v>
                </c:pt>
                <c:pt idx="1">
                  <c:v>13015237.75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F88-49E0-BE6A-CE4155F756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2155807"/>
        <c:axId val="1732156287"/>
      </c:barChart>
      <c:catAx>
        <c:axId val="1732155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2156287"/>
        <c:crosses val="autoZero"/>
        <c:auto val="1"/>
        <c:lblAlgn val="ctr"/>
        <c:lblOffset val="100"/>
        <c:noMultiLvlLbl val="0"/>
      </c:catAx>
      <c:valAx>
        <c:axId val="1732156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21558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E0CBF5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Sheet1!$L$23:$L$27</cx:f>
        <cx:lvl ptCount="5">
          <cx:pt idx="0">Amarilla</cx:pt>
          <cx:pt idx="1">Montana</cx:pt>
          <cx:pt idx="2">Paseo</cx:pt>
          <cx:pt idx="3">Velo</cx:pt>
          <cx:pt idx="4">VTT</cx:pt>
        </cx:lvl>
      </cx:strDim>
      <cx:numDim type="size">
        <cx:f>Sheet1!$M$23:$M$27</cx:f>
        <cx:lvl ptCount="5" formatCode="General">
          <cx:pt idx="0">17747116.059999995</cx:pt>
          <cx:pt idx="1">15390801.880000003</cx:pt>
          <cx:pt idx="2">33011143.949999996</cx:pt>
          <cx:pt idx="3">18250059.465</cx:pt>
          <cx:pt idx="4">20511921.02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 b="1"/>
              <a:t>Top 5 Products by Sales</a:t>
            </a:r>
            <a:endParaRPr lang="en-US" sz="1400" b="1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endParaRPr>
          </a:p>
        </cx:rich>
      </cx:tx>
    </cx:title>
    <cx:plotArea>
      <cx:plotAreaRegion>
        <cx:series layoutId="treemap" uniqueId="{7A77FF1D-C155-416B-85A2-92F7AE3F1E1D}">
          <cx:dataLabels>
            <cx:visibility seriesName="0" categoryName="1" value="1"/>
            <cx:separator>
</cx:separator>
          </cx:dataLabels>
          <cx:dataId val="0"/>
          <cx:layoutPr>
            <cx:parentLabelLayout val="overlapping"/>
          </cx:layoutPr>
        </cx:series>
      </cx:plotAreaRegion>
    </cx:plotArea>
    <cx:legend pos="t" align="ctr" overlay="0"/>
  </cx:chart>
  <cx:spPr>
    <a:solidFill>
      <a:srgbClr val="E0CBF5"/>
    </a:solidFill>
  </cx:spPr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lt1"/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D9C7C6-A0B7-4311-8DC3-8014527C463B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7856CCC6-1EAA-458E-92DE-905A4E9DB37C}">
      <dgm:prSet custT="1"/>
      <dgm:spPr/>
      <dgm:t>
        <a:bodyPr/>
        <a:lstStyle/>
        <a:p>
          <a:r>
            <a:rPr lang="en-US" sz="1600" b="1" i="0" baseline="0" dirty="0">
              <a:solidFill>
                <a:srgbClr val="B95CDE"/>
              </a:solidFill>
            </a:rPr>
            <a:t>Key Highlights</a:t>
          </a:r>
          <a:endParaRPr lang="en-US" sz="1600" b="1" dirty="0">
            <a:solidFill>
              <a:srgbClr val="B95CDE"/>
            </a:solidFill>
          </a:endParaRPr>
        </a:p>
      </dgm:t>
    </dgm:pt>
    <dgm:pt modelId="{241C3954-8CBE-46CB-A5C7-BE297F7F0ED7}" type="parTrans" cxnId="{1C4F35AE-D357-4317-962C-78822F3BB91B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84C908B6-0019-41CA-BDB5-525243B55BF8}" type="sibTrans" cxnId="{1C4F35AE-D357-4317-962C-78822F3BB91B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70683850-6812-42BE-BB42-CD86934AB972}">
      <dgm:prSet custT="1"/>
      <dgm:spPr/>
      <dgm:t>
        <a:bodyPr/>
        <a:lstStyle/>
        <a:p>
          <a:r>
            <a:rPr lang="en-US" sz="1600" b="1" i="0" baseline="0">
              <a:solidFill>
                <a:srgbClr val="B95CDE"/>
              </a:solidFill>
            </a:rPr>
            <a:t>Overall KPIs</a:t>
          </a:r>
          <a:endParaRPr lang="en-US" sz="1600" b="1">
            <a:solidFill>
              <a:srgbClr val="B95CDE"/>
            </a:solidFill>
          </a:endParaRPr>
        </a:p>
      </dgm:t>
    </dgm:pt>
    <dgm:pt modelId="{A7D54DF2-16F4-40A7-82B3-ED56D8C5C4B9}" type="parTrans" cxnId="{2AAC3221-7809-4275-AD00-F1CB3FC778E3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6D07A7FD-774E-4209-B48E-518A9938A2A2}" type="sibTrans" cxnId="{2AAC3221-7809-4275-AD00-F1CB3FC778E3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673B86FA-700A-49C8-A441-2BCD1BB1166F}">
      <dgm:prSet custT="1"/>
      <dgm:spPr/>
      <dgm:t>
        <a:bodyPr/>
        <a:lstStyle/>
        <a:p>
          <a:r>
            <a:rPr lang="en-US" sz="1600" b="1" i="0" baseline="0">
              <a:solidFill>
                <a:srgbClr val="B95CDE"/>
              </a:solidFill>
            </a:rPr>
            <a:t>Country-Level Sales</a:t>
          </a:r>
          <a:endParaRPr lang="en-US" sz="1600" b="1">
            <a:solidFill>
              <a:srgbClr val="B95CDE"/>
            </a:solidFill>
          </a:endParaRPr>
        </a:p>
      </dgm:t>
    </dgm:pt>
    <dgm:pt modelId="{4B4307D7-C398-4211-ABDE-6173BA977B2D}" type="parTrans" cxnId="{CA0EDD5E-ED40-473E-A6E1-A74F3FEB12C5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931E6D86-141E-4EA9-BC1F-A6AF002CF38F}" type="sibTrans" cxnId="{CA0EDD5E-ED40-473E-A6E1-A74F3FEB12C5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675217A1-760B-4D69-BEE7-899E6C06080D}">
      <dgm:prSet custT="1"/>
      <dgm:spPr/>
      <dgm:t>
        <a:bodyPr/>
        <a:lstStyle/>
        <a:p>
          <a:r>
            <a:rPr lang="en-US" sz="1600" b="1" i="0" baseline="0">
              <a:solidFill>
                <a:srgbClr val="B95CDE"/>
              </a:solidFill>
            </a:rPr>
            <a:t>Segment Performance</a:t>
          </a:r>
          <a:endParaRPr lang="en-US" sz="1600" b="1">
            <a:solidFill>
              <a:srgbClr val="B95CDE"/>
            </a:solidFill>
          </a:endParaRPr>
        </a:p>
      </dgm:t>
    </dgm:pt>
    <dgm:pt modelId="{B4E0A085-8C40-40F2-9F7C-6FA72798076A}" type="parTrans" cxnId="{9DAD1297-8942-4E91-8D3D-0EA3956061F2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721D3455-79E0-4EDF-BAA7-417A459A5FD4}" type="sibTrans" cxnId="{9DAD1297-8942-4E91-8D3D-0EA3956061F2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DBFBA70F-6C3F-4DD5-BB2E-AA3B70269E6E}">
      <dgm:prSet custT="1"/>
      <dgm:spPr/>
      <dgm:t>
        <a:bodyPr/>
        <a:lstStyle/>
        <a:p>
          <a:r>
            <a:rPr lang="en-US" sz="1600" b="1" i="0" baseline="0">
              <a:solidFill>
                <a:srgbClr val="B95CDE"/>
              </a:solidFill>
            </a:rPr>
            <a:t>Product Insights</a:t>
          </a:r>
          <a:endParaRPr lang="en-US" sz="1600" b="1">
            <a:solidFill>
              <a:srgbClr val="B95CDE"/>
            </a:solidFill>
          </a:endParaRPr>
        </a:p>
      </dgm:t>
    </dgm:pt>
    <dgm:pt modelId="{DF24797F-1783-4E51-960B-371366732360}" type="parTrans" cxnId="{06EF9C43-8294-484A-A31E-53223640DAB2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6116414C-FB30-4BE9-96F8-5829F2920C86}" type="sibTrans" cxnId="{06EF9C43-8294-484A-A31E-53223640DAB2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698BCD12-6B73-4F94-B13E-E3FB23F4F6E7}">
      <dgm:prSet custT="1"/>
      <dgm:spPr/>
      <dgm:t>
        <a:bodyPr/>
        <a:lstStyle/>
        <a:p>
          <a:r>
            <a:rPr lang="en-US" sz="1600" b="1" i="0" baseline="0">
              <a:solidFill>
                <a:srgbClr val="B95CDE"/>
              </a:solidFill>
            </a:rPr>
            <a:t>Discount Impact</a:t>
          </a:r>
          <a:endParaRPr lang="en-US" sz="1600" b="1">
            <a:solidFill>
              <a:srgbClr val="B95CDE"/>
            </a:solidFill>
          </a:endParaRPr>
        </a:p>
      </dgm:t>
    </dgm:pt>
    <dgm:pt modelId="{CA426079-1A9A-4E9C-9B3B-4137D4400875}" type="parTrans" cxnId="{71265C58-340A-49AB-880B-4D355016A2CE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46E6BC6E-EBD6-47C0-95C3-80997933A910}" type="sibTrans" cxnId="{71265C58-340A-49AB-880B-4D355016A2CE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81E325C4-7649-49DE-A4D9-DDF14077DB54}">
      <dgm:prSet custT="1"/>
      <dgm:spPr/>
      <dgm:t>
        <a:bodyPr/>
        <a:lstStyle/>
        <a:p>
          <a:r>
            <a:rPr lang="en-US" sz="1600" b="1" i="0" baseline="0">
              <a:solidFill>
                <a:srgbClr val="B95CDE"/>
              </a:solidFill>
            </a:rPr>
            <a:t>Monthly Trends</a:t>
          </a:r>
          <a:endParaRPr lang="en-US" sz="1600" b="1">
            <a:solidFill>
              <a:srgbClr val="B95CDE"/>
            </a:solidFill>
          </a:endParaRPr>
        </a:p>
      </dgm:t>
    </dgm:pt>
    <dgm:pt modelId="{AC9FAF3D-15F6-493E-8875-B4C4748EFFEF}" type="parTrans" cxnId="{0B5CDFE3-19F7-4077-888B-10F3D4FC92FE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3F500015-23D9-4CE4-AAFB-14C3A65600CA}" type="sibTrans" cxnId="{0B5CDFE3-19F7-4077-888B-10F3D4FC92FE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03DB7828-FDAA-4AA0-A904-97480566DC82}">
      <dgm:prSet custT="1"/>
      <dgm:spPr/>
      <dgm:t>
        <a:bodyPr/>
        <a:lstStyle/>
        <a:p>
          <a:r>
            <a:rPr lang="en-US" sz="1600" b="1" i="0" baseline="0">
              <a:solidFill>
                <a:srgbClr val="B95CDE"/>
              </a:solidFill>
            </a:rPr>
            <a:t>Financial Analysis (Sales vs </a:t>
          </a:r>
          <a:r>
            <a:rPr lang="en-US" sz="1600" b="1">
              <a:solidFill>
                <a:srgbClr val="B95CDE"/>
              </a:solidFill>
            </a:rPr>
            <a:t>  </a:t>
          </a:r>
          <a:r>
            <a:rPr lang="en-US" sz="1600" b="1" i="0" baseline="0">
              <a:solidFill>
                <a:srgbClr val="B95CDE"/>
              </a:solidFill>
            </a:rPr>
            <a:t>COGS vs Profit)</a:t>
          </a:r>
          <a:endParaRPr lang="en-US" sz="1600" b="1">
            <a:solidFill>
              <a:srgbClr val="B95CDE"/>
            </a:solidFill>
          </a:endParaRPr>
        </a:p>
      </dgm:t>
    </dgm:pt>
    <dgm:pt modelId="{26C0EDBE-C4B7-4095-8AAB-7916CDBE7821}" type="parTrans" cxnId="{3FEDC7FA-E9A7-4518-914D-C7478C85F659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567DC7F1-8FE5-4331-9C9E-8230E9E97852}" type="sibTrans" cxnId="{3FEDC7FA-E9A7-4518-914D-C7478C85F659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0490A8AC-C6EB-4AEB-A9B9-F8E1BAA5FD9A}">
      <dgm:prSet custT="1"/>
      <dgm:spPr/>
      <dgm:t>
        <a:bodyPr/>
        <a:lstStyle/>
        <a:p>
          <a:r>
            <a:rPr lang="en-US" sz="1600" b="1" i="0" baseline="0">
              <a:solidFill>
                <a:srgbClr val="B95CDE"/>
              </a:solidFill>
            </a:rPr>
            <a:t>Insights</a:t>
          </a:r>
          <a:endParaRPr lang="en-US" sz="1600" b="1">
            <a:solidFill>
              <a:srgbClr val="B95CDE"/>
            </a:solidFill>
          </a:endParaRPr>
        </a:p>
      </dgm:t>
    </dgm:pt>
    <dgm:pt modelId="{72C6C4D3-ACA3-45E2-AC71-5522AB006B92}" type="parTrans" cxnId="{BD179E57-A01B-4D27-92A0-5A7AB6898B5D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294B919A-4BA1-4614-A96F-187CA37C1811}" type="sibTrans" cxnId="{BD179E57-A01B-4D27-92A0-5A7AB6898B5D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11F92028-2F99-4550-952B-69BE7E82ECA3}">
      <dgm:prSet custT="1"/>
      <dgm:spPr/>
      <dgm:t>
        <a:bodyPr/>
        <a:lstStyle/>
        <a:p>
          <a:r>
            <a:rPr lang="en-US" sz="1600" b="1" i="0" baseline="0">
              <a:solidFill>
                <a:srgbClr val="B95CDE"/>
              </a:solidFill>
            </a:rPr>
            <a:t>Recommendations</a:t>
          </a:r>
          <a:endParaRPr lang="en-US" sz="1600" b="1">
            <a:solidFill>
              <a:srgbClr val="B95CDE"/>
            </a:solidFill>
          </a:endParaRPr>
        </a:p>
      </dgm:t>
    </dgm:pt>
    <dgm:pt modelId="{D365CB08-D0F3-496D-83C9-DC2E1C7615C9}" type="parTrans" cxnId="{5A4AA3AF-EDD2-4B6E-B678-2C4B26785B14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173D3497-FCA6-4E9C-8653-10841048873B}" type="sibTrans" cxnId="{5A4AA3AF-EDD2-4B6E-B678-2C4B26785B14}">
      <dgm:prSet/>
      <dgm:spPr/>
      <dgm:t>
        <a:bodyPr/>
        <a:lstStyle/>
        <a:p>
          <a:endParaRPr lang="en-US" sz="1600" b="1">
            <a:solidFill>
              <a:srgbClr val="B95CDE"/>
            </a:solidFill>
          </a:endParaRPr>
        </a:p>
      </dgm:t>
    </dgm:pt>
    <dgm:pt modelId="{074B816A-2019-4801-A093-474E4F5B6AC4}" type="pres">
      <dgm:prSet presAssocID="{97D9C7C6-A0B7-4311-8DC3-8014527C463B}" presName="linear" presStyleCnt="0">
        <dgm:presLayoutVars>
          <dgm:animLvl val="lvl"/>
          <dgm:resizeHandles val="exact"/>
        </dgm:presLayoutVars>
      </dgm:prSet>
      <dgm:spPr/>
    </dgm:pt>
    <dgm:pt modelId="{7CE23B1D-7471-4A31-8C35-60D0D000D0F9}" type="pres">
      <dgm:prSet presAssocID="{7856CCC6-1EAA-458E-92DE-905A4E9DB37C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9C45D612-E169-4CC0-B57A-8D126B286059}" type="pres">
      <dgm:prSet presAssocID="{84C908B6-0019-41CA-BDB5-525243B55BF8}" presName="spacer" presStyleCnt="0"/>
      <dgm:spPr/>
    </dgm:pt>
    <dgm:pt modelId="{197FD2A0-DBB7-4DB6-8D7D-885C9A897C8E}" type="pres">
      <dgm:prSet presAssocID="{70683850-6812-42BE-BB42-CD86934AB972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721D2BDB-94BC-4B9F-98EB-26C1FFAD6B06}" type="pres">
      <dgm:prSet presAssocID="{6D07A7FD-774E-4209-B48E-518A9938A2A2}" presName="spacer" presStyleCnt="0"/>
      <dgm:spPr/>
    </dgm:pt>
    <dgm:pt modelId="{C36C5C48-4873-45A3-934F-9908EE7998E9}" type="pres">
      <dgm:prSet presAssocID="{673B86FA-700A-49C8-A441-2BCD1BB1166F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A2767F3D-07DE-4EB7-8BEC-6E3C426CCCA9}" type="pres">
      <dgm:prSet presAssocID="{931E6D86-141E-4EA9-BC1F-A6AF002CF38F}" presName="spacer" presStyleCnt="0"/>
      <dgm:spPr/>
    </dgm:pt>
    <dgm:pt modelId="{E22345B8-26B8-47C7-B46E-42BF3C66AB2A}" type="pres">
      <dgm:prSet presAssocID="{675217A1-760B-4D69-BEE7-899E6C06080D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FF380F4C-4CDB-48AC-9E71-2E491BE78C6A}" type="pres">
      <dgm:prSet presAssocID="{721D3455-79E0-4EDF-BAA7-417A459A5FD4}" presName="spacer" presStyleCnt="0"/>
      <dgm:spPr/>
    </dgm:pt>
    <dgm:pt modelId="{B3D41620-63D3-4B3E-B7E4-C0DFDB98F8BF}" type="pres">
      <dgm:prSet presAssocID="{DBFBA70F-6C3F-4DD5-BB2E-AA3B70269E6E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833A4E23-9BD5-4979-8F28-D417536EA182}" type="pres">
      <dgm:prSet presAssocID="{6116414C-FB30-4BE9-96F8-5829F2920C86}" presName="spacer" presStyleCnt="0"/>
      <dgm:spPr/>
    </dgm:pt>
    <dgm:pt modelId="{492929FD-FA62-4EE6-82F5-0E9B280000BA}" type="pres">
      <dgm:prSet presAssocID="{698BCD12-6B73-4F94-B13E-E3FB23F4F6E7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95721C7B-A4B8-4E25-A300-E41C3920A93F}" type="pres">
      <dgm:prSet presAssocID="{46E6BC6E-EBD6-47C0-95C3-80997933A910}" presName="spacer" presStyleCnt="0"/>
      <dgm:spPr/>
    </dgm:pt>
    <dgm:pt modelId="{E0A4FADA-98A6-4A83-BB5F-6F2322C99F98}" type="pres">
      <dgm:prSet presAssocID="{81E325C4-7649-49DE-A4D9-DDF14077DB54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F9FE8C35-5FC4-4818-BF40-6CD6997122D8}" type="pres">
      <dgm:prSet presAssocID="{3F500015-23D9-4CE4-AAFB-14C3A65600CA}" presName="spacer" presStyleCnt="0"/>
      <dgm:spPr/>
    </dgm:pt>
    <dgm:pt modelId="{DB2EC40D-4AF0-4CF9-B08C-66EF60CAD62C}" type="pres">
      <dgm:prSet presAssocID="{03DB7828-FDAA-4AA0-A904-97480566DC82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B374852E-ED03-49CA-B7D1-337612F5CD30}" type="pres">
      <dgm:prSet presAssocID="{567DC7F1-8FE5-4331-9C9E-8230E9E97852}" presName="spacer" presStyleCnt="0"/>
      <dgm:spPr/>
    </dgm:pt>
    <dgm:pt modelId="{924E1CE3-6334-4E46-A2BC-A746BB784250}" type="pres">
      <dgm:prSet presAssocID="{0490A8AC-C6EB-4AEB-A9B9-F8E1BAA5FD9A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815CB266-C331-4A9B-8937-C44D8E7EC93E}" type="pres">
      <dgm:prSet presAssocID="{294B919A-4BA1-4614-A96F-187CA37C1811}" presName="spacer" presStyleCnt="0"/>
      <dgm:spPr/>
    </dgm:pt>
    <dgm:pt modelId="{69539EC8-F565-48B4-A6EE-9E763CD7DFFF}" type="pres">
      <dgm:prSet presAssocID="{11F92028-2F99-4550-952B-69BE7E82ECA3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4B227F05-4F87-466D-A1BC-1074DD6943BB}" type="presOf" srcId="{DBFBA70F-6C3F-4DD5-BB2E-AA3B70269E6E}" destId="{B3D41620-63D3-4B3E-B7E4-C0DFDB98F8BF}" srcOrd="0" destOrd="0" presId="urn:microsoft.com/office/officeart/2005/8/layout/vList2"/>
    <dgm:cxn modelId="{2AAC3221-7809-4275-AD00-F1CB3FC778E3}" srcId="{97D9C7C6-A0B7-4311-8DC3-8014527C463B}" destId="{70683850-6812-42BE-BB42-CD86934AB972}" srcOrd="1" destOrd="0" parTransId="{A7D54DF2-16F4-40A7-82B3-ED56D8C5C4B9}" sibTransId="{6D07A7FD-774E-4209-B48E-518A9938A2A2}"/>
    <dgm:cxn modelId="{CA0EDD5E-ED40-473E-A6E1-A74F3FEB12C5}" srcId="{97D9C7C6-A0B7-4311-8DC3-8014527C463B}" destId="{673B86FA-700A-49C8-A441-2BCD1BB1166F}" srcOrd="2" destOrd="0" parTransId="{4B4307D7-C398-4211-ABDE-6173BA977B2D}" sibTransId="{931E6D86-141E-4EA9-BC1F-A6AF002CF38F}"/>
    <dgm:cxn modelId="{06EF9C43-8294-484A-A31E-53223640DAB2}" srcId="{97D9C7C6-A0B7-4311-8DC3-8014527C463B}" destId="{DBFBA70F-6C3F-4DD5-BB2E-AA3B70269E6E}" srcOrd="4" destOrd="0" parTransId="{DF24797F-1783-4E51-960B-371366732360}" sibTransId="{6116414C-FB30-4BE9-96F8-5829F2920C86}"/>
    <dgm:cxn modelId="{08422564-3DD2-4CB4-BF1C-B83043B1261D}" type="presOf" srcId="{97D9C7C6-A0B7-4311-8DC3-8014527C463B}" destId="{074B816A-2019-4801-A093-474E4F5B6AC4}" srcOrd="0" destOrd="0" presId="urn:microsoft.com/office/officeart/2005/8/layout/vList2"/>
    <dgm:cxn modelId="{9129E365-220D-47B4-AEFF-7D8C49D5D40B}" type="presOf" srcId="{70683850-6812-42BE-BB42-CD86934AB972}" destId="{197FD2A0-DBB7-4DB6-8D7D-885C9A897C8E}" srcOrd="0" destOrd="0" presId="urn:microsoft.com/office/officeart/2005/8/layout/vList2"/>
    <dgm:cxn modelId="{ACE4B947-5306-4DF8-8119-FE8A8411D884}" type="presOf" srcId="{675217A1-760B-4D69-BEE7-899E6C06080D}" destId="{E22345B8-26B8-47C7-B46E-42BF3C66AB2A}" srcOrd="0" destOrd="0" presId="urn:microsoft.com/office/officeart/2005/8/layout/vList2"/>
    <dgm:cxn modelId="{BD179E57-A01B-4D27-92A0-5A7AB6898B5D}" srcId="{97D9C7C6-A0B7-4311-8DC3-8014527C463B}" destId="{0490A8AC-C6EB-4AEB-A9B9-F8E1BAA5FD9A}" srcOrd="8" destOrd="0" parTransId="{72C6C4D3-ACA3-45E2-AC71-5522AB006B92}" sibTransId="{294B919A-4BA1-4614-A96F-187CA37C1811}"/>
    <dgm:cxn modelId="{71265C58-340A-49AB-880B-4D355016A2CE}" srcId="{97D9C7C6-A0B7-4311-8DC3-8014527C463B}" destId="{698BCD12-6B73-4F94-B13E-E3FB23F4F6E7}" srcOrd="5" destOrd="0" parTransId="{CA426079-1A9A-4E9C-9B3B-4137D4400875}" sibTransId="{46E6BC6E-EBD6-47C0-95C3-80997933A910}"/>
    <dgm:cxn modelId="{5BFBA191-BE32-4074-BEFA-7187C60DA42B}" type="presOf" srcId="{0490A8AC-C6EB-4AEB-A9B9-F8E1BAA5FD9A}" destId="{924E1CE3-6334-4E46-A2BC-A746BB784250}" srcOrd="0" destOrd="0" presId="urn:microsoft.com/office/officeart/2005/8/layout/vList2"/>
    <dgm:cxn modelId="{9DAD1297-8942-4E91-8D3D-0EA3956061F2}" srcId="{97D9C7C6-A0B7-4311-8DC3-8014527C463B}" destId="{675217A1-760B-4D69-BEE7-899E6C06080D}" srcOrd="3" destOrd="0" parTransId="{B4E0A085-8C40-40F2-9F7C-6FA72798076A}" sibTransId="{721D3455-79E0-4EDF-BAA7-417A459A5FD4}"/>
    <dgm:cxn modelId="{A0B8ADAB-1C69-4527-A0F0-337F60D296C0}" type="presOf" srcId="{11F92028-2F99-4550-952B-69BE7E82ECA3}" destId="{69539EC8-F565-48B4-A6EE-9E763CD7DFFF}" srcOrd="0" destOrd="0" presId="urn:microsoft.com/office/officeart/2005/8/layout/vList2"/>
    <dgm:cxn modelId="{1C4F35AE-D357-4317-962C-78822F3BB91B}" srcId="{97D9C7C6-A0B7-4311-8DC3-8014527C463B}" destId="{7856CCC6-1EAA-458E-92DE-905A4E9DB37C}" srcOrd="0" destOrd="0" parTransId="{241C3954-8CBE-46CB-A5C7-BE297F7F0ED7}" sibTransId="{84C908B6-0019-41CA-BDB5-525243B55BF8}"/>
    <dgm:cxn modelId="{5A4AA3AF-EDD2-4B6E-B678-2C4B26785B14}" srcId="{97D9C7C6-A0B7-4311-8DC3-8014527C463B}" destId="{11F92028-2F99-4550-952B-69BE7E82ECA3}" srcOrd="9" destOrd="0" parTransId="{D365CB08-D0F3-496D-83C9-DC2E1C7615C9}" sibTransId="{173D3497-FCA6-4E9C-8653-10841048873B}"/>
    <dgm:cxn modelId="{20ECB3C5-1A2C-4985-B3E5-37831AA0B5A3}" type="presOf" srcId="{81E325C4-7649-49DE-A4D9-DDF14077DB54}" destId="{E0A4FADA-98A6-4A83-BB5F-6F2322C99F98}" srcOrd="0" destOrd="0" presId="urn:microsoft.com/office/officeart/2005/8/layout/vList2"/>
    <dgm:cxn modelId="{891236C7-0C0E-4AD6-AC3B-1B9F81132789}" type="presOf" srcId="{7856CCC6-1EAA-458E-92DE-905A4E9DB37C}" destId="{7CE23B1D-7471-4A31-8C35-60D0D000D0F9}" srcOrd="0" destOrd="0" presId="urn:microsoft.com/office/officeart/2005/8/layout/vList2"/>
    <dgm:cxn modelId="{51E7A1D7-64B6-428A-AC32-C94E65507E23}" type="presOf" srcId="{673B86FA-700A-49C8-A441-2BCD1BB1166F}" destId="{C36C5C48-4873-45A3-934F-9908EE7998E9}" srcOrd="0" destOrd="0" presId="urn:microsoft.com/office/officeart/2005/8/layout/vList2"/>
    <dgm:cxn modelId="{ACF4E1DA-854A-4B72-9CB1-9E64DDC15930}" type="presOf" srcId="{03DB7828-FDAA-4AA0-A904-97480566DC82}" destId="{DB2EC40D-4AF0-4CF9-B08C-66EF60CAD62C}" srcOrd="0" destOrd="0" presId="urn:microsoft.com/office/officeart/2005/8/layout/vList2"/>
    <dgm:cxn modelId="{0B5CDFE3-19F7-4077-888B-10F3D4FC92FE}" srcId="{97D9C7C6-A0B7-4311-8DC3-8014527C463B}" destId="{81E325C4-7649-49DE-A4D9-DDF14077DB54}" srcOrd="6" destOrd="0" parTransId="{AC9FAF3D-15F6-493E-8875-B4C4748EFFEF}" sibTransId="{3F500015-23D9-4CE4-AAFB-14C3A65600CA}"/>
    <dgm:cxn modelId="{A97328E7-A627-40FD-A835-26DCE0D73D66}" type="presOf" srcId="{698BCD12-6B73-4F94-B13E-E3FB23F4F6E7}" destId="{492929FD-FA62-4EE6-82F5-0E9B280000BA}" srcOrd="0" destOrd="0" presId="urn:microsoft.com/office/officeart/2005/8/layout/vList2"/>
    <dgm:cxn modelId="{3FEDC7FA-E9A7-4518-914D-C7478C85F659}" srcId="{97D9C7C6-A0B7-4311-8DC3-8014527C463B}" destId="{03DB7828-FDAA-4AA0-A904-97480566DC82}" srcOrd="7" destOrd="0" parTransId="{26C0EDBE-C4B7-4095-8AAB-7916CDBE7821}" sibTransId="{567DC7F1-8FE5-4331-9C9E-8230E9E97852}"/>
    <dgm:cxn modelId="{20D1E5D0-FB5E-43E6-ABEB-4BE3738D4827}" type="presParOf" srcId="{074B816A-2019-4801-A093-474E4F5B6AC4}" destId="{7CE23B1D-7471-4A31-8C35-60D0D000D0F9}" srcOrd="0" destOrd="0" presId="urn:microsoft.com/office/officeart/2005/8/layout/vList2"/>
    <dgm:cxn modelId="{1C1DB201-C3EE-4713-9761-1039D00A1135}" type="presParOf" srcId="{074B816A-2019-4801-A093-474E4F5B6AC4}" destId="{9C45D612-E169-4CC0-B57A-8D126B286059}" srcOrd="1" destOrd="0" presId="urn:microsoft.com/office/officeart/2005/8/layout/vList2"/>
    <dgm:cxn modelId="{B6489CEE-28C3-4702-BB23-8ACABF949702}" type="presParOf" srcId="{074B816A-2019-4801-A093-474E4F5B6AC4}" destId="{197FD2A0-DBB7-4DB6-8D7D-885C9A897C8E}" srcOrd="2" destOrd="0" presId="urn:microsoft.com/office/officeart/2005/8/layout/vList2"/>
    <dgm:cxn modelId="{83A0F032-755D-4A8A-9DF2-1C40071F6C58}" type="presParOf" srcId="{074B816A-2019-4801-A093-474E4F5B6AC4}" destId="{721D2BDB-94BC-4B9F-98EB-26C1FFAD6B06}" srcOrd="3" destOrd="0" presId="urn:microsoft.com/office/officeart/2005/8/layout/vList2"/>
    <dgm:cxn modelId="{D03B22BB-71B1-4D30-80F5-9DE2E4475C47}" type="presParOf" srcId="{074B816A-2019-4801-A093-474E4F5B6AC4}" destId="{C36C5C48-4873-45A3-934F-9908EE7998E9}" srcOrd="4" destOrd="0" presId="urn:microsoft.com/office/officeart/2005/8/layout/vList2"/>
    <dgm:cxn modelId="{576A937E-9ECF-4FF0-A1BE-4C40353459AD}" type="presParOf" srcId="{074B816A-2019-4801-A093-474E4F5B6AC4}" destId="{A2767F3D-07DE-4EB7-8BEC-6E3C426CCCA9}" srcOrd="5" destOrd="0" presId="urn:microsoft.com/office/officeart/2005/8/layout/vList2"/>
    <dgm:cxn modelId="{F43837E4-DED9-43ED-BBA4-9D11EB989923}" type="presParOf" srcId="{074B816A-2019-4801-A093-474E4F5B6AC4}" destId="{E22345B8-26B8-47C7-B46E-42BF3C66AB2A}" srcOrd="6" destOrd="0" presId="urn:microsoft.com/office/officeart/2005/8/layout/vList2"/>
    <dgm:cxn modelId="{E62B55A1-7DFC-4408-A56F-334FB8A61674}" type="presParOf" srcId="{074B816A-2019-4801-A093-474E4F5B6AC4}" destId="{FF380F4C-4CDB-48AC-9E71-2E491BE78C6A}" srcOrd="7" destOrd="0" presId="urn:microsoft.com/office/officeart/2005/8/layout/vList2"/>
    <dgm:cxn modelId="{98D3BF30-537A-4801-A8E9-CC5C113584D6}" type="presParOf" srcId="{074B816A-2019-4801-A093-474E4F5B6AC4}" destId="{B3D41620-63D3-4B3E-B7E4-C0DFDB98F8BF}" srcOrd="8" destOrd="0" presId="urn:microsoft.com/office/officeart/2005/8/layout/vList2"/>
    <dgm:cxn modelId="{62D835CB-AC08-4EEC-B8E1-666FE45EAF31}" type="presParOf" srcId="{074B816A-2019-4801-A093-474E4F5B6AC4}" destId="{833A4E23-9BD5-4979-8F28-D417536EA182}" srcOrd="9" destOrd="0" presId="urn:microsoft.com/office/officeart/2005/8/layout/vList2"/>
    <dgm:cxn modelId="{CB75322C-45B0-4E7A-BB45-832D8BCCB075}" type="presParOf" srcId="{074B816A-2019-4801-A093-474E4F5B6AC4}" destId="{492929FD-FA62-4EE6-82F5-0E9B280000BA}" srcOrd="10" destOrd="0" presId="urn:microsoft.com/office/officeart/2005/8/layout/vList2"/>
    <dgm:cxn modelId="{29618BF2-2E31-4CBC-9B7C-C296FC9D5123}" type="presParOf" srcId="{074B816A-2019-4801-A093-474E4F5B6AC4}" destId="{95721C7B-A4B8-4E25-A300-E41C3920A93F}" srcOrd="11" destOrd="0" presId="urn:microsoft.com/office/officeart/2005/8/layout/vList2"/>
    <dgm:cxn modelId="{03FE0C72-D71D-4A44-B4B6-E7FCD162CD33}" type="presParOf" srcId="{074B816A-2019-4801-A093-474E4F5B6AC4}" destId="{E0A4FADA-98A6-4A83-BB5F-6F2322C99F98}" srcOrd="12" destOrd="0" presId="urn:microsoft.com/office/officeart/2005/8/layout/vList2"/>
    <dgm:cxn modelId="{A4D78E74-69E3-437B-9E0E-54A7A0DA8A02}" type="presParOf" srcId="{074B816A-2019-4801-A093-474E4F5B6AC4}" destId="{F9FE8C35-5FC4-4818-BF40-6CD6997122D8}" srcOrd="13" destOrd="0" presId="urn:microsoft.com/office/officeart/2005/8/layout/vList2"/>
    <dgm:cxn modelId="{1A8E64E1-1A3E-47E0-A340-456848D5FD3D}" type="presParOf" srcId="{074B816A-2019-4801-A093-474E4F5B6AC4}" destId="{DB2EC40D-4AF0-4CF9-B08C-66EF60CAD62C}" srcOrd="14" destOrd="0" presId="urn:microsoft.com/office/officeart/2005/8/layout/vList2"/>
    <dgm:cxn modelId="{65B98889-E8EA-4436-AA0B-3890715578D6}" type="presParOf" srcId="{074B816A-2019-4801-A093-474E4F5B6AC4}" destId="{B374852E-ED03-49CA-B7D1-337612F5CD30}" srcOrd="15" destOrd="0" presId="urn:microsoft.com/office/officeart/2005/8/layout/vList2"/>
    <dgm:cxn modelId="{A7B8AB51-9463-49C7-9A66-24CE719E6ACB}" type="presParOf" srcId="{074B816A-2019-4801-A093-474E4F5B6AC4}" destId="{924E1CE3-6334-4E46-A2BC-A746BB784250}" srcOrd="16" destOrd="0" presId="urn:microsoft.com/office/officeart/2005/8/layout/vList2"/>
    <dgm:cxn modelId="{229325B9-F616-4085-A764-07572EEA7A56}" type="presParOf" srcId="{074B816A-2019-4801-A093-474E4F5B6AC4}" destId="{815CB266-C331-4A9B-8937-C44D8E7EC93E}" srcOrd="17" destOrd="0" presId="urn:microsoft.com/office/officeart/2005/8/layout/vList2"/>
    <dgm:cxn modelId="{85E15CDC-3F3A-4D48-A15A-B21EC85C6760}" type="presParOf" srcId="{074B816A-2019-4801-A093-474E4F5B6AC4}" destId="{69539EC8-F565-48B4-A6EE-9E763CD7DFFF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9E182E-5DE2-4948-9F98-32B25EBE472F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CB6AC34F-DD37-4249-AA5F-73B67257DA7A}">
      <dgm:prSet/>
      <dgm:spPr/>
      <dgm:t>
        <a:bodyPr/>
        <a:lstStyle/>
        <a:p>
          <a:r>
            <a:rPr lang="en-US" b="0" i="0" baseline="0">
              <a:solidFill>
                <a:srgbClr val="B95CDE"/>
              </a:solidFill>
            </a:rPr>
            <a:t>Total sales reached </a:t>
          </a:r>
          <a:r>
            <a:rPr lang="en-US" b="1" i="0" baseline="0">
              <a:solidFill>
                <a:srgbClr val="B95CDE"/>
              </a:solidFill>
            </a:rPr>
            <a:t>$16.89M</a:t>
          </a:r>
          <a:r>
            <a:rPr lang="en-US" b="0" i="0" baseline="0">
              <a:solidFill>
                <a:srgbClr val="B95CDE"/>
              </a:solidFill>
            </a:rPr>
            <a:t> across 2013–2014.</a:t>
          </a:r>
          <a:endParaRPr lang="en-US">
            <a:solidFill>
              <a:srgbClr val="B95CDE"/>
            </a:solidFill>
          </a:endParaRPr>
        </a:p>
      </dgm:t>
    </dgm:pt>
    <dgm:pt modelId="{A52FD92E-6E72-4169-9119-59504AE3DE5D}" type="parTrans" cxnId="{30D3158E-126D-48E2-9F74-64FDFAFCC801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35043F98-C3BC-4BC8-A9A3-A2A44FEE812D}" type="sibTrans" cxnId="{30D3158E-126D-48E2-9F74-64FDFAFCC801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82CF8780-5757-4E48-9C7C-2C73FC5B225E}">
      <dgm:prSet/>
      <dgm:spPr/>
      <dgm:t>
        <a:bodyPr/>
        <a:lstStyle/>
        <a:p>
          <a:r>
            <a:rPr lang="en-US" b="0" i="0" baseline="0">
              <a:solidFill>
                <a:srgbClr val="B95CDE"/>
              </a:solidFill>
            </a:rPr>
            <a:t>Total profit is also </a:t>
          </a:r>
          <a:r>
            <a:rPr lang="en-US" b="1" i="0" baseline="0">
              <a:solidFill>
                <a:srgbClr val="B95CDE"/>
              </a:solidFill>
            </a:rPr>
            <a:t>$16.89M</a:t>
          </a:r>
          <a:r>
            <a:rPr lang="en-US" b="0" i="0" baseline="0">
              <a:solidFill>
                <a:srgbClr val="B95CDE"/>
              </a:solidFill>
            </a:rPr>
            <a:t>, indicating highly profitable products.</a:t>
          </a:r>
          <a:endParaRPr lang="en-US">
            <a:solidFill>
              <a:srgbClr val="B95CDE"/>
            </a:solidFill>
          </a:endParaRPr>
        </a:p>
      </dgm:t>
    </dgm:pt>
    <dgm:pt modelId="{AE2528A2-5B43-49E7-BECA-44A39E1426B3}" type="parTrans" cxnId="{BE0F07B7-93EE-4927-89C6-087446FE4F2B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B0F4260F-3F33-4384-8C2B-C624434D16AA}" type="sibTrans" cxnId="{BE0F07B7-93EE-4927-89C6-087446FE4F2B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AF0D30E7-F35D-41D8-AD44-E06E9C6F5B99}">
      <dgm:prSet/>
      <dgm:spPr/>
      <dgm:t>
        <a:bodyPr/>
        <a:lstStyle/>
        <a:p>
          <a:r>
            <a:rPr lang="en-US" b="0" i="0" baseline="0">
              <a:solidFill>
                <a:srgbClr val="B95CDE"/>
              </a:solidFill>
            </a:rPr>
            <a:t>Total units sold: </a:t>
          </a:r>
          <a:r>
            <a:rPr lang="en-US" b="1" i="0" baseline="0">
              <a:solidFill>
                <a:srgbClr val="B95CDE"/>
              </a:solidFill>
            </a:rPr>
            <a:t>1.12M units</a:t>
          </a:r>
          <a:endParaRPr lang="en-US">
            <a:solidFill>
              <a:srgbClr val="B95CDE"/>
            </a:solidFill>
          </a:endParaRPr>
        </a:p>
      </dgm:t>
    </dgm:pt>
    <dgm:pt modelId="{266A4518-8402-473E-90FB-22A80124F5EE}" type="parTrans" cxnId="{BCE30B70-A5A7-46D0-BAF4-6580F620377F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0C268037-F39C-4FF0-820C-119A2E2DD00E}" type="sibTrans" cxnId="{BCE30B70-A5A7-46D0-BAF4-6580F620377F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FAB69027-A6FE-45CA-9208-1363BB9635FA}">
      <dgm:prSet/>
      <dgm:spPr/>
      <dgm:t>
        <a:bodyPr/>
        <a:lstStyle/>
        <a:p>
          <a:r>
            <a:rPr lang="en-US" b="0" i="0" baseline="0">
              <a:solidFill>
                <a:srgbClr val="B95CDE"/>
              </a:solidFill>
            </a:rPr>
            <a:t>Highest revenue-generating country: </a:t>
          </a:r>
          <a:r>
            <a:rPr lang="en-US" b="1" i="0" baseline="0">
              <a:solidFill>
                <a:srgbClr val="B95CDE"/>
              </a:solidFill>
            </a:rPr>
            <a:t>USA (~$2.50M)</a:t>
          </a:r>
          <a:endParaRPr lang="en-US">
            <a:solidFill>
              <a:srgbClr val="B95CDE"/>
            </a:solidFill>
          </a:endParaRPr>
        </a:p>
      </dgm:t>
    </dgm:pt>
    <dgm:pt modelId="{D5B2DA8B-01CB-4AFA-B561-470B1F676CA8}" type="parTrans" cxnId="{63BEF6EA-0DD6-415C-B85A-1FB29C8354EA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2AC3A265-AD1C-4B97-9FDC-29996AB7DFBA}" type="sibTrans" cxnId="{63BEF6EA-0DD6-415C-B85A-1FB29C8354EA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E5ADFECF-0B3B-44E2-A1E5-518A27381B9F}">
      <dgm:prSet/>
      <dgm:spPr/>
      <dgm:t>
        <a:bodyPr/>
        <a:lstStyle/>
        <a:p>
          <a:r>
            <a:rPr lang="en-US" b="0" i="0" baseline="0">
              <a:solidFill>
                <a:srgbClr val="B95CDE"/>
              </a:solidFill>
            </a:rPr>
            <a:t>Strongest segment: </a:t>
          </a:r>
          <a:r>
            <a:rPr lang="en-US" b="1" i="0" baseline="0">
              <a:solidFill>
                <a:srgbClr val="B95CDE"/>
              </a:solidFill>
            </a:rPr>
            <a:t>Midmarket (44% contribution)</a:t>
          </a:r>
          <a:endParaRPr lang="en-US">
            <a:solidFill>
              <a:srgbClr val="B95CDE"/>
            </a:solidFill>
          </a:endParaRPr>
        </a:p>
      </dgm:t>
    </dgm:pt>
    <dgm:pt modelId="{0B5A75C6-88E5-4F25-855B-BBCF930E46C5}" type="parTrans" cxnId="{9B36F17F-BDE4-43DF-BD15-FCF4EDE4A8E2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EB62CBE9-8DCF-444F-81E2-37DFD2A93469}" type="sibTrans" cxnId="{9B36F17F-BDE4-43DF-BD15-FCF4EDE4A8E2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43722D59-3F54-4677-9B1C-4F94A6A62BEA}">
      <dgm:prSet/>
      <dgm:spPr/>
      <dgm:t>
        <a:bodyPr/>
        <a:lstStyle/>
        <a:p>
          <a:r>
            <a:rPr lang="en-US" b="0" i="0" baseline="0">
              <a:solidFill>
                <a:srgbClr val="B95CDE"/>
              </a:solidFill>
            </a:rPr>
            <a:t>Discounts significantly impact sales, especially in the </a:t>
          </a:r>
          <a:r>
            <a:rPr lang="en-US" b="1" i="0" baseline="0">
              <a:solidFill>
                <a:srgbClr val="B95CDE"/>
              </a:solidFill>
            </a:rPr>
            <a:t>Low and Medium</a:t>
          </a:r>
          <a:r>
            <a:rPr lang="en-US" b="0" i="0" baseline="0">
              <a:solidFill>
                <a:srgbClr val="B95CDE"/>
              </a:solidFill>
            </a:rPr>
            <a:t> bands.</a:t>
          </a:r>
          <a:endParaRPr lang="en-US">
            <a:solidFill>
              <a:srgbClr val="B95CDE"/>
            </a:solidFill>
          </a:endParaRPr>
        </a:p>
      </dgm:t>
    </dgm:pt>
    <dgm:pt modelId="{5A4FD395-85A6-4495-B82E-644A44254594}" type="parTrans" cxnId="{2A2BF56F-AB05-4A5D-957D-C58CDC3C2A7E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954E87F3-0990-4E57-A565-12911173EAC7}" type="sibTrans" cxnId="{2A2BF56F-AB05-4A5D-957D-C58CDC3C2A7E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144DC3D4-9E91-4132-812E-71DFA9D91960}">
      <dgm:prSet/>
      <dgm:spPr/>
      <dgm:t>
        <a:bodyPr/>
        <a:lstStyle/>
        <a:p>
          <a:r>
            <a:rPr lang="en-US" b="0" i="0" baseline="0">
              <a:solidFill>
                <a:srgbClr val="B95CDE"/>
              </a:solidFill>
            </a:rPr>
            <a:t>Sales peak in </a:t>
          </a:r>
          <a:r>
            <a:rPr lang="en-US" b="1" i="0" baseline="0">
              <a:solidFill>
                <a:srgbClr val="B95CDE"/>
              </a:solidFill>
            </a:rPr>
            <a:t>October &amp; November</a:t>
          </a:r>
          <a:r>
            <a:rPr lang="en-US" b="0" i="0" baseline="0">
              <a:solidFill>
                <a:srgbClr val="B95CDE"/>
              </a:solidFill>
            </a:rPr>
            <a:t>.</a:t>
          </a:r>
          <a:endParaRPr lang="en-US">
            <a:solidFill>
              <a:srgbClr val="B95CDE"/>
            </a:solidFill>
          </a:endParaRPr>
        </a:p>
      </dgm:t>
    </dgm:pt>
    <dgm:pt modelId="{3DBC0620-5A84-4C40-B284-59A045C6FA22}" type="parTrans" cxnId="{5899CD9E-72F8-4B92-9471-6A884D5591E0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145B4DF6-1319-4F56-A3AD-DAF97A050372}" type="sibTrans" cxnId="{5899CD9E-72F8-4B92-9471-6A884D5591E0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D7F54D8B-181C-4436-9E47-D83AC251E769}">
      <dgm:prSet/>
      <dgm:spPr/>
      <dgm:t>
        <a:bodyPr/>
        <a:lstStyle/>
        <a:p>
          <a:r>
            <a:rPr lang="en-US" b="0" i="0" baseline="0">
              <a:solidFill>
                <a:srgbClr val="B95CDE"/>
              </a:solidFill>
            </a:rPr>
            <a:t>Top product by sales: </a:t>
          </a:r>
          <a:r>
            <a:rPr lang="en-US" b="1" i="0" baseline="0">
              <a:solidFill>
                <a:srgbClr val="B95CDE"/>
              </a:solidFill>
            </a:rPr>
            <a:t>Paseo (≈ $3.3M)</a:t>
          </a:r>
          <a:endParaRPr lang="en-US">
            <a:solidFill>
              <a:srgbClr val="B95CDE"/>
            </a:solidFill>
          </a:endParaRPr>
        </a:p>
      </dgm:t>
    </dgm:pt>
    <dgm:pt modelId="{79ABCA0D-B001-444A-91C1-C0774FA860F7}" type="parTrans" cxnId="{51270BE2-13E3-4405-BDD8-27CCA295EE6D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47FAA995-DD14-447A-8A76-05D71BAE99A0}" type="sibTrans" cxnId="{51270BE2-13E3-4405-BDD8-27CCA295EE6D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18E7F349-6E5E-43DE-99B4-41845996940D}" type="pres">
      <dgm:prSet presAssocID="{EE9E182E-5DE2-4948-9F98-32B25EBE472F}" presName="linear" presStyleCnt="0">
        <dgm:presLayoutVars>
          <dgm:animLvl val="lvl"/>
          <dgm:resizeHandles val="exact"/>
        </dgm:presLayoutVars>
      </dgm:prSet>
      <dgm:spPr/>
    </dgm:pt>
    <dgm:pt modelId="{D3D1AF03-65AC-445D-BF4B-A96A42E46088}" type="pres">
      <dgm:prSet presAssocID="{CB6AC34F-DD37-4249-AA5F-73B67257DA7A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9E56D1A2-2E36-4AAE-BA3D-0816786FC6DB}" type="pres">
      <dgm:prSet presAssocID="{35043F98-C3BC-4BC8-A9A3-A2A44FEE812D}" presName="spacer" presStyleCnt="0"/>
      <dgm:spPr/>
    </dgm:pt>
    <dgm:pt modelId="{CB2E851A-951E-4A3E-BE13-0C70D43ED4EC}" type="pres">
      <dgm:prSet presAssocID="{82CF8780-5757-4E48-9C7C-2C73FC5B225E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06D3EEB5-439E-4CC9-8179-B0D641D1AEDB}" type="pres">
      <dgm:prSet presAssocID="{B0F4260F-3F33-4384-8C2B-C624434D16AA}" presName="spacer" presStyleCnt="0"/>
      <dgm:spPr/>
    </dgm:pt>
    <dgm:pt modelId="{DA01A50F-53CA-4FC5-A66A-78004F024F56}" type="pres">
      <dgm:prSet presAssocID="{AF0D30E7-F35D-41D8-AD44-E06E9C6F5B99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59B0351E-58BE-484F-B701-6441CB72B680}" type="pres">
      <dgm:prSet presAssocID="{0C268037-F39C-4FF0-820C-119A2E2DD00E}" presName="spacer" presStyleCnt="0"/>
      <dgm:spPr/>
    </dgm:pt>
    <dgm:pt modelId="{156FEA74-F180-4A03-8E4A-BF5B18E4589C}" type="pres">
      <dgm:prSet presAssocID="{FAB69027-A6FE-45CA-9208-1363BB9635FA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5254D955-DE94-4FC8-A3A5-3778FB66BA1B}" type="pres">
      <dgm:prSet presAssocID="{2AC3A265-AD1C-4B97-9FDC-29996AB7DFBA}" presName="spacer" presStyleCnt="0"/>
      <dgm:spPr/>
    </dgm:pt>
    <dgm:pt modelId="{55DA6C0A-7C0D-4BCB-A938-E5973124FA70}" type="pres">
      <dgm:prSet presAssocID="{E5ADFECF-0B3B-44E2-A1E5-518A27381B9F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FA14F7F7-B579-4B6D-A00B-1274FCF68C0E}" type="pres">
      <dgm:prSet presAssocID="{EB62CBE9-8DCF-444F-81E2-37DFD2A93469}" presName="spacer" presStyleCnt="0"/>
      <dgm:spPr/>
    </dgm:pt>
    <dgm:pt modelId="{03777976-78CC-4C3B-9EB8-C87703454310}" type="pres">
      <dgm:prSet presAssocID="{43722D59-3F54-4677-9B1C-4F94A6A62BEA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F786A29A-D6A7-4ECB-84A0-F9F8E22AACF8}" type="pres">
      <dgm:prSet presAssocID="{954E87F3-0990-4E57-A565-12911173EAC7}" presName="spacer" presStyleCnt="0"/>
      <dgm:spPr/>
    </dgm:pt>
    <dgm:pt modelId="{51660B56-9B70-407D-95DC-11EFB3C47D9A}" type="pres">
      <dgm:prSet presAssocID="{144DC3D4-9E91-4132-812E-71DFA9D91960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784625FC-647E-4E90-B080-8CCE8FA35B7A}" type="pres">
      <dgm:prSet presAssocID="{145B4DF6-1319-4F56-A3AD-DAF97A050372}" presName="spacer" presStyleCnt="0"/>
      <dgm:spPr/>
    </dgm:pt>
    <dgm:pt modelId="{0C10C2DC-8445-4184-98E0-B783577BFAAB}" type="pres">
      <dgm:prSet presAssocID="{D7F54D8B-181C-4436-9E47-D83AC251E769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8B836B1E-6280-472F-86AA-5C821DB325B3}" type="presOf" srcId="{FAB69027-A6FE-45CA-9208-1363BB9635FA}" destId="{156FEA74-F180-4A03-8E4A-BF5B18E4589C}" srcOrd="0" destOrd="0" presId="urn:microsoft.com/office/officeart/2005/8/layout/vList2"/>
    <dgm:cxn modelId="{BE684120-2AD0-4788-A5E0-89414F432735}" type="presOf" srcId="{D7F54D8B-181C-4436-9E47-D83AC251E769}" destId="{0C10C2DC-8445-4184-98E0-B783577BFAAB}" srcOrd="0" destOrd="0" presId="urn:microsoft.com/office/officeart/2005/8/layout/vList2"/>
    <dgm:cxn modelId="{DA2B7A32-7809-4A34-B3FF-69B94D0ED55F}" type="presOf" srcId="{E5ADFECF-0B3B-44E2-A1E5-518A27381B9F}" destId="{55DA6C0A-7C0D-4BCB-A938-E5973124FA70}" srcOrd="0" destOrd="0" presId="urn:microsoft.com/office/officeart/2005/8/layout/vList2"/>
    <dgm:cxn modelId="{9C98423A-E487-4D77-8AC2-4342FB632C71}" type="presOf" srcId="{43722D59-3F54-4677-9B1C-4F94A6A62BEA}" destId="{03777976-78CC-4C3B-9EB8-C87703454310}" srcOrd="0" destOrd="0" presId="urn:microsoft.com/office/officeart/2005/8/layout/vList2"/>
    <dgm:cxn modelId="{2A2BF56F-AB05-4A5D-957D-C58CDC3C2A7E}" srcId="{EE9E182E-5DE2-4948-9F98-32B25EBE472F}" destId="{43722D59-3F54-4677-9B1C-4F94A6A62BEA}" srcOrd="5" destOrd="0" parTransId="{5A4FD395-85A6-4495-B82E-644A44254594}" sibTransId="{954E87F3-0990-4E57-A565-12911173EAC7}"/>
    <dgm:cxn modelId="{BCE30B70-A5A7-46D0-BAF4-6580F620377F}" srcId="{EE9E182E-5DE2-4948-9F98-32B25EBE472F}" destId="{AF0D30E7-F35D-41D8-AD44-E06E9C6F5B99}" srcOrd="2" destOrd="0" parTransId="{266A4518-8402-473E-90FB-22A80124F5EE}" sibTransId="{0C268037-F39C-4FF0-820C-119A2E2DD00E}"/>
    <dgm:cxn modelId="{65CCD474-D61C-4415-A7E5-0E2B377071AF}" type="presOf" srcId="{CB6AC34F-DD37-4249-AA5F-73B67257DA7A}" destId="{D3D1AF03-65AC-445D-BF4B-A96A42E46088}" srcOrd="0" destOrd="0" presId="urn:microsoft.com/office/officeart/2005/8/layout/vList2"/>
    <dgm:cxn modelId="{94EE8956-43AF-4822-9740-EE8B96FD249F}" type="presOf" srcId="{82CF8780-5757-4E48-9C7C-2C73FC5B225E}" destId="{CB2E851A-951E-4A3E-BE13-0C70D43ED4EC}" srcOrd="0" destOrd="0" presId="urn:microsoft.com/office/officeart/2005/8/layout/vList2"/>
    <dgm:cxn modelId="{46B0ED58-4B16-4A2B-96F9-0D8726DDAFEE}" type="presOf" srcId="{AF0D30E7-F35D-41D8-AD44-E06E9C6F5B99}" destId="{DA01A50F-53CA-4FC5-A66A-78004F024F56}" srcOrd="0" destOrd="0" presId="urn:microsoft.com/office/officeart/2005/8/layout/vList2"/>
    <dgm:cxn modelId="{9B36F17F-BDE4-43DF-BD15-FCF4EDE4A8E2}" srcId="{EE9E182E-5DE2-4948-9F98-32B25EBE472F}" destId="{E5ADFECF-0B3B-44E2-A1E5-518A27381B9F}" srcOrd="4" destOrd="0" parTransId="{0B5A75C6-88E5-4F25-855B-BBCF930E46C5}" sibTransId="{EB62CBE9-8DCF-444F-81E2-37DFD2A93469}"/>
    <dgm:cxn modelId="{30D3158E-126D-48E2-9F74-64FDFAFCC801}" srcId="{EE9E182E-5DE2-4948-9F98-32B25EBE472F}" destId="{CB6AC34F-DD37-4249-AA5F-73B67257DA7A}" srcOrd="0" destOrd="0" parTransId="{A52FD92E-6E72-4169-9119-59504AE3DE5D}" sibTransId="{35043F98-C3BC-4BC8-A9A3-A2A44FEE812D}"/>
    <dgm:cxn modelId="{5899CD9E-72F8-4B92-9471-6A884D5591E0}" srcId="{EE9E182E-5DE2-4948-9F98-32B25EBE472F}" destId="{144DC3D4-9E91-4132-812E-71DFA9D91960}" srcOrd="6" destOrd="0" parTransId="{3DBC0620-5A84-4C40-B284-59A045C6FA22}" sibTransId="{145B4DF6-1319-4F56-A3AD-DAF97A050372}"/>
    <dgm:cxn modelId="{BE0F07B7-93EE-4927-89C6-087446FE4F2B}" srcId="{EE9E182E-5DE2-4948-9F98-32B25EBE472F}" destId="{82CF8780-5757-4E48-9C7C-2C73FC5B225E}" srcOrd="1" destOrd="0" parTransId="{AE2528A2-5B43-49E7-BECA-44A39E1426B3}" sibTransId="{B0F4260F-3F33-4384-8C2B-C624434D16AA}"/>
    <dgm:cxn modelId="{72EAC2E1-8BF8-4737-98A7-FE550BA65D2E}" type="presOf" srcId="{144DC3D4-9E91-4132-812E-71DFA9D91960}" destId="{51660B56-9B70-407D-95DC-11EFB3C47D9A}" srcOrd="0" destOrd="0" presId="urn:microsoft.com/office/officeart/2005/8/layout/vList2"/>
    <dgm:cxn modelId="{51270BE2-13E3-4405-BDD8-27CCA295EE6D}" srcId="{EE9E182E-5DE2-4948-9F98-32B25EBE472F}" destId="{D7F54D8B-181C-4436-9E47-D83AC251E769}" srcOrd="7" destOrd="0" parTransId="{79ABCA0D-B001-444A-91C1-C0774FA860F7}" sibTransId="{47FAA995-DD14-447A-8A76-05D71BAE99A0}"/>
    <dgm:cxn modelId="{4B59B0E6-F848-4C00-945D-73AE192E79F7}" type="presOf" srcId="{EE9E182E-5DE2-4948-9F98-32B25EBE472F}" destId="{18E7F349-6E5E-43DE-99B4-41845996940D}" srcOrd="0" destOrd="0" presId="urn:microsoft.com/office/officeart/2005/8/layout/vList2"/>
    <dgm:cxn modelId="{63BEF6EA-0DD6-415C-B85A-1FB29C8354EA}" srcId="{EE9E182E-5DE2-4948-9F98-32B25EBE472F}" destId="{FAB69027-A6FE-45CA-9208-1363BB9635FA}" srcOrd="3" destOrd="0" parTransId="{D5B2DA8B-01CB-4AFA-B561-470B1F676CA8}" sibTransId="{2AC3A265-AD1C-4B97-9FDC-29996AB7DFBA}"/>
    <dgm:cxn modelId="{6A77705D-0FBF-4C8B-868E-CB555B2EE12A}" type="presParOf" srcId="{18E7F349-6E5E-43DE-99B4-41845996940D}" destId="{D3D1AF03-65AC-445D-BF4B-A96A42E46088}" srcOrd="0" destOrd="0" presId="urn:microsoft.com/office/officeart/2005/8/layout/vList2"/>
    <dgm:cxn modelId="{E14E487B-7EDA-48DD-8F6B-B2E0EE95EDC8}" type="presParOf" srcId="{18E7F349-6E5E-43DE-99B4-41845996940D}" destId="{9E56D1A2-2E36-4AAE-BA3D-0816786FC6DB}" srcOrd="1" destOrd="0" presId="urn:microsoft.com/office/officeart/2005/8/layout/vList2"/>
    <dgm:cxn modelId="{DCF9B432-5546-4593-B22C-5188880149B6}" type="presParOf" srcId="{18E7F349-6E5E-43DE-99B4-41845996940D}" destId="{CB2E851A-951E-4A3E-BE13-0C70D43ED4EC}" srcOrd="2" destOrd="0" presId="urn:microsoft.com/office/officeart/2005/8/layout/vList2"/>
    <dgm:cxn modelId="{5B706438-7F24-4A8B-83D3-C7D9A7944D4E}" type="presParOf" srcId="{18E7F349-6E5E-43DE-99B4-41845996940D}" destId="{06D3EEB5-439E-4CC9-8179-B0D641D1AEDB}" srcOrd="3" destOrd="0" presId="urn:microsoft.com/office/officeart/2005/8/layout/vList2"/>
    <dgm:cxn modelId="{ADD757E3-39C8-484E-962D-CAE6E63BB684}" type="presParOf" srcId="{18E7F349-6E5E-43DE-99B4-41845996940D}" destId="{DA01A50F-53CA-4FC5-A66A-78004F024F56}" srcOrd="4" destOrd="0" presId="urn:microsoft.com/office/officeart/2005/8/layout/vList2"/>
    <dgm:cxn modelId="{8ECD142F-1489-4B2E-886E-9E52EAB0B83A}" type="presParOf" srcId="{18E7F349-6E5E-43DE-99B4-41845996940D}" destId="{59B0351E-58BE-484F-B701-6441CB72B680}" srcOrd="5" destOrd="0" presId="urn:microsoft.com/office/officeart/2005/8/layout/vList2"/>
    <dgm:cxn modelId="{9F482A10-7705-48AB-A367-6379DF7B23D0}" type="presParOf" srcId="{18E7F349-6E5E-43DE-99B4-41845996940D}" destId="{156FEA74-F180-4A03-8E4A-BF5B18E4589C}" srcOrd="6" destOrd="0" presId="urn:microsoft.com/office/officeart/2005/8/layout/vList2"/>
    <dgm:cxn modelId="{0B6DC64D-B899-4044-8CBF-98387EC5D875}" type="presParOf" srcId="{18E7F349-6E5E-43DE-99B4-41845996940D}" destId="{5254D955-DE94-4FC8-A3A5-3778FB66BA1B}" srcOrd="7" destOrd="0" presId="urn:microsoft.com/office/officeart/2005/8/layout/vList2"/>
    <dgm:cxn modelId="{F9DAAF8F-FA7C-4A36-A232-D7BDE9E1449C}" type="presParOf" srcId="{18E7F349-6E5E-43DE-99B4-41845996940D}" destId="{55DA6C0A-7C0D-4BCB-A938-E5973124FA70}" srcOrd="8" destOrd="0" presId="urn:microsoft.com/office/officeart/2005/8/layout/vList2"/>
    <dgm:cxn modelId="{D0E5A1E3-AAC5-40B2-98EB-E36BC9B8D771}" type="presParOf" srcId="{18E7F349-6E5E-43DE-99B4-41845996940D}" destId="{FA14F7F7-B579-4B6D-A00B-1274FCF68C0E}" srcOrd="9" destOrd="0" presId="urn:microsoft.com/office/officeart/2005/8/layout/vList2"/>
    <dgm:cxn modelId="{A287EEF9-5A53-4BCC-A92D-5254DD494CD3}" type="presParOf" srcId="{18E7F349-6E5E-43DE-99B4-41845996940D}" destId="{03777976-78CC-4C3B-9EB8-C87703454310}" srcOrd="10" destOrd="0" presId="urn:microsoft.com/office/officeart/2005/8/layout/vList2"/>
    <dgm:cxn modelId="{A1156227-1A44-4C57-A2DD-ADF5AAF3D379}" type="presParOf" srcId="{18E7F349-6E5E-43DE-99B4-41845996940D}" destId="{F786A29A-D6A7-4ECB-84A0-F9F8E22AACF8}" srcOrd="11" destOrd="0" presId="urn:microsoft.com/office/officeart/2005/8/layout/vList2"/>
    <dgm:cxn modelId="{CEF27D66-639F-472A-9F91-FE6E9B852F86}" type="presParOf" srcId="{18E7F349-6E5E-43DE-99B4-41845996940D}" destId="{51660B56-9B70-407D-95DC-11EFB3C47D9A}" srcOrd="12" destOrd="0" presId="urn:microsoft.com/office/officeart/2005/8/layout/vList2"/>
    <dgm:cxn modelId="{6D22A225-F824-458E-B8A4-2A49F40CA240}" type="presParOf" srcId="{18E7F349-6E5E-43DE-99B4-41845996940D}" destId="{784625FC-647E-4E90-B080-8CCE8FA35B7A}" srcOrd="13" destOrd="0" presId="urn:microsoft.com/office/officeart/2005/8/layout/vList2"/>
    <dgm:cxn modelId="{773126BA-B4AB-42B4-8F68-1E647A24CCF9}" type="presParOf" srcId="{18E7F349-6E5E-43DE-99B4-41845996940D}" destId="{0C10C2DC-8445-4184-98E0-B783577BFAAB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20E580E-AD38-45ED-AE3F-A63B53ACBB6D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65BBF6E-E5FD-427D-BB05-BADFD56FFA1A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Key Insight</a:t>
          </a:r>
          <a:endParaRPr lang="en-US" dirty="0">
            <a:solidFill>
              <a:schemeClr val="bg1"/>
            </a:solidFill>
          </a:endParaRPr>
        </a:p>
      </dgm:t>
    </dgm:pt>
    <dgm:pt modelId="{5B083D61-EC2A-4801-8D80-1CAC4151F8EF}" type="parTrans" cxnId="{50D2F1BB-880E-466D-907D-0350C75016C8}">
      <dgm:prSet/>
      <dgm:spPr/>
      <dgm:t>
        <a:bodyPr/>
        <a:lstStyle/>
        <a:p>
          <a:endParaRPr lang="en-US"/>
        </a:p>
      </dgm:t>
    </dgm:pt>
    <dgm:pt modelId="{2137F974-16C0-41AC-A81C-44B704FD839F}" type="sibTrans" cxnId="{50D2F1BB-880E-466D-907D-0350C75016C8}">
      <dgm:prSet/>
      <dgm:spPr/>
      <dgm:t>
        <a:bodyPr/>
        <a:lstStyle/>
        <a:p>
          <a:endParaRPr lang="en-US"/>
        </a:p>
      </dgm:t>
    </dgm:pt>
    <dgm:pt modelId="{EEF68080-3658-46C9-B5C8-38BA999E2E77}">
      <dgm:prSet/>
      <dgm:spPr/>
      <dgm:t>
        <a:bodyPr/>
        <a:lstStyle/>
        <a:p>
          <a:r>
            <a:rPr lang="en-US" dirty="0"/>
            <a:t>USA leads with </a:t>
          </a:r>
          <a:r>
            <a:rPr lang="en-US" b="1" dirty="0"/>
            <a:t>$25M</a:t>
          </a:r>
          <a:r>
            <a:rPr lang="en-US" dirty="0"/>
            <a:t>, followed closely by Mexico and France.</a:t>
          </a:r>
          <a:br>
            <a:rPr lang="en-US" dirty="0"/>
          </a:br>
          <a:r>
            <a:rPr lang="en-US" dirty="0"/>
            <a:t>Canada has the lowest sales among the five countries.</a:t>
          </a:r>
        </a:p>
      </dgm:t>
    </dgm:pt>
    <dgm:pt modelId="{03875822-7A8B-4978-B20B-A2AEE360746F}" type="parTrans" cxnId="{F81EB5A6-FE28-490C-8882-97EF66B1ED1E}">
      <dgm:prSet/>
      <dgm:spPr/>
      <dgm:t>
        <a:bodyPr/>
        <a:lstStyle/>
        <a:p>
          <a:endParaRPr lang="en-US"/>
        </a:p>
      </dgm:t>
    </dgm:pt>
    <dgm:pt modelId="{2026FD59-6714-47AC-B1AC-75A0103B54BB}" type="sibTrans" cxnId="{F81EB5A6-FE28-490C-8882-97EF66B1ED1E}">
      <dgm:prSet/>
      <dgm:spPr/>
      <dgm:t>
        <a:bodyPr/>
        <a:lstStyle/>
        <a:p>
          <a:endParaRPr lang="en-US"/>
        </a:p>
      </dgm:t>
    </dgm:pt>
    <dgm:pt modelId="{04C67050-DC71-4BF7-93D8-3AEB42C205BB}" type="pres">
      <dgm:prSet presAssocID="{020E580E-AD38-45ED-AE3F-A63B53ACBB6D}" presName="Name0" presStyleCnt="0">
        <dgm:presLayoutVars>
          <dgm:dir/>
          <dgm:animLvl val="lvl"/>
          <dgm:resizeHandles val="exact"/>
        </dgm:presLayoutVars>
      </dgm:prSet>
      <dgm:spPr/>
    </dgm:pt>
    <dgm:pt modelId="{A8BEC5B2-067E-441C-9B25-ABE4C5A76258}" type="pres">
      <dgm:prSet presAssocID="{A65BBF6E-E5FD-427D-BB05-BADFD56FFA1A}" presName="composite" presStyleCnt="0"/>
      <dgm:spPr/>
    </dgm:pt>
    <dgm:pt modelId="{F014A5CC-0FBE-440C-90C9-F9B8083BF0DE}" type="pres">
      <dgm:prSet presAssocID="{A65BBF6E-E5FD-427D-BB05-BADFD56FFA1A}" presName="parTx" presStyleLbl="alignNode1" presStyleIdx="0" presStyleCnt="1" custLinFactNeighborX="-763" custLinFactNeighborY="-32849">
        <dgm:presLayoutVars>
          <dgm:chMax val="0"/>
          <dgm:chPref val="0"/>
          <dgm:bulletEnabled val="1"/>
        </dgm:presLayoutVars>
      </dgm:prSet>
      <dgm:spPr/>
    </dgm:pt>
    <dgm:pt modelId="{5C86F13F-65CA-449A-9BF4-5B300D43DE85}" type="pres">
      <dgm:prSet presAssocID="{A65BBF6E-E5FD-427D-BB05-BADFD56FFA1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B8C1033-9B0A-49B2-83DC-7E305D9A7CD4}" type="presOf" srcId="{A65BBF6E-E5FD-427D-BB05-BADFD56FFA1A}" destId="{F014A5CC-0FBE-440C-90C9-F9B8083BF0DE}" srcOrd="0" destOrd="0" presId="urn:microsoft.com/office/officeart/2005/8/layout/hList1"/>
    <dgm:cxn modelId="{080A2051-791E-4128-AF34-5EE1C469F09D}" type="presOf" srcId="{020E580E-AD38-45ED-AE3F-A63B53ACBB6D}" destId="{04C67050-DC71-4BF7-93D8-3AEB42C205BB}" srcOrd="0" destOrd="0" presId="urn:microsoft.com/office/officeart/2005/8/layout/hList1"/>
    <dgm:cxn modelId="{6854AB72-DDB9-4FB9-9EE1-F74B0CB12B55}" type="presOf" srcId="{EEF68080-3658-46C9-B5C8-38BA999E2E77}" destId="{5C86F13F-65CA-449A-9BF4-5B300D43DE85}" srcOrd="0" destOrd="0" presId="urn:microsoft.com/office/officeart/2005/8/layout/hList1"/>
    <dgm:cxn modelId="{F81EB5A6-FE28-490C-8882-97EF66B1ED1E}" srcId="{A65BBF6E-E5FD-427D-BB05-BADFD56FFA1A}" destId="{EEF68080-3658-46C9-B5C8-38BA999E2E77}" srcOrd="0" destOrd="0" parTransId="{03875822-7A8B-4978-B20B-A2AEE360746F}" sibTransId="{2026FD59-6714-47AC-B1AC-75A0103B54BB}"/>
    <dgm:cxn modelId="{50D2F1BB-880E-466D-907D-0350C75016C8}" srcId="{020E580E-AD38-45ED-AE3F-A63B53ACBB6D}" destId="{A65BBF6E-E5FD-427D-BB05-BADFD56FFA1A}" srcOrd="0" destOrd="0" parTransId="{5B083D61-EC2A-4801-8D80-1CAC4151F8EF}" sibTransId="{2137F974-16C0-41AC-A81C-44B704FD839F}"/>
    <dgm:cxn modelId="{CE86C7E0-F83A-49D9-A217-FF59CBF3804B}" type="presParOf" srcId="{04C67050-DC71-4BF7-93D8-3AEB42C205BB}" destId="{A8BEC5B2-067E-441C-9B25-ABE4C5A76258}" srcOrd="0" destOrd="0" presId="urn:microsoft.com/office/officeart/2005/8/layout/hList1"/>
    <dgm:cxn modelId="{26290790-C446-4218-876A-9D11D940D287}" type="presParOf" srcId="{A8BEC5B2-067E-441C-9B25-ABE4C5A76258}" destId="{F014A5CC-0FBE-440C-90C9-F9B8083BF0DE}" srcOrd="0" destOrd="0" presId="urn:microsoft.com/office/officeart/2005/8/layout/hList1"/>
    <dgm:cxn modelId="{46EFFF59-114A-4A9E-81CE-715E97D2D202}" type="presParOf" srcId="{A8BEC5B2-067E-441C-9B25-ABE4C5A76258}" destId="{5C86F13F-65CA-449A-9BF4-5B300D43DE8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8CF568-72AC-449B-A36B-3CB47B66D6E4}" type="doc">
      <dgm:prSet loTypeId="urn:microsoft.com/office/officeart/2005/8/layout/vList5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E6BC25E5-84EB-48F1-8F90-57EC42D90866}">
      <dgm:prSet/>
      <dgm:spPr/>
      <dgm:t>
        <a:bodyPr/>
        <a:lstStyle/>
        <a:p>
          <a:r>
            <a:rPr lang="en-US" b="1" i="0" baseline="0">
              <a:solidFill>
                <a:srgbClr val="B95CDE"/>
              </a:solidFill>
            </a:rPr>
            <a:t>Midmarket → 44%</a:t>
          </a:r>
          <a:endParaRPr lang="en-US" b="1">
            <a:solidFill>
              <a:srgbClr val="B95CDE"/>
            </a:solidFill>
          </a:endParaRPr>
        </a:p>
      </dgm:t>
    </dgm:pt>
    <dgm:pt modelId="{15627C2E-80E7-4322-8F75-99CA7057C8D0}" type="parTrans" cxnId="{5D4FBC54-83DA-478C-BB96-0B0E74729CA1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DC53BC9E-DB86-41DB-8A4B-B152A61F9EEA}" type="sibTrans" cxnId="{5D4FBC54-83DA-478C-BB96-0B0E74729CA1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C084067F-A5CF-4263-A509-11E685F19AFA}">
      <dgm:prSet/>
      <dgm:spPr/>
      <dgm:t>
        <a:bodyPr/>
        <a:lstStyle/>
        <a:p>
          <a:r>
            <a:rPr lang="en-US" b="1" i="0" baseline="0">
              <a:solidFill>
                <a:srgbClr val="B95CDE"/>
              </a:solidFill>
            </a:rPr>
            <a:t>Government → 36%</a:t>
          </a:r>
          <a:endParaRPr lang="en-US" b="1">
            <a:solidFill>
              <a:srgbClr val="B95CDE"/>
            </a:solidFill>
          </a:endParaRPr>
        </a:p>
      </dgm:t>
    </dgm:pt>
    <dgm:pt modelId="{8F3A1C6C-3DDE-465E-8BE3-1F6F971053F1}" type="parTrans" cxnId="{BD68C935-CC17-4B45-AB6E-FCA50031B7A2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D1704ED9-6951-4AD9-9C3B-1D9D7E7242EA}" type="sibTrans" cxnId="{BD68C935-CC17-4B45-AB6E-FCA50031B7A2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18627499-C5F7-4B5B-B79F-8ABA8F6DD0C7}">
      <dgm:prSet/>
      <dgm:spPr/>
      <dgm:t>
        <a:bodyPr/>
        <a:lstStyle/>
        <a:p>
          <a:r>
            <a:rPr lang="en-US" b="1" i="0" baseline="0">
              <a:solidFill>
                <a:srgbClr val="B95CDE"/>
              </a:solidFill>
            </a:rPr>
            <a:t>Enterprise → 17%</a:t>
          </a:r>
          <a:endParaRPr lang="en-US" b="1">
            <a:solidFill>
              <a:srgbClr val="B95CDE"/>
            </a:solidFill>
          </a:endParaRPr>
        </a:p>
      </dgm:t>
    </dgm:pt>
    <dgm:pt modelId="{C45BE461-2B15-44A5-9574-CCD81A72E7DB}" type="parTrans" cxnId="{9B6A90FF-D008-4498-909A-5C9F1E8E2897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963C1254-5B4A-44BA-82D2-DA02BC8354CD}" type="sibTrans" cxnId="{9B6A90FF-D008-4498-909A-5C9F1E8E2897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863AE9B5-359F-4C7F-A7B9-A1EC0B0C3E3A}">
      <dgm:prSet/>
      <dgm:spPr/>
      <dgm:t>
        <a:bodyPr/>
        <a:lstStyle/>
        <a:p>
          <a:r>
            <a:rPr lang="en-US" b="1" i="0" baseline="0">
              <a:solidFill>
                <a:srgbClr val="B95CDE"/>
              </a:solidFill>
            </a:rPr>
            <a:t>Channel Partners → 1%</a:t>
          </a:r>
          <a:endParaRPr lang="en-US" b="1">
            <a:solidFill>
              <a:srgbClr val="B95CDE"/>
            </a:solidFill>
          </a:endParaRPr>
        </a:p>
      </dgm:t>
    </dgm:pt>
    <dgm:pt modelId="{F85248BF-ABFC-49E4-BF7C-F0C2075A44DC}" type="parTrans" cxnId="{9093A724-B133-491A-B32A-A317386D4C90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4907B688-D2CD-4CBA-9E54-6ADBD259B171}" type="sibTrans" cxnId="{9093A724-B133-491A-B32A-A317386D4C90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0A1CEB63-6BC4-47C8-B469-826B2D2F5A1D}">
      <dgm:prSet/>
      <dgm:spPr/>
      <dgm:t>
        <a:bodyPr/>
        <a:lstStyle/>
        <a:p>
          <a:r>
            <a:rPr lang="en-US" b="1" i="0" baseline="0">
              <a:solidFill>
                <a:srgbClr val="B95CDE"/>
              </a:solidFill>
            </a:rPr>
            <a:t>Small Business → 2%</a:t>
          </a:r>
          <a:endParaRPr lang="en-US" b="1">
            <a:solidFill>
              <a:srgbClr val="B95CDE"/>
            </a:solidFill>
          </a:endParaRPr>
        </a:p>
      </dgm:t>
    </dgm:pt>
    <dgm:pt modelId="{A44DA21B-27AB-43A7-B3D5-88EFCFCC16FB}" type="parTrans" cxnId="{51613345-71E4-412C-AB74-5A97D48B347C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C44CBB90-D20D-4339-B73C-6AF68337EAF4}" type="sibTrans" cxnId="{51613345-71E4-412C-AB74-5A97D48B347C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D946F9B8-AA27-40B1-BAD7-195B7C44653C}" type="pres">
      <dgm:prSet presAssocID="{098CF568-72AC-449B-A36B-3CB47B66D6E4}" presName="Name0" presStyleCnt="0">
        <dgm:presLayoutVars>
          <dgm:dir/>
          <dgm:animLvl val="lvl"/>
          <dgm:resizeHandles val="exact"/>
        </dgm:presLayoutVars>
      </dgm:prSet>
      <dgm:spPr/>
    </dgm:pt>
    <dgm:pt modelId="{A4249256-B538-4448-A0AB-2121E9B2D9FC}" type="pres">
      <dgm:prSet presAssocID="{E6BC25E5-84EB-48F1-8F90-57EC42D90866}" presName="linNode" presStyleCnt="0"/>
      <dgm:spPr/>
    </dgm:pt>
    <dgm:pt modelId="{12F912FE-7EAA-468E-ADC8-4DFD1D7770D7}" type="pres">
      <dgm:prSet presAssocID="{E6BC25E5-84EB-48F1-8F90-57EC42D90866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4EBE3659-B1ED-48C9-8B2D-9F44D653C4A0}" type="pres">
      <dgm:prSet presAssocID="{DC53BC9E-DB86-41DB-8A4B-B152A61F9EEA}" presName="sp" presStyleCnt="0"/>
      <dgm:spPr/>
    </dgm:pt>
    <dgm:pt modelId="{9AFC2EA6-2EBE-4132-8CC4-3F066739B62E}" type="pres">
      <dgm:prSet presAssocID="{C084067F-A5CF-4263-A509-11E685F19AFA}" presName="linNode" presStyleCnt="0"/>
      <dgm:spPr/>
    </dgm:pt>
    <dgm:pt modelId="{B2F22716-CAB5-49B8-9BE4-41E5C6C68F9A}" type="pres">
      <dgm:prSet presAssocID="{C084067F-A5CF-4263-A509-11E685F19AFA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76936254-4FCC-4502-A90A-5F3AB7E05B83}" type="pres">
      <dgm:prSet presAssocID="{D1704ED9-6951-4AD9-9C3B-1D9D7E7242EA}" presName="sp" presStyleCnt="0"/>
      <dgm:spPr/>
    </dgm:pt>
    <dgm:pt modelId="{70E2EB8D-C04D-4818-AE3F-0369AFBF416F}" type="pres">
      <dgm:prSet presAssocID="{18627499-C5F7-4B5B-B79F-8ABA8F6DD0C7}" presName="linNode" presStyleCnt="0"/>
      <dgm:spPr/>
    </dgm:pt>
    <dgm:pt modelId="{94190CDA-8C79-45A9-83FE-DA2BC5EAA5C5}" type="pres">
      <dgm:prSet presAssocID="{18627499-C5F7-4B5B-B79F-8ABA8F6DD0C7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7487B627-0229-4359-9AEF-70C89843C895}" type="pres">
      <dgm:prSet presAssocID="{963C1254-5B4A-44BA-82D2-DA02BC8354CD}" presName="sp" presStyleCnt="0"/>
      <dgm:spPr/>
    </dgm:pt>
    <dgm:pt modelId="{B4CD4649-0A59-4650-BEB6-138A5D4F8AB4}" type="pres">
      <dgm:prSet presAssocID="{863AE9B5-359F-4C7F-A7B9-A1EC0B0C3E3A}" presName="linNode" presStyleCnt="0"/>
      <dgm:spPr/>
    </dgm:pt>
    <dgm:pt modelId="{F8F01834-6A7C-4A2F-8B08-C88CB07759CE}" type="pres">
      <dgm:prSet presAssocID="{863AE9B5-359F-4C7F-A7B9-A1EC0B0C3E3A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CB523177-B9FE-4BF8-8979-29979BAC52FD}" type="pres">
      <dgm:prSet presAssocID="{4907B688-D2CD-4CBA-9E54-6ADBD259B171}" presName="sp" presStyleCnt="0"/>
      <dgm:spPr/>
    </dgm:pt>
    <dgm:pt modelId="{8433582C-6E0F-47ED-B6B3-5192C76D6121}" type="pres">
      <dgm:prSet presAssocID="{0A1CEB63-6BC4-47C8-B469-826B2D2F5A1D}" presName="linNode" presStyleCnt="0"/>
      <dgm:spPr/>
    </dgm:pt>
    <dgm:pt modelId="{C1F3444C-9AEE-4B85-9510-E18991DEE2DC}" type="pres">
      <dgm:prSet presAssocID="{0A1CEB63-6BC4-47C8-B469-826B2D2F5A1D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9093A724-B133-491A-B32A-A317386D4C90}" srcId="{098CF568-72AC-449B-A36B-3CB47B66D6E4}" destId="{863AE9B5-359F-4C7F-A7B9-A1EC0B0C3E3A}" srcOrd="3" destOrd="0" parTransId="{F85248BF-ABFC-49E4-BF7C-F0C2075A44DC}" sibTransId="{4907B688-D2CD-4CBA-9E54-6ADBD259B171}"/>
    <dgm:cxn modelId="{BD68C935-CC17-4B45-AB6E-FCA50031B7A2}" srcId="{098CF568-72AC-449B-A36B-3CB47B66D6E4}" destId="{C084067F-A5CF-4263-A509-11E685F19AFA}" srcOrd="1" destOrd="0" parTransId="{8F3A1C6C-3DDE-465E-8BE3-1F6F971053F1}" sibTransId="{D1704ED9-6951-4AD9-9C3B-1D9D7E7242EA}"/>
    <dgm:cxn modelId="{51613345-71E4-412C-AB74-5A97D48B347C}" srcId="{098CF568-72AC-449B-A36B-3CB47B66D6E4}" destId="{0A1CEB63-6BC4-47C8-B469-826B2D2F5A1D}" srcOrd="4" destOrd="0" parTransId="{A44DA21B-27AB-43A7-B3D5-88EFCFCC16FB}" sibTransId="{C44CBB90-D20D-4339-B73C-6AF68337EAF4}"/>
    <dgm:cxn modelId="{5D4FBC54-83DA-478C-BB96-0B0E74729CA1}" srcId="{098CF568-72AC-449B-A36B-3CB47B66D6E4}" destId="{E6BC25E5-84EB-48F1-8F90-57EC42D90866}" srcOrd="0" destOrd="0" parTransId="{15627C2E-80E7-4322-8F75-99CA7057C8D0}" sibTransId="{DC53BC9E-DB86-41DB-8A4B-B152A61F9EEA}"/>
    <dgm:cxn modelId="{58D37C8A-0F32-41B8-BEE5-4957C8B34A91}" type="presOf" srcId="{E6BC25E5-84EB-48F1-8F90-57EC42D90866}" destId="{12F912FE-7EAA-468E-ADC8-4DFD1D7770D7}" srcOrd="0" destOrd="0" presId="urn:microsoft.com/office/officeart/2005/8/layout/vList5"/>
    <dgm:cxn modelId="{F732798C-9499-430F-BE44-39AB6498A683}" type="presOf" srcId="{0A1CEB63-6BC4-47C8-B469-826B2D2F5A1D}" destId="{C1F3444C-9AEE-4B85-9510-E18991DEE2DC}" srcOrd="0" destOrd="0" presId="urn:microsoft.com/office/officeart/2005/8/layout/vList5"/>
    <dgm:cxn modelId="{B8359799-A287-4DAE-84E8-34674AE36A03}" type="presOf" srcId="{098CF568-72AC-449B-A36B-3CB47B66D6E4}" destId="{D946F9B8-AA27-40B1-BAD7-195B7C44653C}" srcOrd="0" destOrd="0" presId="urn:microsoft.com/office/officeart/2005/8/layout/vList5"/>
    <dgm:cxn modelId="{AB99639E-A219-4F5E-B983-6962BFFDB3CB}" type="presOf" srcId="{863AE9B5-359F-4C7F-A7B9-A1EC0B0C3E3A}" destId="{F8F01834-6A7C-4A2F-8B08-C88CB07759CE}" srcOrd="0" destOrd="0" presId="urn:microsoft.com/office/officeart/2005/8/layout/vList5"/>
    <dgm:cxn modelId="{C03C7FC8-22FD-44D5-8147-F8835874797B}" type="presOf" srcId="{18627499-C5F7-4B5B-B79F-8ABA8F6DD0C7}" destId="{94190CDA-8C79-45A9-83FE-DA2BC5EAA5C5}" srcOrd="0" destOrd="0" presId="urn:microsoft.com/office/officeart/2005/8/layout/vList5"/>
    <dgm:cxn modelId="{F4D6A1D6-59F3-49FA-AED5-2C93397422F5}" type="presOf" srcId="{C084067F-A5CF-4263-A509-11E685F19AFA}" destId="{B2F22716-CAB5-49B8-9BE4-41E5C6C68F9A}" srcOrd="0" destOrd="0" presId="urn:microsoft.com/office/officeart/2005/8/layout/vList5"/>
    <dgm:cxn modelId="{9B6A90FF-D008-4498-909A-5C9F1E8E2897}" srcId="{098CF568-72AC-449B-A36B-3CB47B66D6E4}" destId="{18627499-C5F7-4B5B-B79F-8ABA8F6DD0C7}" srcOrd="2" destOrd="0" parTransId="{C45BE461-2B15-44A5-9574-CCD81A72E7DB}" sibTransId="{963C1254-5B4A-44BA-82D2-DA02BC8354CD}"/>
    <dgm:cxn modelId="{EF9075EF-EDD8-4626-84E9-87B2382F4917}" type="presParOf" srcId="{D946F9B8-AA27-40B1-BAD7-195B7C44653C}" destId="{A4249256-B538-4448-A0AB-2121E9B2D9FC}" srcOrd="0" destOrd="0" presId="urn:microsoft.com/office/officeart/2005/8/layout/vList5"/>
    <dgm:cxn modelId="{3203B7D3-B2AC-4CDB-AC2E-7F46B567E33B}" type="presParOf" srcId="{A4249256-B538-4448-A0AB-2121E9B2D9FC}" destId="{12F912FE-7EAA-468E-ADC8-4DFD1D7770D7}" srcOrd="0" destOrd="0" presId="urn:microsoft.com/office/officeart/2005/8/layout/vList5"/>
    <dgm:cxn modelId="{1D2C15DF-7795-4CC9-BDEE-0F9FF2147E9C}" type="presParOf" srcId="{D946F9B8-AA27-40B1-BAD7-195B7C44653C}" destId="{4EBE3659-B1ED-48C9-8B2D-9F44D653C4A0}" srcOrd="1" destOrd="0" presId="urn:microsoft.com/office/officeart/2005/8/layout/vList5"/>
    <dgm:cxn modelId="{E375BFDD-0831-4DD1-A158-2070E5EF3286}" type="presParOf" srcId="{D946F9B8-AA27-40B1-BAD7-195B7C44653C}" destId="{9AFC2EA6-2EBE-4132-8CC4-3F066739B62E}" srcOrd="2" destOrd="0" presId="urn:microsoft.com/office/officeart/2005/8/layout/vList5"/>
    <dgm:cxn modelId="{9C91CC62-1D44-492E-AF5C-4EEF70BBFDDF}" type="presParOf" srcId="{9AFC2EA6-2EBE-4132-8CC4-3F066739B62E}" destId="{B2F22716-CAB5-49B8-9BE4-41E5C6C68F9A}" srcOrd="0" destOrd="0" presId="urn:microsoft.com/office/officeart/2005/8/layout/vList5"/>
    <dgm:cxn modelId="{C5821BA8-4EEF-4595-A0DC-35704A653538}" type="presParOf" srcId="{D946F9B8-AA27-40B1-BAD7-195B7C44653C}" destId="{76936254-4FCC-4502-A90A-5F3AB7E05B83}" srcOrd="3" destOrd="0" presId="urn:microsoft.com/office/officeart/2005/8/layout/vList5"/>
    <dgm:cxn modelId="{605ACC4A-400B-45FD-A792-AE56ABF53A91}" type="presParOf" srcId="{D946F9B8-AA27-40B1-BAD7-195B7C44653C}" destId="{70E2EB8D-C04D-4818-AE3F-0369AFBF416F}" srcOrd="4" destOrd="0" presId="urn:microsoft.com/office/officeart/2005/8/layout/vList5"/>
    <dgm:cxn modelId="{F23AB990-534D-4D71-8E1E-814A983D78A8}" type="presParOf" srcId="{70E2EB8D-C04D-4818-AE3F-0369AFBF416F}" destId="{94190CDA-8C79-45A9-83FE-DA2BC5EAA5C5}" srcOrd="0" destOrd="0" presId="urn:microsoft.com/office/officeart/2005/8/layout/vList5"/>
    <dgm:cxn modelId="{0B6A4B51-FE25-4A1C-B616-B2EEEDE81E54}" type="presParOf" srcId="{D946F9B8-AA27-40B1-BAD7-195B7C44653C}" destId="{7487B627-0229-4359-9AEF-70C89843C895}" srcOrd="5" destOrd="0" presId="urn:microsoft.com/office/officeart/2005/8/layout/vList5"/>
    <dgm:cxn modelId="{6D5E3D8C-6608-4355-8BBC-6A390239B052}" type="presParOf" srcId="{D946F9B8-AA27-40B1-BAD7-195B7C44653C}" destId="{B4CD4649-0A59-4650-BEB6-138A5D4F8AB4}" srcOrd="6" destOrd="0" presId="urn:microsoft.com/office/officeart/2005/8/layout/vList5"/>
    <dgm:cxn modelId="{859C1F66-121E-495E-AA05-407A14B2C6B7}" type="presParOf" srcId="{B4CD4649-0A59-4650-BEB6-138A5D4F8AB4}" destId="{F8F01834-6A7C-4A2F-8B08-C88CB07759CE}" srcOrd="0" destOrd="0" presId="urn:microsoft.com/office/officeart/2005/8/layout/vList5"/>
    <dgm:cxn modelId="{F003A7CB-25C7-40F9-9100-DC03B33BE6D3}" type="presParOf" srcId="{D946F9B8-AA27-40B1-BAD7-195B7C44653C}" destId="{CB523177-B9FE-4BF8-8979-29979BAC52FD}" srcOrd="7" destOrd="0" presId="urn:microsoft.com/office/officeart/2005/8/layout/vList5"/>
    <dgm:cxn modelId="{0991CAE3-497D-4603-96AF-7B415E67024A}" type="presParOf" srcId="{D946F9B8-AA27-40B1-BAD7-195B7C44653C}" destId="{8433582C-6E0F-47ED-B6B3-5192C76D6121}" srcOrd="8" destOrd="0" presId="urn:microsoft.com/office/officeart/2005/8/layout/vList5"/>
    <dgm:cxn modelId="{4C1DC962-E9B2-422C-8C4A-BC231ECB7A1B}" type="presParOf" srcId="{8433582C-6E0F-47ED-B6B3-5192C76D6121}" destId="{C1F3444C-9AEE-4B85-9510-E18991DEE2DC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20E580E-AD38-45ED-AE3F-A63B53ACBB6D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65BBF6E-E5FD-427D-BB05-BADFD56FFA1A}">
      <dgm:prSet/>
      <dgm:spPr/>
      <dgm:t>
        <a:bodyPr/>
        <a:lstStyle/>
        <a:p>
          <a:r>
            <a:rPr lang="en-US" b="1" dirty="0">
              <a:solidFill>
                <a:schemeClr val="bg1"/>
              </a:solidFill>
            </a:rPr>
            <a:t>Key Insight</a:t>
          </a:r>
          <a:endParaRPr lang="en-US" dirty="0">
            <a:solidFill>
              <a:schemeClr val="bg1"/>
            </a:solidFill>
          </a:endParaRPr>
        </a:p>
      </dgm:t>
    </dgm:pt>
    <dgm:pt modelId="{5B083D61-EC2A-4801-8D80-1CAC4151F8EF}" type="parTrans" cxnId="{50D2F1BB-880E-466D-907D-0350C75016C8}">
      <dgm:prSet/>
      <dgm:spPr/>
      <dgm:t>
        <a:bodyPr/>
        <a:lstStyle/>
        <a:p>
          <a:endParaRPr lang="en-US"/>
        </a:p>
      </dgm:t>
    </dgm:pt>
    <dgm:pt modelId="{2137F974-16C0-41AC-A81C-44B704FD839F}" type="sibTrans" cxnId="{50D2F1BB-880E-466D-907D-0350C75016C8}">
      <dgm:prSet/>
      <dgm:spPr/>
      <dgm:t>
        <a:bodyPr/>
        <a:lstStyle/>
        <a:p>
          <a:endParaRPr lang="en-US"/>
        </a:p>
      </dgm:t>
    </dgm:pt>
    <dgm:pt modelId="{EEF68080-3658-46C9-B5C8-38BA999E2E77}">
      <dgm:prSet/>
      <dgm:spPr/>
      <dgm:t>
        <a:bodyPr/>
        <a:lstStyle/>
        <a:p>
          <a:r>
            <a:rPr lang="en-US" dirty="0"/>
            <a:t>Midmarket + Government together generate </a:t>
          </a:r>
          <a:r>
            <a:rPr lang="en-US" b="1" dirty="0"/>
            <a:t>80%+</a:t>
          </a:r>
          <a:r>
            <a:rPr lang="en-US" dirty="0"/>
            <a:t> of revenue.</a:t>
          </a:r>
        </a:p>
      </dgm:t>
    </dgm:pt>
    <dgm:pt modelId="{03875822-7A8B-4978-B20B-A2AEE360746F}" type="parTrans" cxnId="{F81EB5A6-FE28-490C-8882-97EF66B1ED1E}">
      <dgm:prSet/>
      <dgm:spPr/>
      <dgm:t>
        <a:bodyPr/>
        <a:lstStyle/>
        <a:p>
          <a:endParaRPr lang="en-US"/>
        </a:p>
      </dgm:t>
    </dgm:pt>
    <dgm:pt modelId="{2026FD59-6714-47AC-B1AC-75A0103B54BB}" type="sibTrans" cxnId="{F81EB5A6-FE28-490C-8882-97EF66B1ED1E}">
      <dgm:prSet/>
      <dgm:spPr/>
      <dgm:t>
        <a:bodyPr/>
        <a:lstStyle/>
        <a:p>
          <a:endParaRPr lang="en-US"/>
        </a:p>
      </dgm:t>
    </dgm:pt>
    <dgm:pt modelId="{04C67050-DC71-4BF7-93D8-3AEB42C205BB}" type="pres">
      <dgm:prSet presAssocID="{020E580E-AD38-45ED-AE3F-A63B53ACBB6D}" presName="Name0" presStyleCnt="0">
        <dgm:presLayoutVars>
          <dgm:dir/>
          <dgm:animLvl val="lvl"/>
          <dgm:resizeHandles val="exact"/>
        </dgm:presLayoutVars>
      </dgm:prSet>
      <dgm:spPr/>
    </dgm:pt>
    <dgm:pt modelId="{A8BEC5B2-067E-441C-9B25-ABE4C5A76258}" type="pres">
      <dgm:prSet presAssocID="{A65BBF6E-E5FD-427D-BB05-BADFD56FFA1A}" presName="composite" presStyleCnt="0"/>
      <dgm:spPr/>
    </dgm:pt>
    <dgm:pt modelId="{F014A5CC-0FBE-440C-90C9-F9B8083BF0DE}" type="pres">
      <dgm:prSet presAssocID="{A65BBF6E-E5FD-427D-BB05-BADFD56FFA1A}" presName="parTx" presStyleLbl="alignNode1" presStyleIdx="0" presStyleCnt="1" custLinFactNeighborX="-1044" custLinFactNeighborY="-28360">
        <dgm:presLayoutVars>
          <dgm:chMax val="0"/>
          <dgm:chPref val="0"/>
          <dgm:bulletEnabled val="1"/>
        </dgm:presLayoutVars>
      </dgm:prSet>
      <dgm:spPr/>
    </dgm:pt>
    <dgm:pt modelId="{5C86F13F-65CA-449A-9BF4-5B300D43DE85}" type="pres">
      <dgm:prSet presAssocID="{A65BBF6E-E5FD-427D-BB05-BADFD56FFA1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B8C1033-9B0A-49B2-83DC-7E305D9A7CD4}" type="presOf" srcId="{A65BBF6E-E5FD-427D-BB05-BADFD56FFA1A}" destId="{F014A5CC-0FBE-440C-90C9-F9B8083BF0DE}" srcOrd="0" destOrd="0" presId="urn:microsoft.com/office/officeart/2005/8/layout/hList1"/>
    <dgm:cxn modelId="{080A2051-791E-4128-AF34-5EE1C469F09D}" type="presOf" srcId="{020E580E-AD38-45ED-AE3F-A63B53ACBB6D}" destId="{04C67050-DC71-4BF7-93D8-3AEB42C205BB}" srcOrd="0" destOrd="0" presId="urn:microsoft.com/office/officeart/2005/8/layout/hList1"/>
    <dgm:cxn modelId="{6854AB72-DDB9-4FB9-9EE1-F74B0CB12B55}" type="presOf" srcId="{EEF68080-3658-46C9-B5C8-38BA999E2E77}" destId="{5C86F13F-65CA-449A-9BF4-5B300D43DE85}" srcOrd="0" destOrd="0" presId="urn:microsoft.com/office/officeart/2005/8/layout/hList1"/>
    <dgm:cxn modelId="{F81EB5A6-FE28-490C-8882-97EF66B1ED1E}" srcId="{A65BBF6E-E5FD-427D-BB05-BADFD56FFA1A}" destId="{EEF68080-3658-46C9-B5C8-38BA999E2E77}" srcOrd="0" destOrd="0" parTransId="{03875822-7A8B-4978-B20B-A2AEE360746F}" sibTransId="{2026FD59-6714-47AC-B1AC-75A0103B54BB}"/>
    <dgm:cxn modelId="{50D2F1BB-880E-466D-907D-0350C75016C8}" srcId="{020E580E-AD38-45ED-AE3F-A63B53ACBB6D}" destId="{A65BBF6E-E5FD-427D-BB05-BADFD56FFA1A}" srcOrd="0" destOrd="0" parTransId="{5B083D61-EC2A-4801-8D80-1CAC4151F8EF}" sibTransId="{2137F974-16C0-41AC-A81C-44B704FD839F}"/>
    <dgm:cxn modelId="{CE86C7E0-F83A-49D9-A217-FF59CBF3804B}" type="presParOf" srcId="{04C67050-DC71-4BF7-93D8-3AEB42C205BB}" destId="{A8BEC5B2-067E-441C-9B25-ABE4C5A76258}" srcOrd="0" destOrd="0" presId="urn:microsoft.com/office/officeart/2005/8/layout/hList1"/>
    <dgm:cxn modelId="{26290790-C446-4218-876A-9D11D940D287}" type="presParOf" srcId="{A8BEC5B2-067E-441C-9B25-ABE4C5A76258}" destId="{F014A5CC-0FBE-440C-90C9-F9B8083BF0DE}" srcOrd="0" destOrd="0" presId="urn:microsoft.com/office/officeart/2005/8/layout/hList1"/>
    <dgm:cxn modelId="{46EFFF59-114A-4A9E-81CE-715E97D2D202}" type="presParOf" srcId="{A8BEC5B2-067E-441C-9B25-ABE4C5A76258}" destId="{5C86F13F-65CA-449A-9BF4-5B300D43DE8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AF38C20-C0E6-4EA0-9AB8-66B61AE228B3}" type="doc">
      <dgm:prSet loTypeId="urn:microsoft.com/office/officeart/2005/8/layout/vList5" loCatId="list" qsTypeId="urn:microsoft.com/office/officeart/2005/8/quickstyle/simple1" qsCatId="simple" csTypeId="urn:microsoft.com/office/officeart/2005/8/colors/accent0_2" csCatId="mainScheme"/>
      <dgm:spPr/>
      <dgm:t>
        <a:bodyPr/>
        <a:lstStyle/>
        <a:p>
          <a:endParaRPr lang="en-US"/>
        </a:p>
      </dgm:t>
    </dgm:pt>
    <dgm:pt modelId="{6399D9D1-7A4A-4370-828D-9FECDF4F339C}">
      <dgm:prSet/>
      <dgm:spPr/>
      <dgm:t>
        <a:bodyPr/>
        <a:lstStyle/>
        <a:p>
          <a:r>
            <a:rPr lang="en-US" b="0" i="0" baseline="0">
              <a:solidFill>
                <a:srgbClr val="B95CDE"/>
              </a:solidFill>
            </a:rPr>
            <a:t>Low Discount → </a:t>
          </a:r>
          <a:r>
            <a:rPr lang="en-US" b="1" i="0" baseline="0">
              <a:solidFill>
                <a:srgbClr val="B95CDE"/>
              </a:solidFill>
            </a:rPr>
            <a:t>$6,188,857</a:t>
          </a:r>
          <a:endParaRPr lang="en-US">
            <a:solidFill>
              <a:srgbClr val="B95CDE"/>
            </a:solidFill>
          </a:endParaRPr>
        </a:p>
      </dgm:t>
    </dgm:pt>
    <dgm:pt modelId="{8BA1BBCB-466C-41D9-B2AD-E61A89EFAC91}" type="parTrans" cxnId="{7A1D85F2-62E8-47F2-AFF9-58ECEBB8FA41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7F8825D1-0865-4B9E-A7C2-66A7608A0003}" type="sibTrans" cxnId="{7A1D85F2-62E8-47F2-AFF9-58ECEBB8FA41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E5ABBA83-74B3-48C3-BCB6-305A5466E4FD}">
      <dgm:prSet/>
      <dgm:spPr/>
      <dgm:t>
        <a:bodyPr/>
        <a:lstStyle/>
        <a:p>
          <a:r>
            <a:rPr lang="en-US" b="0" i="0" baseline="0">
              <a:solidFill>
                <a:srgbClr val="B95CDE"/>
              </a:solidFill>
            </a:rPr>
            <a:t>Medium → </a:t>
          </a:r>
          <a:r>
            <a:rPr lang="en-US" b="1" i="0" baseline="0">
              <a:solidFill>
                <a:srgbClr val="B95CDE"/>
              </a:solidFill>
            </a:rPr>
            <a:t>$5,575,222</a:t>
          </a:r>
          <a:endParaRPr lang="en-US">
            <a:solidFill>
              <a:srgbClr val="B95CDE"/>
            </a:solidFill>
          </a:endParaRPr>
        </a:p>
      </dgm:t>
    </dgm:pt>
    <dgm:pt modelId="{7DEA8E57-80A7-4AB6-AFB5-9BF02628CC01}" type="parTrans" cxnId="{1B5ABB5C-50C6-4787-8E0E-91C0B4025A4A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C58C6F87-3FCD-4998-9000-2C34063E7CBB}" type="sibTrans" cxnId="{1B5ABB5C-50C6-4787-8E0E-91C0B4025A4A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26524F79-1A71-440F-81F2-AB1EEF347C01}">
      <dgm:prSet/>
      <dgm:spPr/>
      <dgm:t>
        <a:bodyPr/>
        <a:lstStyle/>
        <a:p>
          <a:r>
            <a:rPr lang="en-US" b="0" i="0" baseline="0">
              <a:solidFill>
                <a:srgbClr val="B95CDE"/>
              </a:solidFill>
            </a:rPr>
            <a:t>High → </a:t>
          </a:r>
          <a:r>
            <a:rPr lang="en-US" b="1" i="0" baseline="0">
              <a:solidFill>
                <a:srgbClr val="B95CDE"/>
              </a:solidFill>
            </a:rPr>
            <a:t>$3,388,866</a:t>
          </a:r>
          <a:endParaRPr lang="en-US">
            <a:solidFill>
              <a:srgbClr val="B95CDE"/>
            </a:solidFill>
          </a:endParaRPr>
        </a:p>
      </dgm:t>
    </dgm:pt>
    <dgm:pt modelId="{653A375A-1780-4F1B-B476-5A8B5B8C6BCB}" type="parTrans" cxnId="{12790AA4-C5BB-4B01-B769-3B2FD61D13F0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B935AAEE-9403-4879-B7F6-C1911196ED05}" type="sibTrans" cxnId="{12790AA4-C5BB-4B01-B769-3B2FD61D13F0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56F9CCB3-3B9F-4967-8ADB-D76C4AF61AC3}">
      <dgm:prSet/>
      <dgm:spPr/>
      <dgm:t>
        <a:bodyPr/>
        <a:lstStyle/>
        <a:p>
          <a:r>
            <a:rPr lang="en-US" b="0" i="0" baseline="0">
              <a:solidFill>
                <a:srgbClr val="B95CDE"/>
              </a:solidFill>
            </a:rPr>
            <a:t>None → </a:t>
          </a:r>
          <a:r>
            <a:rPr lang="en-US" b="1" i="0" baseline="0">
              <a:solidFill>
                <a:srgbClr val="B95CDE"/>
              </a:solidFill>
            </a:rPr>
            <a:t>$1,736,455</a:t>
          </a:r>
          <a:endParaRPr lang="en-US">
            <a:solidFill>
              <a:srgbClr val="B95CDE"/>
            </a:solidFill>
          </a:endParaRPr>
        </a:p>
      </dgm:t>
    </dgm:pt>
    <dgm:pt modelId="{442AF6DC-B28F-46F2-8423-DE9BAFA95835}" type="parTrans" cxnId="{0D2B9623-D815-4727-8CE2-7AB7CC25F19C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CED9F169-1ED6-4E52-9B5D-BCDF17875C13}" type="sibTrans" cxnId="{0D2B9623-D815-4727-8CE2-7AB7CC25F19C}">
      <dgm:prSet/>
      <dgm:spPr/>
      <dgm:t>
        <a:bodyPr/>
        <a:lstStyle/>
        <a:p>
          <a:endParaRPr lang="en-US">
            <a:solidFill>
              <a:srgbClr val="B95CDE"/>
            </a:solidFill>
          </a:endParaRPr>
        </a:p>
      </dgm:t>
    </dgm:pt>
    <dgm:pt modelId="{FC409C32-ADB1-4F2D-A171-0F5DAFB33F83}" type="pres">
      <dgm:prSet presAssocID="{CAF38C20-C0E6-4EA0-9AB8-66B61AE228B3}" presName="Name0" presStyleCnt="0">
        <dgm:presLayoutVars>
          <dgm:dir/>
          <dgm:animLvl val="lvl"/>
          <dgm:resizeHandles val="exact"/>
        </dgm:presLayoutVars>
      </dgm:prSet>
      <dgm:spPr/>
    </dgm:pt>
    <dgm:pt modelId="{A16CEAF3-0E38-4D17-959C-35C3C051F2D7}" type="pres">
      <dgm:prSet presAssocID="{6399D9D1-7A4A-4370-828D-9FECDF4F339C}" presName="linNode" presStyleCnt="0"/>
      <dgm:spPr/>
    </dgm:pt>
    <dgm:pt modelId="{35A6BA27-E399-442B-95D3-0152CEC34DC2}" type="pres">
      <dgm:prSet presAssocID="{6399D9D1-7A4A-4370-828D-9FECDF4F339C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33432AC9-B192-4E79-9AFC-5EAE35BD504C}" type="pres">
      <dgm:prSet presAssocID="{7F8825D1-0865-4B9E-A7C2-66A7608A0003}" presName="sp" presStyleCnt="0"/>
      <dgm:spPr/>
    </dgm:pt>
    <dgm:pt modelId="{9B84B68A-1803-4C33-B547-A181FA3B99A2}" type="pres">
      <dgm:prSet presAssocID="{E5ABBA83-74B3-48C3-BCB6-305A5466E4FD}" presName="linNode" presStyleCnt="0"/>
      <dgm:spPr/>
    </dgm:pt>
    <dgm:pt modelId="{9DC3048A-4655-4F11-A179-6B7BE5819F4E}" type="pres">
      <dgm:prSet presAssocID="{E5ABBA83-74B3-48C3-BCB6-305A5466E4FD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73A1CF2A-6915-4E0A-8819-39728DA95ED1}" type="pres">
      <dgm:prSet presAssocID="{C58C6F87-3FCD-4998-9000-2C34063E7CBB}" presName="sp" presStyleCnt="0"/>
      <dgm:spPr/>
    </dgm:pt>
    <dgm:pt modelId="{13ED1FA8-8D5B-4643-ADFC-62DDAFA8930B}" type="pres">
      <dgm:prSet presAssocID="{26524F79-1A71-440F-81F2-AB1EEF347C01}" presName="linNode" presStyleCnt="0"/>
      <dgm:spPr/>
    </dgm:pt>
    <dgm:pt modelId="{C7EBBBA2-3231-40E8-B9CB-7E20A32584D0}" type="pres">
      <dgm:prSet presAssocID="{26524F79-1A71-440F-81F2-AB1EEF347C01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BBC5D2C2-C361-4277-A955-45D8D7A07CBB}" type="pres">
      <dgm:prSet presAssocID="{B935AAEE-9403-4879-B7F6-C1911196ED05}" presName="sp" presStyleCnt="0"/>
      <dgm:spPr/>
    </dgm:pt>
    <dgm:pt modelId="{07B0A038-3F7E-44D0-984E-A66C5B4283B2}" type="pres">
      <dgm:prSet presAssocID="{56F9CCB3-3B9F-4967-8ADB-D76C4AF61AC3}" presName="linNode" presStyleCnt="0"/>
      <dgm:spPr/>
    </dgm:pt>
    <dgm:pt modelId="{AD96D5AA-FF19-408B-A782-F7A4EA3D2F3F}" type="pres">
      <dgm:prSet presAssocID="{56F9CCB3-3B9F-4967-8ADB-D76C4AF61AC3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624F9D1A-9253-44EB-9763-BF931E9CC1D7}" type="presOf" srcId="{CAF38C20-C0E6-4EA0-9AB8-66B61AE228B3}" destId="{FC409C32-ADB1-4F2D-A171-0F5DAFB33F83}" srcOrd="0" destOrd="0" presId="urn:microsoft.com/office/officeart/2005/8/layout/vList5"/>
    <dgm:cxn modelId="{6C89701C-E344-4EE1-B628-D15087E5B50C}" type="presOf" srcId="{6399D9D1-7A4A-4370-828D-9FECDF4F339C}" destId="{35A6BA27-E399-442B-95D3-0152CEC34DC2}" srcOrd="0" destOrd="0" presId="urn:microsoft.com/office/officeart/2005/8/layout/vList5"/>
    <dgm:cxn modelId="{0D2B9623-D815-4727-8CE2-7AB7CC25F19C}" srcId="{CAF38C20-C0E6-4EA0-9AB8-66B61AE228B3}" destId="{56F9CCB3-3B9F-4967-8ADB-D76C4AF61AC3}" srcOrd="3" destOrd="0" parTransId="{442AF6DC-B28F-46F2-8423-DE9BAFA95835}" sibTransId="{CED9F169-1ED6-4E52-9B5D-BCDF17875C13}"/>
    <dgm:cxn modelId="{E515B527-48C4-468E-9CA8-4F1E9255433E}" type="presOf" srcId="{56F9CCB3-3B9F-4967-8ADB-D76C4AF61AC3}" destId="{AD96D5AA-FF19-408B-A782-F7A4EA3D2F3F}" srcOrd="0" destOrd="0" presId="urn:microsoft.com/office/officeart/2005/8/layout/vList5"/>
    <dgm:cxn modelId="{1B5ABB5C-50C6-4787-8E0E-91C0B4025A4A}" srcId="{CAF38C20-C0E6-4EA0-9AB8-66B61AE228B3}" destId="{E5ABBA83-74B3-48C3-BCB6-305A5466E4FD}" srcOrd="1" destOrd="0" parTransId="{7DEA8E57-80A7-4AB6-AFB5-9BF02628CC01}" sibTransId="{C58C6F87-3FCD-4998-9000-2C34063E7CBB}"/>
    <dgm:cxn modelId="{9F9FF67B-C58F-4712-AA0D-F22B08E0514C}" type="presOf" srcId="{E5ABBA83-74B3-48C3-BCB6-305A5466E4FD}" destId="{9DC3048A-4655-4F11-A179-6B7BE5819F4E}" srcOrd="0" destOrd="0" presId="urn:microsoft.com/office/officeart/2005/8/layout/vList5"/>
    <dgm:cxn modelId="{BF9D9C94-CFB5-43CB-AC9C-2FDA04FF20B9}" type="presOf" srcId="{26524F79-1A71-440F-81F2-AB1EEF347C01}" destId="{C7EBBBA2-3231-40E8-B9CB-7E20A32584D0}" srcOrd="0" destOrd="0" presId="urn:microsoft.com/office/officeart/2005/8/layout/vList5"/>
    <dgm:cxn modelId="{12790AA4-C5BB-4B01-B769-3B2FD61D13F0}" srcId="{CAF38C20-C0E6-4EA0-9AB8-66B61AE228B3}" destId="{26524F79-1A71-440F-81F2-AB1EEF347C01}" srcOrd="2" destOrd="0" parTransId="{653A375A-1780-4F1B-B476-5A8B5B8C6BCB}" sibTransId="{B935AAEE-9403-4879-B7F6-C1911196ED05}"/>
    <dgm:cxn modelId="{7A1D85F2-62E8-47F2-AFF9-58ECEBB8FA41}" srcId="{CAF38C20-C0E6-4EA0-9AB8-66B61AE228B3}" destId="{6399D9D1-7A4A-4370-828D-9FECDF4F339C}" srcOrd="0" destOrd="0" parTransId="{8BA1BBCB-466C-41D9-B2AD-E61A89EFAC91}" sibTransId="{7F8825D1-0865-4B9E-A7C2-66A7608A0003}"/>
    <dgm:cxn modelId="{232E208C-4AAB-47CA-AB30-DEB814DAEEAA}" type="presParOf" srcId="{FC409C32-ADB1-4F2D-A171-0F5DAFB33F83}" destId="{A16CEAF3-0E38-4D17-959C-35C3C051F2D7}" srcOrd="0" destOrd="0" presId="urn:microsoft.com/office/officeart/2005/8/layout/vList5"/>
    <dgm:cxn modelId="{33F16CA2-AE52-471E-A49D-8DBB15765FB1}" type="presParOf" srcId="{A16CEAF3-0E38-4D17-959C-35C3C051F2D7}" destId="{35A6BA27-E399-442B-95D3-0152CEC34DC2}" srcOrd="0" destOrd="0" presId="urn:microsoft.com/office/officeart/2005/8/layout/vList5"/>
    <dgm:cxn modelId="{B0993D90-554B-498A-B85F-795EE46E1D4A}" type="presParOf" srcId="{FC409C32-ADB1-4F2D-A171-0F5DAFB33F83}" destId="{33432AC9-B192-4E79-9AFC-5EAE35BD504C}" srcOrd="1" destOrd="0" presId="urn:microsoft.com/office/officeart/2005/8/layout/vList5"/>
    <dgm:cxn modelId="{6952F9FD-CB47-4EC8-969B-F6F0CEC4F7B7}" type="presParOf" srcId="{FC409C32-ADB1-4F2D-A171-0F5DAFB33F83}" destId="{9B84B68A-1803-4C33-B547-A181FA3B99A2}" srcOrd="2" destOrd="0" presId="urn:microsoft.com/office/officeart/2005/8/layout/vList5"/>
    <dgm:cxn modelId="{54787D1B-4D61-42DC-B9B2-B4C0E93428A5}" type="presParOf" srcId="{9B84B68A-1803-4C33-B547-A181FA3B99A2}" destId="{9DC3048A-4655-4F11-A179-6B7BE5819F4E}" srcOrd="0" destOrd="0" presId="urn:microsoft.com/office/officeart/2005/8/layout/vList5"/>
    <dgm:cxn modelId="{B6AE7DAC-17A2-4CCB-8D0E-64DB8062F7F3}" type="presParOf" srcId="{FC409C32-ADB1-4F2D-A171-0F5DAFB33F83}" destId="{73A1CF2A-6915-4E0A-8819-39728DA95ED1}" srcOrd="3" destOrd="0" presId="urn:microsoft.com/office/officeart/2005/8/layout/vList5"/>
    <dgm:cxn modelId="{5D977A1D-7E61-45AA-A968-453B29C95B01}" type="presParOf" srcId="{FC409C32-ADB1-4F2D-A171-0F5DAFB33F83}" destId="{13ED1FA8-8D5B-4643-ADFC-62DDAFA8930B}" srcOrd="4" destOrd="0" presId="urn:microsoft.com/office/officeart/2005/8/layout/vList5"/>
    <dgm:cxn modelId="{B3890616-7145-4AC3-B728-27B1FD7A354E}" type="presParOf" srcId="{13ED1FA8-8D5B-4643-ADFC-62DDAFA8930B}" destId="{C7EBBBA2-3231-40E8-B9CB-7E20A32584D0}" srcOrd="0" destOrd="0" presId="urn:microsoft.com/office/officeart/2005/8/layout/vList5"/>
    <dgm:cxn modelId="{08D00CEA-9BF8-447D-8EE9-58D01B3C2D9E}" type="presParOf" srcId="{FC409C32-ADB1-4F2D-A171-0F5DAFB33F83}" destId="{BBC5D2C2-C361-4277-A955-45D8D7A07CBB}" srcOrd="5" destOrd="0" presId="urn:microsoft.com/office/officeart/2005/8/layout/vList5"/>
    <dgm:cxn modelId="{32C5C2C4-AE96-45FE-B880-37D6E81C3CC9}" type="presParOf" srcId="{FC409C32-ADB1-4F2D-A171-0F5DAFB33F83}" destId="{07B0A038-3F7E-44D0-984E-A66C5B4283B2}" srcOrd="6" destOrd="0" presId="urn:microsoft.com/office/officeart/2005/8/layout/vList5"/>
    <dgm:cxn modelId="{D9736FFC-2913-41D3-951C-763E69A74B24}" type="presParOf" srcId="{07B0A038-3F7E-44D0-984E-A66C5B4283B2}" destId="{AD96D5AA-FF19-408B-A782-F7A4EA3D2F3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20E580E-AD38-45ED-AE3F-A63B53ACBB6D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65BBF6E-E5FD-427D-BB05-BADFD56FFA1A}">
      <dgm:prSet/>
      <dgm:spPr/>
      <dgm:t>
        <a:bodyPr/>
        <a:lstStyle/>
        <a:p>
          <a:r>
            <a:rPr lang="en-US" b="1" dirty="0"/>
            <a:t>Interpretation:</a:t>
          </a:r>
          <a:endParaRPr lang="en-US" dirty="0"/>
        </a:p>
      </dgm:t>
    </dgm:pt>
    <dgm:pt modelId="{5B083D61-EC2A-4801-8D80-1CAC4151F8EF}" type="parTrans" cxnId="{50D2F1BB-880E-466D-907D-0350C75016C8}">
      <dgm:prSet/>
      <dgm:spPr/>
      <dgm:t>
        <a:bodyPr/>
        <a:lstStyle/>
        <a:p>
          <a:endParaRPr lang="en-US"/>
        </a:p>
      </dgm:t>
    </dgm:pt>
    <dgm:pt modelId="{2137F974-16C0-41AC-A81C-44B704FD839F}" type="sibTrans" cxnId="{50D2F1BB-880E-466D-907D-0350C75016C8}">
      <dgm:prSet/>
      <dgm:spPr/>
      <dgm:t>
        <a:bodyPr/>
        <a:lstStyle/>
        <a:p>
          <a:endParaRPr lang="en-US"/>
        </a:p>
      </dgm:t>
    </dgm:pt>
    <dgm:pt modelId="{EEF68080-3658-46C9-B5C8-38BA999E2E77}">
      <dgm:prSet/>
      <dgm:spPr/>
      <dgm:t>
        <a:bodyPr/>
        <a:lstStyle/>
        <a:p>
          <a:r>
            <a:rPr lang="en-US"/>
            <a:t>Lower discount bands drive </a:t>
          </a:r>
          <a:r>
            <a:rPr lang="en-US" b="1"/>
            <a:t>maximum sales volume</a:t>
          </a:r>
          <a:r>
            <a:rPr lang="en-US"/>
            <a:t>.</a:t>
          </a:r>
        </a:p>
      </dgm:t>
    </dgm:pt>
    <dgm:pt modelId="{03875822-7A8B-4978-B20B-A2AEE360746F}" type="parTrans" cxnId="{F81EB5A6-FE28-490C-8882-97EF66B1ED1E}">
      <dgm:prSet/>
      <dgm:spPr/>
      <dgm:t>
        <a:bodyPr/>
        <a:lstStyle/>
        <a:p>
          <a:endParaRPr lang="en-US"/>
        </a:p>
      </dgm:t>
    </dgm:pt>
    <dgm:pt modelId="{2026FD59-6714-47AC-B1AC-75A0103B54BB}" type="sibTrans" cxnId="{F81EB5A6-FE28-490C-8882-97EF66B1ED1E}">
      <dgm:prSet/>
      <dgm:spPr/>
      <dgm:t>
        <a:bodyPr/>
        <a:lstStyle/>
        <a:p>
          <a:endParaRPr lang="en-US"/>
        </a:p>
      </dgm:t>
    </dgm:pt>
    <dgm:pt modelId="{38F045C7-F124-4530-BBE1-A27DA4380984}">
      <dgm:prSet/>
      <dgm:spPr/>
      <dgm:t>
        <a:bodyPr/>
        <a:lstStyle/>
        <a:p>
          <a:r>
            <a:rPr lang="en-US"/>
            <a:t>High discounts reduce profitability.</a:t>
          </a:r>
        </a:p>
      </dgm:t>
    </dgm:pt>
    <dgm:pt modelId="{23AA20CA-DDBA-4AFF-9732-9EFC9FDC2570}" type="parTrans" cxnId="{6513DC1A-CE65-47EF-8189-439BFD86132C}">
      <dgm:prSet/>
      <dgm:spPr/>
      <dgm:t>
        <a:bodyPr/>
        <a:lstStyle/>
        <a:p>
          <a:endParaRPr lang="en-US"/>
        </a:p>
      </dgm:t>
    </dgm:pt>
    <dgm:pt modelId="{9DCFE7C8-A039-4F8F-AD52-653A7D5237A8}" type="sibTrans" cxnId="{6513DC1A-CE65-47EF-8189-439BFD86132C}">
      <dgm:prSet/>
      <dgm:spPr/>
      <dgm:t>
        <a:bodyPr/>
        <a:lstStyle/>
        <a:p>
          <a:endParaRPr lang="en-US"/>
        </a:p>
      </dgm:t>
    </dgm:pt>
    <dgm:pt modelId="{04C67050-DC71-4BF7-93D8-3AEB42C205BB}" type="pres">
      <dgm:prSet presAssocID="{020E580E-AD38-45ED-AE3F-A63B53ACBB6D}" presName="Name0" presStyleCnt="0">
        <dgm:presLayoutVars>
          <dgm:dir/>
          <dgm:animLvl val="lvl"/>
          <dgm:resizeHandles val="exact"/>
        </dgm:presLayoutVars>
      </dgm:prSet>
      <dgm:spPr/>
    </dgm:pt>
    <dgm:pt modelId="{A8BEC5B2-067E-441C-9B25-ABE4C5A76258}" type="pres">
      <dgm:prSet presAssocID="{A65BBF6E-E5FD-427D-BB05-BADFD56FFA1A}" presName="composite" presStyleCnt="0"/>
      <dgm:spPr/>
    </dgm:pt>
    <dgm:pt modelId="{F014A5CC-0FBE-440C-90C9-F9B8083BF0DE}" type="pres">
      <dgm:prSet presAssocID="{A65BBF6E-E5FD-427D-BB05-BADFD56FFA1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C86F13F-65CA-449A-9BF4-5B300D43DE85}" type="pres">
      <dgm:prSet presAssocID="{A65BBF6E-E5FD-427D-BB05-BADFD56FFA1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6513DC1A-CE65-47EF-8189-439BFD86132C}" srcId="{A65BBF6E-E5FD-427D-BB05-BADFD56FFA1A}" destId="{38F045C7-F124-4530-BBE1-A27DA4380984}" srcOrd="1" destOrd="0" parTransId="{23AA20CA-DDBA-4AFF-9732-9EFC9FDC2570}" sibTransId="{9DCFE7C8-A039-4F8F-AD52-653A7D5237A8}"/>
    <dgm:cxn modelId="{AB8C1033-9B0A-49B2-83DC-7E305D9A7CD4}" type="presOf" srcId="{A65BBF6E-E5FD-427D-BB05-BADFD56FFA1A}" destId="{F014A5CC-0FBE-440C-90C9-F9B8083BF0DE}" srcOrd="0" destOrd="0" presId="urn:microsoft.com/office/officeart/2005/8/layout/hList1"/>
    <dgm:cxn modelId="{080A2051-791E-4128-AF34-5EE1C469F09D}" type="presOf" srcId="{020E580E-AD38-45ED-AE3F-A63B53ACBB6D}" destId="{04C67050-DC71-4BF7-93D8-3AEB42C205BB}" srcOrd="0" destOrd="0" presId="urn:microsoft.com/office/officeart/2005/8/layout/hList1"/>
    <dgm:cxn modelId="{6854AB72-DDB9-4FB9-9EE1-F74B0CB12B55}" type="presOf" srcId="{EEF68080-3658-46C9-B5C8-38BA999E2E77}" destId="{5C86F13F-65CA-449A-9BF4-5B300D43DE85}" srcOrd="0" destOrd="0" presId="urn:microsoft.com/office/officeart/2005/8/layout/hList1"/>
    <dgm:cxn modelId="{87EFA79C-6FDA-4D52-A7D2-BA6F91A112E1}" type="presOf" srcId="{38F045C7-F124-4530-BBE1-A27DA4380984}" destId="{5C86F13F-65CA-449A-9BF4-5B300D43DE85}" srcOrd="0" destOrd="1" presId="urn:microsoft.com/office/officeart/2005/8/layout/hList1"/>
    <dgm:cxn modelId="{F81EB5A6-FE28-490C-8882-97EF66B1ED1E}" srcId="{A65BBF6E-E5FD-427D-BB05-BADFD56FFA1A}" destId="{EEF68080-3658-46C9-B5C8-38BA999E2E77}" srcOrd="0" destOrd="0" parTransId="{03875822-7A8B-4978-B20B-A2AEE360746F}" sibTransId="{2026FD59-6714-47AC-B1AC-75A0103B54BB}"/>
    <dgm:cxn modelId="{50D2F1BB-880E-466D-907D-0350C75016C8}" srcId="{020E580E-AD38-45ED-AE3F-A63B53ACBB6D}" destId="{A65BBF6E-E5FD-427D-BB05-BADFD56FFA1A}" srcOrd="0" destOrd="0" parTransId="{5B083D61-EC2A-4801-8D80-1CAC4151F8EF}" sibTransId="{2137F974-16C0-41AC-A81C-44B704FD839F}"/>
    <dgm:cxn modelId="{CE86C7E0-F83A-49D9-A217-FF59CBF3804B}" type="presParOf" srcId="{04C67050-DC71-4BF7-93D8-3AEB42C205BB}" destId="{A8BEC5B2-067E-441C-9B25-ABE4C5A76258}" srcOrd="0" destOrd="0" presId="urn:microsoft.com/office/officeart/2005/8/layout/hList1"/>
    <dgm:cxn modelId="{26290790-C446-4218-876A-9D11D940D287}" type="presParOf" srcId="{A8BEC5B2-067E-441C-9B25-ABE4C5A76258}" destId="{F014A5CC-0FBE-440C-90C9-F9B8083BF0DE}" srcOrd="0" destOrd="0" presId="urn:microsoft.com/office/officeart/2005/8/layout/hList1"/>
    <dgm:cxn modelId="{46EFFF59-114A-4A9E-81CE-715E97D2D202}" type="presParOf" srcId="{A8BEC5B2-067E-441C-9B25-ABE4C5A76258}" destId="{5C86F13F-65CA-449A-9BF4-5B300D43DE8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9861866-46F6-43D1-A3E5-7533D4237982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ADAB557-6477-48F5-87DB-76C8D533E30F}">
      <dgm:prSet/>
      <dgm:spPr/>
      <dgm:t>
        <a:bodyPr/>
        <a:lstStyle/>
        <a:p>
          <a:r>
            <a:rPr lang="en-US" b="1"/>
            <a:t>2013</a:t>
          </a:r>
          <a:endParaRPr lang="en-US"/>
        </a:p>
      </dgm:t>
    </dgm:pt>
    <dgm:pt modelId="{392CE6BD-CB3D-4DE8-A2F4-95A877ACF0A5}" type="parTrans" cxnId="{E04F5777-E641-471C-A9BD-7E26915935F7}">
      <dgm:prSet/>
      <dgm:spPr/>
      <dgm:t>
        <a:bodyPr/>
        <a:lstStyle/>
        <a:p>
          <a:endParaRPr lang="en-US"/>
        </a:p>
      </dgm:t>
    </dgm:pt>
    <dgm:pt modelId="{F2865BB1-1E97-45CC-B72A-DECF9B1B2D6A}" type="sibTrans" cxnId="{E04F5777-E641-471C-A9BD-7E26915935F7}">
      <dgm:prSet/>
      <dgm:spPr/>
      <dgm:t>
        <a:bodyPr/>
        <a:lstStyle/>
        <a:p>
          <a:endParaRPr lang="en-US"/>
        </a:p>
      </dgm:t>
    </dgm:pt>
    <dgm:pt modelId="{4641F4C3-5061-459E-B9CE-694D33A3142D}">
      <dgm:prSet/>
      <dgm:spPr/>
      <dgm:t>
        <a:bodyPr/>
        <a:lstStyle/>
        <a:p>
          <a:r>
            <a:rPr lang="en-US"/>
            <a:t>Stable sales around $4M–$8M per month</a:t>
          </a:r>
        </a:p>
      </dgm:t>
    </dgm:pt>
    <dgm:pt modelId="{4BD6F7AC-CFCD-4CCE-A963-C9C4C7E1304C}" type="parTrans" cxnId="{431FC9C8-E4EC-44A2-9BA9-54D486E11CDF}">
      <dgm:prSet/>
      <dgm:spPr/>
      <dgm:t>
        <a:bodyPr/>
        <a:lstStyle/>
        <a:p>
          <a:endParaRPr lang="en-US"/>
        </a:p>
      </dgm:t>
    </dgm:pt>
    <dgm:pt modelId="{7B2BB6B4-EEAE-4672-828A-423C257702ED}" type="sibTrans" cxnId="{431FC9C8-E4EC-44A2-9BA9-54D486E11CDF}">
      <dgm:prSet/>
      <dgm:spPr/>
      <dgm:t>
        <a:bodyPr/>
        <a:lstStyle/>
        <a:p>
          <a:endParaRPr lang="en-US"/>
        </a:p>
      </dgm:t>
    </dgm:pt>
    <dgm:pt modelId="{C84BA86C-565E-4A75-B266-4A90C644CD32}">
      <dgm:prSet/>
      <dgm:spPr/>
      <dgm:t>
        <a:bodyPr/>
        <a:lstStyle/>
        <a:p>
          <a:r>
            <a:rPr lang="en-US"/>
            <a:t>Slight drop in June</a:t>
          </a:r>
        </a:p>
      </dgm:t>
    </dgm:pt>
    <dgm:pt modelId="{8590CE02-C1B1-4642-89EE-9262128BF309}" type="parTrans" cxnId="{8331CE70-0371-4CB8-B2C5-1DB650E6E342}">
      <dgm:prSet/>
      <dgm:spPr/>
      <dgm:t>
        <a:bodyPr/>
        <a:lstStyle/>
        <a:p>
          <a:endParaRPr lang="en-US"/>
        </a:p>
      </dgm:t>
    </dgm:pt>
    <dgm:pt modelId="{F7BE74D1-9DC5-4892-9622-6B7967C9AEE6}" type="sibTrans" cxnId="{8331CE70-0371-4CB8-B2C5-1DB650E6E342}">
      <dgm:prSet/>
      <dgm:spPr/>
      <dgm:t>
        <a:bodyPr/>
        <a:lstStyle/>
        <a:p>
          <a:endParaRPr lang="en-US"/>
        </a:p>
      </dgm:t>
    </dgm:pt>
    <dgm:pt modelId="{A09AF874-9F55-4986-9972-846021346881}">
      <dgm:prSet/>
      <dgm:spPr/>
      <dgm:t>
        <a:bodyPr/>
        <a:lstStyle/>
        <a:p>
          <a:r>
            <a:rPr lang="en-US" dirty="0"/>
            <a:t>Peak in December</a:t>
          </a:r>
          <a:br>
            <a:rPr lang="en-US" dirty="0"/>
          </a:br>
          <a:br>
            <a:rPr lang="en-US" dirty="0"/>
          </a:br>
          <a:endParaRPr lang="en-US" dirty="0"/>
        </a:p>
      </dgm:t>
    </dgm:pt>
    <dgm:pt modelId="{B092C700-8D1D-46FC-B83B-0AFC5EE0CB36}" type="parTrans" cxnId="{74455A60-B5B1-4FCE-B02D-2D37D9B4E26C}">
      <dgm:prSet/>
      <dgm:spPr/>
      <dgm:t>
        <a:bodyPr/>
        <a:lstStyle/>
        <a:p>
          <a:endParaRPr lang="en-US"/>
        </a:p>
      </dgm:t>
    </dgm:pt>
    <dgm:pt modelId="{D469842C-2502-43E0-8DF4-E5F4290D8697}" type="sibTrans" cxnId="{74455A60-B5B1-4FCE-B02D-2D37D9B4E26C}">
      <dgm:prSet/>
      <dgm:spPr/>
      <dgm:t>
        <a:bodyPr/>
        <a:lstStyle/>
        <a:p>
          <a:endParaRPr lang="en-US"/>
        </a:p>
      </dgm:t>
    </dgm:pt>
    <dgm:pt modelId="{6E01FD9D-D257-49B4-998C-C6B1A6C90BA1}" type="pres">
      <dgm:prSet presAssocID="{69861866-46F6-43D1-A3E5-7533D4237982}" presName="Name0" presStyleCnt="0">
        <dgm:presLayoutVars>
          <dgm:dir/>
          <dgm:animLvl val="lvl"/>
          <dgm:resizeHandles val="exact"/>
        </dgm:presLayoutVars>
      </dgm:prSet>
      <dgm:spPr/>
    </dgm:pt>
    <dgm:pt modelId="{3BCA707C-A494-44AC-B73E-94B47A592F24}" type="pres">
      <dgm:prSet presAssocID="{FADAB557-6477-48F5-87DB-76C8D533E30F}" presName="linNode" presStyleCnt="0"/>
      <dgm:spPr/>
    </dgm:pt>
    <dgm:pt modelId="{B31DE728-6856-418C-AD4C-2760B6FAA73F}" type="pres">
      <dgm:prSet presAssocID="{FADAB557-6477-48F5-87DB-76C8D533E30F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23118603-9200-4CC8-AA4F-B2946FAAC95A}" type="pres">
      <dgm:prSet presAssocID="{FADAB557-6477-48F5-87DB-76C8D533E30F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4FA74E05-7373-40F3-8813-5B55E31F9642}" type="presOf" srcId="{69861866-46F6-43D1-A3E5-7533D4237982}" destId="{6E01FD9D-D257-49B4-998C-C6B1A6C90BA1}" srcOrd="0" destOrd="0" presId="urn:microsoft.com/office/officeart/2005/8/layout/vList5"/>
    <dgm:cxn modelId="{8B8C9E21-DADF-4145-B93B-E26A92C5C5BE}" type="presOf" srcId="{C84BA86C-565E-4A75-B266-4A90C644CD32}" destId="{23118603-9200-4CC8-AA4F-B2946FAAC95A}" srcOrd="0" destOrd="1" presId="urn:microsoft.com/office/officeart/2005/8/layout/vList5"/>
    <dgm:cxn modelId="{F43CFE27-E1F7-4C33-82B1-04AFB403625C}" type="presOf" srcId="{A09AF874-9F55-4986-9972-846021346881}" destId="{23118603-9200-4CC8-AA4F-B2946FAAC95A}" srcOrd="0" destOrd="2" presId="urn:microsoft.com/office/officeart/2005/8/layout/vList5"/>
    <dgm:cxn modelId="{48B1E02E-6064-4FB4-8393-151AA1A34077}" type="presOf" srcId="{4641F4C3-5061-459E-B9CE-694D33A3142D}" destId="{23118603-9200-4CC8-AA4F-B2946FAAC95A}" srcOrd="0" destOrd="0" presId="urn:microsoft.com/office/officeart/2005/8/layout/vList5"/>
    <dgm:cxn modelId="{74455A60-B5B1-4FCE-B02D-2D37D9B4E26C}" srcId="{FADAB557-6477-48F5-87DB-76C8D533E30F}" destId="{A09AF874-9F55-4986-9972-846021346881}" srcOrd="2" destOrd="0" parTransId="{B092C700-8D1D-46FC-B83B-0AFC5EE0CB36}" sibTransId="{D469842C-2502-43E0-8DF4-E5F4290D8697}"/>
    <dgm:cxn modelId="{98D15C4B-F579-4ED6-89E1-FCBA8F388DC6}" type="presOf" srcId="{FADAB557-6477-48F5-87DB-76C8D533E30F}" destId="{B31DE728-6856-418C-AD4C-2760B6FAA73F}" srcOrd="0" destOrd="0" presId="urn:microsoft.com/office/officeart/2005/8/layout/vList5"/>
    <dgm:cxn modelId="{8331CE70-0371-4CB8-B2C5-1DB650E6E342}" srcId="{FADAB557-6477-48F5-87DB-76C8D533E30F}" destId="{C84BA86C-565E-4A75-B266-4A90C644CD32}" srcOrd="1" destOrd="0" parTransId="{8590CE02-C1B1-4642-89EE-9262128BF309}" sibTransId="{F7BE74D1-9DC5-4892-9622-6B7967C9AEE6}"/>
    <dgm:cxn modelId="{E04F5777-E641-471C-A9BD-7E26915935F7}" srcId="{69861866-46F6-43D1-A3E5-7533D4237982}" destId="{FADAB557-6477-48F5-87DB-76C8D533E30F}" srcOrd="0" destOrd="0" parTransId="{392CE6BD-CB3D-4DE8-A2F4-95A877ACF0A5}" sibTransId="{F2865BB1-1E97-45CC-B72A-DECF9B1B2D6A}"/>
    <dgm:cxn modelId="{431FC9C8-E4EC-44A2-9BA9-54D486E11CDF}" srcId="{FADAB557-6477-48F5-87DB-76C8D533E30F}" destId="{4641F4C3-5061-459E-B9CE-694D33A3142D}" srcOrd="0" destOrd="0" parTransId="{4BD6F7AC-CFCD-4CCE-A963-C9C4C7E1304C}" sibTransId="{7B2BB6B4-EEAE-4672-828A-423C257702ED}"/>
    <dgm:cxn modelId="{34A8AFAF-FC91-4119-8CE3-6F72177946B5}" type="presParOf" srcId="{6E01FD9D-D257-49B4-998C-C6B1A6C90BA1}" destId="{3BCA707C-A494-44AC-B73E-94B47A592F24}" srcOrd="0" destOrd="0" presId="urn:microsoft.com/office/officeart/2005/8/layout/vList5"/>
    <dgm:cxn modelId="{DC6D967E-E269-409F-BB24-04841FE45FF3}" type="presParOf" srcId="{3BCA707C-A494-44AC-B73E-94B47A592F24}" destId="{B31DE728-6856-418C-AD4C-2760B6FAA73F}" srcOrd="0" destOrd="0" presId="urn:microsoft.com/office/officeart/2005/8/layout/vList5"/>
    <dgm:cxn modelId="{691C30D1-09BA-4C6D-AD5A-531BD6430CC0}" type="presParOf" srcId="{3BCA707C-A494-44AC-B73E-94B47A592F24}" destId="{23118603-9200-4CC8-AA4F-B2946FAAC95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4AEF0CC-93DE-40D8-82B4-26B04F7144A5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9A169D1-6245-49D5-9184-711B4521E518}">
      <dgm:prSet/>
      <dgm:spPr/>
      <dgm:t>
        <a:bodyPr/>
        <a:lstStyle/>
        <a:p>
          <a:r>
            <a:rPr lang="en-US" b="1"/>
            <a:t>2014</a:t>
          </a:r>
          <a:endParaRPr lang="en-US"/>
        </a:p>
      </dgm:t>
    </dgm:pt>
    <dgm:pt modelId="{E9ED9F62-646A-459D-94B4-9E1C82276837}" type="parTrans" cxnId="{265FC220-FACD-43B6-B2CD-AD68A69FEB10}">
      <dgm:prSet/>
      <dgm:spPr/>
      <dgm:t>
        <a:bodyPr/>
        <a:lstStyle/>
        <a:p>
          <a:endParaRPr lang="en-US"/>
        </a:p>
      </dgm:t>
    </dgm:pt>
    <dgm:pt modelId="{92918256-7FB2-471B-85D1-21444584B083}" type="sibTrans" cxnId="{265FC220-FACD-43B6-B2CD-AD68A69FEB10}">
      <dgm:prSet/>
      <dgm:spPr/>
      <dgm:t>
        <a:bodyPr/>
        <a:lstStyle/>
        <a:p>
          <a:endParaRPr lang="en-US"/>
        </a:p>
      </dgm:t>
    </dgm:pt>
    <dgm:pt modelId="{8D0E1652-56B2-4D5C-A83C-ADECDFA06D98}">
      <dgm:prSet/>
      <dgm:spPr/>
      <dgm:t>
        <a:bodyPr/>
        <a:lstStyle/>
        <a:p>
          <a:r>
            <a:rPr lang="en-US" dirty="0"/>
            <a:t>Higher volatility</a:t>
          </a:r>
        </a:p>
      </dgm:t>
    </dgm:pt>
    <dgm:pt modelId="{5CCA0BB2-C357-4D3F-9994-3E63A589FAAC}" type="parTrans" cxnId="{772E2ADF-5253-4452-9A75-F9438F8F3096}">
      <dgm:prSet/>
      <dgm:spPr/>
      <dgm:t>
        <a:bodyPr/>
        <a:lstStyle/>
        <a:p>
          <a:endParaRPr lang="en-US"/>
        </a:p>
      </dgm:t>
    </dgm:pt>
    <dgm:pt modelId="{1AA7E835-AA0F-4E33-84F3-3650A77FF94A}" type="sibTrans" cxnId="{772E2ADF-5253-4452-9A75-F9438F8F3096}">
      <dgm:prSet/>
      <dgm:spPr/>
      <dgm:t>
        <a:bodyPr/>
        <a:lstStyle/>
        <a:p>
          <a:endParaRPr lang="en-US"/>
        </a:p>
      </dgm:t>
    </dgm:pt>
    <dgm:pt modelId="{BAA54BA5-DA74-40EA-ABE5-22D4F9090DD2}">
      <dgm:prSet/>
      <dgm:spPr/>
      <dgm:t>
        <a:bodyPr/>
        <a:lstStyle/>
        <a:p>
          <a:r>
            <a:rPr lang="en-US"/>
            <a:t>Massive peak in </a:t>
          </a:r>
          <a:r>
            <a:rPr lang="en-US" b="1"/>
            <a:t>October (Top performing month)</a:t>
          </a:r>
          <a:endParaRPr lang="en-US"/>
        </a:p>
      </dgm:t>
    </dgm:pt>
    <dgm:pt modelId="{CBD0F0C8-2AA7-4E75-AE66-5FA5C745A9AD}" type="parTrans" cxnId="{1B23739C-F99F-4381-818D-AC08D323CFF2}">
      <dgm:prSet/>
      <dgm:spPr/>
      <dgm:t>
        <a:bodyPr/>
        <a:lstStyle/>
        <a:p>
          <a:endParaRPr lang="en-US"/>
        </a:p>
      </dgm:t>
    </dgm:pt>
    <dgm:pt modelId="{27E7BFF2-1423-487C-8F2D-FAF6DEA68D0A}" type="sibTrans" cxnId="{1B23739C-F99F-4381-818D-AC08D323CFF2}">
      <dgm:prSet/>
      <dgm:spPr/>
      <dgm:t>
        <a:bodyPr/>
        <a:lstStyle/>
        <a:p>
          <a:endParaRPr lang="en-US"/>
        </a:p>
      </dgm:t>
    </dgm:pt>
    <dgm:pt modelId="{E99F0334-5F1C-4315-B5F0-2ED00D4CD0C8}">
      <dgm:prSet/>
      <dgm:spPr/>
      <dgm:t>
        <a:bodyPr/>
        <a:lstStyle/>
        <a:p>
          <a:r>
            <a:rPr lang="en-US" dirty="0"/>
            <a:t>Decline in Nov–Dec.</a:t>
          </a:r>
        </a:p>
      </dgm:t>
    </dgm:pt>
    <dgm:pt modelId="{4243A030-EEBA-45E2-8371-F51836F0D53B}" type="parTrans" cxnId="{50DAC4B5-66A8-4849-BFF5-AD6FA23D61B5}">
      <dgm:prSet/>
      <dgm:spPr/>
      <dgm:t>
        <a:bodyPr/>
        <a:lstStyle/>
        <a:p>
          <a:endParaRPr lang="en-US"/>
        </a:p>
      </dgm:t>
    </dgm:pt>
    <dgm:pt modelId="{92A0F157-A185-45CC-A1C8-9373EDE4B68A}" type="sibTrans" cxnId="{50DAC4B5-66A8-4849-BFF5-AD6FA23D61B5}">
      <dgm:prSet/>
      <dgm:spPr/>
      <dgm:t>
        <a:bodyPr/>
        <a:lstStyle/>
        <a:p>
          <a:endParaRPr lang="en-US"/>
        </a:p>
      </dgm:t>
    </dgm:pt>
    <dgm:pt modelId="{9F39E932-6C68-4790-948C-75056B0C7D15}" type="pres">
      <dgm:prSet presAssocID="{C4AEF0CC-93DE-40D8-82B4-26B04F7144A5}" presName="Name0" presStyleCnt="0">
        <dgm:presLayoutVars>
          <dgm:dir/>
          <dgm:animLvl val="lvl"/>
          <dgm:resizeHandles val="exact"/>
        </dgm:presLayoutVars>
      </dgm:prSet>
      <dgm:spPr/>
    </dgm:pt>
    <dgm:pt modelId="{F046F77E-5677-4D8B-B780-2F6357650271}" type="pres">
      <dgm:prSet presAssocID="{D9A169D1-6245-49D5-9184-711B4521E518}" presName="linNode" presStyleCnt="0"/>
      <dgm:spPr/>
    </dgm:pt>
    <dgm:pt modelId="{BAE6ABC7-12B9-4707-BFBF-F3C8BCC1934B}" type="pres">
      <dgm:prSet presAssocID="{D9A169D1-6245-49D5-9184-711B4521E518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7A70E06D-2ED9-4CC9-8788-C988FACD10B4}" type="pres">
      <dgm:prSet presAssocID="{D9A169D1-6245-49D5-9184-711B4521E518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5A0B0217-EA85-47C7-9672-CC95B341DB9D}" type="presOf" srcId="{D9A169D1-6245-49D5-9184-711B4521E518}" destId="{BAE6ABC7-12B9-4707-BFBF-F3C8BCC1934B}" srcOrd="0" destOrd="0" presId="urn:microsoft.com/office/officeart/2005/8/layout/vList5"/>
    <dgm:cxn modelId="{265FC220-FACD-43B6-B2CD-AD68A69FEB10}" srcId="{C4AEF0CC-93DE-40D8-82B4-26B04F7144A5}" destId="{D9A169D1-6245-49D5-9184-711B4521E518}" srcOrd="0" destOrd="0" parTransId="{E9ED9F62-646A-459D-94B4-9E1C82276837}" sibTransId="{92918256-7FB2-471B-85D1-21444584B083}"/>
    <dgm:cxn modelId="{1B23739C-F99F-4381-818D-AC08D323CFF2}" srcId="{D9A169D1-6245-49D5-9184-711B4521E518}" destId="{BAA54BA5-DA74-40EA-ABE5-22D4F9090DD2}" srcOrd="1" destOrd="0" parTransId="{CBD0F0C8-2AA7-4E75-AE66-5FA5C745A9AD}" sibTransId="{27E7BFF2-1423-487C-8F2D-FAF6DEA68D0A}"/>
    <dgm:cxn modelId="{DB7B33AB-56E4-45E3-BFF2-A0DB33455D81}" type="presOf" srcId="{BAA54BA5-DA74-40EA-ABE5-22D4F9090DD2}" destId="{7A70E06D-2ED9-4CC9-8788-C988FACD10B4}" srcOrd="0" destOrd="1" presId="urn:microsoft.com/office/officeart/2005/8/layout/vList5"/>
    <dgm:cxn modelId="{42FB63AC-383A-4BD5-B3CE-412FBF03FA84}" type="presOf" srcId="{C4AEF0CC-93DE-40D8-82B4-26B04F7144A5}" destId="{9F39E932-6C68-4790-948C-75056B0C7D15}" srcOrd="0" destOrd="0" presId="urn:microsoft.com/office/officeart/2005/8/layout/vList5"/>
    <dgm:cxn modelId="{50DAC4B5-66A8-4849-BFF5-AD6FA23D61B5}" srcId="{D9A169D1-6245-49D5-9184-711B4521E518}" destId="{E99F0334-5F1C-4315-B5F0-2ED00D4CD0C8}" srcOrd="2" destOrd="0" parTransId="{4243A030-EEBA-45E2-8371-F51836F0D53B}" sibTransId="{92A0F157-A185-45CC-A1C8-9373EDE4B68A}"/>
    <dgm:cxn modelId="{772E2ADF-5253-4452-9A75-F9438F8F3096}" srcId="{D9A169D1-6245-49D5-9184-711B4521E518}" destId="{8D0E1652-56B2-4D5C-A83C-ADECDFA06D98}" srcOrd="0" destOrd="0" parTransId="{5CCA0BB2-C357-4D3F-9994-3E63A589FAAC}" sibTransId="{1AA7E835-AA0F-4E33-84F3-3650A77FF94A}"/>
    <dgm:cxn modelId="{CF0EDFF7-8A02-4B00-A9FA-080F3528AF06}" type="presOf" srcId="{E99F0334-5F1C-4315-B5F0-2ED00D4CD0C8}" destId="{7A70E06D-2ED9-4CC9-8788-C988FACD10B4}" srcOrd="0" destOrd="2" presId="urn:microsoft.com/office/officeart/2005/8/layout/vList5"/>
    <dgm:cxn modelId="{2508FEF7-B602-418E-A5F6-69E19FCE26DB}" type="presOf" srcId="{8D0E1652-56B2-4D5C-A83C-ADECDFA06D98}" destId="{7A70E06D-2ED9-4CC9-8788-C988FACD10B4}" srcOrd="0" destOrd="0" presId="urn:microsoft.com/office/officeart/2005/8/layout/vList5"/>
    <dgm:cxn modelId="{4C40A443-916F-4713-9761-CC2678490910}" type="presParOf" srcId="{9F39E932-6C68-4790-948C-75056B0C7D15}" destId="{F046F77E-5677-4D8B-B780-2F6357650271}" srcOrd="0" destOrd="0" presId="urn:microsoft.com/office/officeart/2005/8/layout/vList5"/>
    <dgm:cxn modelId="{41B9556F-9417-4C07-A525-CE4FE815CDC9}" type="presParOf" srcId="{F046F77E-5677-4D8B-B780-2F6357650271}" destId="{BAE6ABC7-12B9-4707-BFBF-F3C8BCC1934B}" srcOrd="0" destOrd="0" presId="urn:microsoft.com/office/officeart/2005/8/layout/vList5"/>
    <dgm:cxn modelId="{49790F2A-A35C-4E77-81C1-3645DD4837F2}" type="presParOf" srcId="{F046F77E-5677-4D8B-B780-2F6357650271}" destId="{7A70E06D-2ED9-4CC9-8788-C988FACD10B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20E580E-AD38-45ED-AE3F-A63B53ACBB6D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65BBF6E-E5FD-427D-BB05-BADFD56FFA1A}">
      <dgm:prSet/>
      <dgm:spPr/>
      <dgm:t>
        <a:bodyPr/>
        <a:lstStyle/>
        <a:p>
          <a:r>
            <a:rPr lang="en-US" b="1"/>
            <a:t>Interpretation:</a:t>
          </a:r>
          <a:endParaRPr lang="en-US"/>
        </a:p>
      </dgm:t>
    </dgm:pt>
    <dgm:pt modelId="{5B083D61-EC2A-4801-8D80-1CAC4151F8EF}" type="parTrans" cxnId="{50D2F1BB-880E-466D-907D-0350C75016C8}">
      <dgm:prSet/>
      <dgm:spPr/>
      <dgm:t>
        <a:bodyPr/>
        <a:lstStyle/>
        <a:p>
          <a:endParaRPr lang="en-US"/>
        </a:p>
      </dgm:t>
    </dgm:pt>
    <dgm:pt modelId="{2137F974-16C0-41AC-A81C-44B704FD839F}" type="sibTrans" cxnId="{50D2F1BB-880E-466D-907D-0350C75016C8}">
      <dgm:prSet/>
      <dgm:spPr/>
      <dgm:t>
        <a:bodyPr/>
        <a:lstStyle/>
        <a:p>
          <a:endParaRPr lang="en-US"/>
        </a:p>
      </dgm:t>
    </dgm:pt>
    <dgm:pt modelId="{EEF68080-3658-46C9-B5C8-38BA999E2E77}">
      <dgm:prSet/>
      <dgm:spPr/>
      <dgm:t>
        <a:bodyPr/>
        <a:lstStyle/>
        <a:p>
          <a:r>
            <a:rPr lang="en-US" dirty="0"/>
            <a:t>Sales exhibit clear </a:t>
          </a:r>
          <a:r>
            <a:rPr lang="en-US" b="1" dirty="0"/>
            <a:t>Q4 seasonality</a:t>
          </a:r>
          <a:r>
            <a:rPr lang="en-US" dirty="0"/>
            <a:t>, especially in 2014.</a:t>
          </a:r>
        </a:p>
      </dgm:t>
    </dgm:pt>
    <dgm:pt modelId="{03875822-7A8B-4978-B20B-A2AEE360746F}" type="parTrans" cxnId="{F81EB5A6-FE28-490C-8882-97EF66B1ED1E}">
      <dgm:prSet/>
      <dgm:spPr/>
      <dgm:t>
        <a:bodyPr/>
        <a:lstStyle/>
        <a:p>
          <a:endParaRPr lang="en-US"/>
        </a:p>
      </dgm:t>
    </dgm:pt>
    <dgm:pt modelId="{2026FD59-6714-47AC-B1AC-75A0103B54BB}" type="sibTrans" cxnId="{F81EB5A6-FE28-490C-8882-97EF66B1ED1E}">
      <dgm:prSet/>
      <dgm:spPr/>
      <dgm:t>
        <a:bodyPr/>
        <a:lstStyle/>
        <a:p>
          <a:endParaRPr lang="en-US"/>
        </a:p>
      </dgm:t>
    </dgm:pt>
    <dgm:pt modelId="{04C67050-DC71-4BF7-93D8-3AEB42C205BB}" type="pres">
      <dgm:prSet presAssocID="{020E580E-AD38-45ED-AE3F-A63B53ACBB6D}" presName="Name0" presStyleCnt="0">
        <dgm:presLayoutVars>
          <dgm:dir/>
          <dgm:animLvl val="lvl"/>
          <dgm:resizeHandles val="exact"/>
        </dgm:presLayoutVars>
      </dgm:prSet>
      <dgm:spPr/>
    </dgm:pt>
    <dgm:pt modelId="{A8BEC5B2-067E-441C-9B25-ABE4C5A76258}" type="pres">
      <dgm:prSet presAssocID="{A65BBF6E-E5FD-427D-BB05-BADFD56FFA1A}" presName="composite" presStyleCnt="0"/>
      <dgm:spPr/>
    </dgm:pt>
    <dgm:pt modelId="{F014A5CC-0FBE-440C-90C9-F9B8083BF0DE}" type="pres">
      <dgm:prSet presAssocID="{A65BBF6E-E5FD-427D-BB05-BADFD56FFA1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C86F13F-65CA-449A-9BF4-5B300D43DE85}" type="pres">
      <dgm:prSet presAssocID="{A65BBF6E-E5FD-427D-BB05-BADFD56FFA1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B8C1033-9B0A-49B2-83DC-7E305D9A7CD4}" type="presOf" srcId="{A65BBF6E-E5FD-427D-BB05-BADFD56FFA1A}" destId="{F014A5CC-0FBE-440C-90C9-F9B8083BF0DE}" srcOrd="0" destOrd="0" presId="urn:microsoft.com/office/officeart/2005/8/layout/hList1"/>
    <dgm:cxn modelId="{080A2051-791E-4128-AF34-5EE1C469F09D}" type="presOf" srcId="{020E580E-AD38-45ED-AE3F-A63B53ACBB6D}" destId="{04C67050-DC71-4BF7-93D8-3AEB42C205BB}" srcOrd="0" destOrd="0" presId="urn:microsoft.com/office/officeart/2005/8/layout/hList1"/>
    <dgm:cxn modelId="{6854AB72-DDB9-4FB9-9EE1-F74B0CB12B55}" type="presOf" srcId="{EEF68080-3658-46C9-B5C8-38BA999E2E77}" destId="{5C86F13F-65CA-449A-9BF4-5B300D43DE85}" srcOrd="0" destOrd="0" presId="urn:microsoft.com/office/officeart/2005/8/layout/hList1"/>
    <dgm:cxn modelId="{F81EB5A6-FE28-490C-8882-97EF66B1ED1E}" srcId="{A65BBF6E-E5FD-427D-BB05-BADFD56FFA1A}" destId="{EEF68080-3658-46C9-B5C8-38BA999E2E77}" srcOrd="0" destOrd="0" parTransId="{03875822-7A8B-4978-B20B-A2AEE360746F}" sibTransId="{2026FD59-6714-47AC-B1AC-75A0103B54BB}"/>
    <dgm:cxn modelId="{50D2F1BB-880E-466D-907D-0350C75016C8}" srcId="{020E580E-AD38-45ED-AE3F-A63B53ACBB6D}" destId="{A65BBF6E-E5FD-427D-BB05-BADFD56FFA1A}" srcOrd="0" destOrd="0" parTransId="{5B083D61-EC2A-4801-8D80-1CAC4151F8EF}" sibTransId="{2137F974-16C0-41AC-A81C-44B704FD839F}"/>
    <dgm:cxn modelId="{CE86C7E0-F83A-49D9-A217-FF59CBF3804B}" type="presParOf" srcId="{04C67050-DC71-4BF7-93D8-3AEB42C205BB}" destId="{A8BEC5B2-067E-441C-9B25-ABE4C5A76258}" srcOrd="0" destOrd="0" presId="urn:microsoft.com/office/officeart/2005/8/layout/hList1"/>
    <dgm:cxn modelId="{26290790-C446-4218-876A-9D11D940D287}" type="presParOf" srcId="{A8BEC5B2-067E-441C-9B25-ABE4C5A76258}" destId="{F014A5CC-0FBE-440C-90C9-F9B8083BF0DE}" srcOrd="0" destOrd="0" presId="urn:microsoft.com/office/officeart/2005/8/layout/hList1"/>
    <dgm:cxn modelId="{46EFFF59-114A-4A9E-81CE-715E97D2D202}" type="presParOf" srcId="{A8BEC5B2-067E-441C-9B25-ABE4C5A76258}" destId="{5C86F13F-65CA-449A-9BF4-5B300D43DE8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20E580E-AD38-45ED-AE3F-A63B53ACBB6D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65BBF6E-E5FD-427D-BB05-BADFD56FFA1A}">
      <dgm:prSet/>
      <dgm:spPr/>
      <dgm:t>
        <a:bodyPr/>
        <a:lstStyle/>
        <a:p>
          <a:r>
            <a:rPr lang="en-US" b="1"/>
            <a:t>Interpretation:</a:t>
          </a:r>
          <a:endParaRPr lang="en-US"/>
        </a:p>
      </dgm:t>
    </dgm:pt>
    <dgm:pt modelId="{5B083D61-EC2A-4801-8D80-1CAC4151F8EF}" type="parTrans" cxnId="{50D2F1BB-880E-466D-907D-0350C75016C8}">
      <dgm:prSet/>
      <dgm:spPr/>
      <dgm:t>
        <a:bodyPr/>
        <a:lstStyle/>
        <a:p>
          <a:endParaRPr lang="en-US"/>
        </a:p>
      </dgm:t>
    </dgm:pt>
    <dgm:pt modelId="{2137F974-16C0-41AC-A81C-44B704FD839F}" type="sibTrans" cxnId="{50D2F1BB-880E-466D-907D-0350C75016C8}">
      <dgm:prSet/>
      <dgm:spPr/>
      <dgm:t>
        <a:bodyPr/>
        <a:lstStyle/>
        <a:p>
          <a:endParaRPr lang="en-US"/>
        </a:p>
      </dgm:t>
    </dgm:pt>
    <dgm:pt modelId="{EEF68080-3658-46C9-B5C8-38BA999E2E77}">
      <dgm:prSet/>
      <dgm:spPr/>
      <dgm:t>
        <a:bodyPr/>
        <a:lstStyle/>
        <a:p>
          <a:r>
            <a:rPr lang="en-US" dirty="0"/>
            <a:t>Sales exhibit clear </a:t>
          </a:r>
          <a:r>
            <a:rPr lang="en-US" b="1" dirty="0"/>
            <a:t>Q4 seasonality</a:t>
          </a:r>
          <a:r>
            <a:rPr lang="en-US" dirty="0"/>
            <a:t>, especially in 2014.</a:t>
          </a:r>
        </a:p>
      </dgm:t>
    </dgm:pt>
    <dgm:pt modelId="{03875822-7A8B-4978-B20B-A2AEE360746F}" type="parTrans" cxnId="{F81EB5A6-FE28-490C-8882-97EF66B1ED1E}">
      <dgm:prSet/>
      <dgm:spPr/>
      <dgm:t>
        <a:bodyPr/>
        <a:lstStyle/>
        <a:p>
          <a:endParaRPr lang="en-US"/>
        </a:p>
      </dgm:t>
    </dgm:pt>
    <dgm:pt modelId="{2026FD59-6714-47AC-B1AC-75A0103B54BB}" type="sibTrans" cxnId="{F81EB5A6-FE28-490C-8882-97EF66B1ED1E}">
      <dgm:prSet/>
      <dgm:spPr/>
      <dgm:t>
        <a:bodyPr/>
        <a:lstStyle/>
        <a:p>
          <a:endParaRPr lang="en-US"/>
        </a:p>
      </dgm:t>
    </dgm:pt>
    <dgm:pt modelId="{04C67050-DC71-4BF7-93D8-3AEB42C205BB}" type="pres">
      <dgm:prSet presAssocID="{020E580E-AD38-45ED-AE3F-A63B53ACBB6D}" presName="Name0" presStyleCnt="0">
        <dgm:presLayoutVars>
          <dgm:dir/>
          <dgm:animLvl val="lvl"/>
          <dgm:resizeHandles val="exact"/>
        </dgm:presLayoutVars>
      </dgm:prSet>
      <dgm:spPr/>
    </dgm:pt>
    <dgm:pt modelId="{A8BEC5B2-067E-441C-9B25-ABE4C5A76258}" type="pres">
      <dgm:prSet presAssocID="{A65BBF6E-E5FD-427D-BB05-BADFD56FFA1A}" presName="composite" presStyleCnt="0"/>
      <dgm:spPr/>
    </dgm:pt>
    <dgm:pt modelId="{F014A5CC-0FBE-440C-90C9-F9B8083BF0DE}" type="pres">
      <dgm:prSet presAssocID="{A65BBF6E-E5FD-427D-BB05-BADFD56FFA1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C86F13F-65CA-449A-9BF4-5B300D43DE85}" type="pres">
      <dgm:prSet presAssocID="{A65BBF6E-E5FD-427D-BB05-BADFD56FFA1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B8C1033-9B0A-49B2-83DC-7E305D9A7CD4}" type="presOf" srcId="{A65BBF6E-E5FD-427D-BB05-BADFD56FFA1A}" destId="{F014A5CC-0FBE-440C-90C9-F9B8083BF0DE}" srcOrd="0" destOrd="0" presId="urn:microsoft.com/office/officeart/2005/8/layout/hList1"/>
    <dgm:cxn modelId="{080A2051-791E-4128-AF34-5EE1C469F09D}" type="presOf" srcId="{020E580E-AD38-45ED-AE3F-A63B53ACBB6D}" destId="{04C67050-DC71-4BF7-93D8-3AEB42C205BB}" srcOrd="0" destOrd="0" presId="urn:microsoft.com/office/officeart/2005/8/layout/hList1"/>
    <dgm:cxn modelId="{6854AB72-DDB9-4FB9-9EE1-F74B0CB12B55}" type="presOf" srcId="{EEF68080-3658-46C9-B5C8-38BA999E2E77}" destId="{5C86F13F-65CA-449A-9BF4-5B300D43DE85}" srcOrd="0" destOrd="0" presId="urn:microsoft.com/office/officeart/2005/8/layout/hList1"/>
    <dgm:cxn modelId="{F81EB5A6-FE28-490C-8882-97EF66B1ED1E}" srcId="{A65BBF6E-E5FD-427D-BB05-BADFD56FFA1A}" destId="{EEF68080-3658-46C9-B5C8-38BA999E2E77}" srcOrd="0" destOrd="0" parTransId="{03875822-7A8B-4978-B20B-A2AEE360746F}" sibTransId="{2026FD59-6714-47AC-B1AC-75A0103B54BB}"/>
    <dgm:cxn modelId="{50D2F1BB-880E-466D-907D-0350C75016C8}" srcId="{020E580E-AD38-45ED-AE3F-A63B53ACBB6D}" destId="{A65BBF6E-E5FD-427D-BB05-BADFD56FFA1A}" srcOrd="0" destOrd="0" parTransId="{5B083D61-EC2A-4801-8D80-1CAC4151F8EF}" sibTransId="{2137F974-16C0-41AC-A81C-44B704FD839F}"/>
    <dgm:cxn modelId="{CE86C7E0-F83A-49D9-A217-FF59CBF3804B}" type="presParOf" srcId="{04C67050-DC71-4BF7-93D8-3AEB42C205BB}" destId="{A8BEC5B2-067E-441C-9B25-ABE4C5A76258}" srcOrd="0" destOrd="0" presId="urn:microsoft.com/office/officeart/2005/8/layout/hList1"/>
    <dgm:cxn modelId="{26290790-C446-4218-876A-9D11D940D287}" type="presParOf" srcId="{A8BEC5B2-067E-441C-9B25-ABE4C5A76258}" destId="{F014A5CC-0FBE-440C-90C9-F9B8083BF0DE}" srcOrd="0" destOrd="0" presId="urn:microsoft.com/office/officeart/2005/8/layout/hList1"/>
    <dgm:cxn modelId="{46EFFF59-114A-4A9E-81CE-715E97D2D202}" type="presParOf" srcId="{A8BEC5B2-067E-441C-9B25-ABE4C5A76258}" destId="{5C86F13F-65CA-449A-9BF4-5B300D43DE8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98CF568-72AC-449B-A36B-3CB47B66D6E4}" type="doc">
      <dgm:prSet loTypeId="urn:microsoft.com/office/officeart/2005/8/layout/hierarchy4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E6BC25E5-84EB-48F1-8F90-57EC42D90866}">
      <dgm:prSet/>
      <dgm:spPr/>
      <dgm:t>
        <a:bodyPr/>
        <a:lstStyle/>
        <a:p>
          <a:pPr>
            <a:buNone/>
          </a:pPr>
          <a:r>
            <a:rPr lang="en-US" b="1" dirty="0">
              <a:solidFill>
                <a:srgbClr val="B95CDE"/>
              </a:solidFill>
            </a:rPr>
            <a:t>Paseo  $3.30M</a:t>
          </a:r>
        </a:p>
      </dgm:t>
    </dgm:pt>
    <dgm:pt modelId="{15627C2E-80E7-4322-8F75-99CA7057C8D0}" type="parTrans" cxnId="{5D4FBC54-83DA-478C-BB96-0B0E74729CA1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DC53BC9E-DB86-41DB-8A4B-B152A61F9EEA}" type="sibTrans" cxnId="{5D4FBC54-83DA-478C-BB96-0B0E74729CA1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C084067F-A5CF-4263-A509-11E685F19AFA}">
      <dgm:prSet/>
      <dgm:spPr/>
      <dgm:t>
        <a:bodyPr/>
        <a:lstStyle/>
        <a:p>
          <a:pPr>
            <a:buNone/>
          </a:pPr>
          <a:r>
            <a:rPr lang="en-US" b="1" dirty="0">
              <a:solidFill>
                <a:srgbClr val="B95CDE"/>
              </a:solidFill>
            </a:rPr>
            <a:t>VTT $2.05M</a:t>
          </a:r>
        </a:p>
      </dgm:t>
    </dgm:pt>
    <dgm:pt modelId="{8F3A1C6C-3DDE-465E-8BE3-1F6F971053F1}" type="parTrans" cxnId="{BD68C935-CC17-4B45-AB6E-FCA50031B7A2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D1704ED9-6951-4AD9-9C3B-1D9D7E7242EA}" type="sibTrans" cxnId="{BD68C935-CC17-4B45-AB6E-FCA50031B7A2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18627499-C5F7-4B5B-B79F-8ABA8F6DD0C7}">
      <dgm:prSet/>
      <dgm:spPr/>
      <dgm:t>
        <a:bodyPr/>
        <a:lstStyle/>
        <a:p>
          <a:pPr>
            <a:buNone/>
          </a:pPr>
          <a:r>
            <a:rPr lang="en-US" b="1" dirty="0">
              <a:solidFill>
                <a:srgbClr val="B95CDE"/>
              </a:solidFill>
            </a:rPr>
            <a:t>Velo $1.83M</a:t>
          </a:r>
        </a:p>
      </dgm:t>
    </dgm:pt>
    <dgm:pt modelId="{C45BE461-2B15-44A5-9574-CCD81A72E7DB}" type="parTrans" cxnId="{9B6A90FF-D008-4498-909A-5C9F1E8E2897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963C1254-5B4A-44BA-82D2-DA02BC8354CD}" type="sibTrans" cxnId="{9B6A90FF-D008-4498-909A-5C9F1E8E2897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863AE9B5-359F-4C7F-A7B9-A1EC0B0C3E3A}">
      <dgm:prSet/>
      <dgm:spPr/>
      <dgm:t>
        <a:bodyPr/>
        <a:lstStyle/>
        <a:p>
          <a:pPr>
            <a:buNone/>
          </a:pPr>
          <a:r>
            <a:rPr lang="en-US" b="1" dirty="0">
              <a:solidFill>
                <a:srgbClr val="B95CDE"/>
              </a:solidFill>
            </a:rPr>
            <a:t>Amarilla</a:t>
          </a:r>
        </a:p>
        <a:p>
          <a:pPr>
            <a:buNone/>
          </a:pPr>
          <a:r>
            <a:rPr lang="en-US" b="1" dirty="0">
              <a:solidFill>
                <a:srgbClr val="B95CDE"/>
              </a:solidFill>
            </a:rPr>
            <a:t>$1.77M</a:t>
          </a:r>
        </a:p>
      </dgm:t>
    </dgm:pt>
    <dgm:pt modelId="{F85248BF-ABFC-49E4-BF7C-F0C2075A44DC}" type="parTrans" cxnId="{9093A724-B133-491A-B32A-A317386D4C90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4907B688-D2CD-4CBA-9E54-6ADBD259B171}" type="sibTrans" cxnId="{9093A724-B133-491A-B32A-A317386D4C90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0A1CEB63-6BC4-47C8-B469-826B2D2F5A1D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b="1" dirty="0">
              <a:solidFill>
                <a:srgbClr val="B95CDE"/>
              </a:solidFill>
            </a:rPr>
            <a:t>Montana  $1.53M</a:t>
          </a:r>
        </a:p>
      </dgm:t>
    </dgm:pt>
    <dgm:pt modelId="{A44DA21B-27AB-43A7-B3D5-88EFCFCC16FB}" type="parTrans" cxnId="{51613345-71E4-412C-AB74-5A97D48B347C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C44CBB90-D20D-4339-B73C-6AF68337EAF4}" type="sibTrans" cxnId="{51613345-71E4-412C-AB74-5A97D48B347C}">
      <dgm:prSet/>
      <dgm:spPr/>
      <dgm:t>
        <a:bodyPr/>
        <a:lstStyle/>
        <a:p>
          <a:endParaRPr lang="en-US" b="1">
            <a:solidFill>
              <a:srgbClr val="B95CDE"/>
            </a:solidFill>
          </a:endParaRPr>
        </a:p>
      </dgm:t>
    </dgm:pt>
    <dgm:pt modelId="{F593F66F-9378-48F2-AEAE-F13BF9F4F121}" type="pres">
      <dgm:prSet presAssocID="{098CF568-72AC-449B-A36B-3CB47B66D6E4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4E3EE40-DABC-4BD4-A326-DFCFF8172B39}" type="pres">
      <dgm:prSet presAssocID="{E6BC25E5-84EB-48F1-8F90-57EC42D90866}" presName="vertOne" presStyleCnt="0"/>
      <dgm:spPr/>
    </dgm:pt>
    <dgm:pt modelId="{E95D9F66-F4DC-4AC8-9B06-B45F5B236E4D}" type="pres">
      <dgm:prSet presAssocID="{E6BC25E5-84EB-48F1-8F90-57EC42D90866}" presName="txOne" presStyleLbl="node0" presStyleIdx="0" presStyleCnt="5">
        <dgm:presLayoutVars>
          <dgm:chPref val="3"/>
        </dgm:presLayoutVars>
      </dgm:prSet>
      <dgm:spPr/>
    </dgm:pt>
    <dgm:pt modelId="{E4E1467B-845A-435E-9321-3204B07C2DAD}" type="pres">
      <dgm:prSet presAssocID="{E6BC25E5-84EB-48F1-8F90-57EC42D90866}" presName="horzOne" presStyleCnt="0"/>
      <dgm:spPr/>
    </dgm:pt>
    <dgm:pt modelId="{18C4FAE7-E218-493B-A86B-D9F2CF8325F9}" type="pres">
      <dgm:prSet presAssocID="{DC53BC9E-DB86-41DB-8A4B-B152A61F9EEA}" presName="sibSpaceOne" presStyleCnt="0"/>
      <dgm:spPr/>
    </dgm:pt>
    <dgm:pt modelId="{B187EB1E-7CCC-4464-9CAA-8CC1727765A8}" type="pres">
      <dgm:prSet presAssocID="{C084067F-A5CF-4263-A509-11E685F19AFA}" presName="vertOne" presStyleCnt="0"/>
      <dgm:spPr/>
    </dgm:pt>
    <dgm:pt modelId="{CC3B93CF-834D-4796-BCEC-995F75D7ACFA}" type="pres">
      <dgm:prSet presAssocID="{C084067F-A5CF-4263-A509-11E685F19AFA}" presName="txOne" presStyleLbl="node0" presStyleIdx="1" presStyleCnt="5">
        <dgm:presLayoutVars>
          <dgm:chPref val="3"/>
        </dgm:presLayoutVars>
      </dgm:prSet>
      <dgm:spPr/>
    </dgm:pt>
    <dgm:pt modelId="{AC19BB4F-0E7E-41B0-83AC-78BF5C3FCAE3}" type="pres">
      <dgm:prSet presAssocID="{C084067F-A5CF-4263-A509-11E685F19AFA}" presName="horzOne" presStyleCnt="0"/>
      <dgm:spPr/>
    </dgm:pt>
    <dgm:pt modelId="{B2F8238A-4E4A-4D91-B98E-CEC0D18014CB}" type="pres">
      <dgm:prSet presAssocID="{D1704ED9-6951-4AD9-9C3B-1D9D7E7242EA}" presName="sibSpaceOne" presStyleCnt="0"/>
      <dgm:spPr/>
    </dgm:pt>
    <dgm:pt modelId="{0DDAF38D-EF8E-4BF6-AE98-D52673AA2693}" type="pres">
      <dgm:prSet presAssocID="{18627499-C5F7-4B5B-B79F-8ABA8F6DD0C7}" presName="vertOne" presStyleCnt="0"/>
      <dgm:spPr/>
    </dgm:pt>
    <dgm:pt modelId="{8A4BBFFD-65D3-4282-B693-9BB09083B88B}" type="pres">
      <dgm:prSet presAssocID="{18627499-C5F7-4B5B-B79F-8ABA8F6DD0C7}" presName="txOne" presStyleLbl="node0" presStyleIdx="2" presStyleCnt="5">
        <dgm:presLayoutVars>
          <dgm:chPref val="3"/>
        </dgm:presLayoutVars>
      </dgm:prSet>
      <dgm:spPr/>
    </dgm:pt>
    <dgm:pt modelId="{D9E2ACB2-1DFE-4707-88D8-F96A747481C2}" type="pres">
      <dgm:prSet presAssocID="{18627499-C5F7-4B5B-B79F-8ABA8F6DD0C7}" presName="horzOne" presStyleCnt="0"/>
      <dgm:spPr/>
    </dgm:pt>
    <dgm:pt modelId="{CA7DCD27-4536-456B-AAD5-89106FF35721}" type="pres">
      <dgm:prSet presAssocID="{963C1254-5B4A-44BA-82D2-DA02BC8354CD}" presName="sibSpaceOne" presStyleCnt="0"/>
      <dgm:spPr/>
    </dgm:pt>
    <dgm:pt modelId="{EEF15CD6-3FB3-44BA-9BF9-2437BE549D47}" type="pres">
      <dgm:prSet presAssocID="{863AE9B5-359F-4C7F-A7B9-A1EC0B0C3E3A}" presName="vertOne" presStyleCnt="0"/>
      <dgm:spPr/>
    </dgm:pt>
    <dgm:pt modelId="{4D870EFE-9A96-4B9D-8A5F-D5152B1DCC28}" type="pres">
      <dgm:prSet presAssocID="{863AE9B5-359F-4C7F-A7B9-A1EC0B0C3E3A}" presName="txOne" presStyleLbl="node0" presStyleIdx="3" presStyleCnt="5">
        <dgm:presLayoutVars>
          <dgm:chPref val="3"/>
        </dgm:presLayoutVars>
      </dgm:prSet>
      <dgm:spPr/>
    </dgm:pt>
    <dgm:pt modelId="{D29149E4-4CA5-47B9-B05F-5ECA105B4287}" type="pres">
      <dgm:prSet presAssocID="{863AE9B5-359F-4C7F-A7B9-A1EC0B0C3E3A}" presName="horzOne" presStyleCnt="0"/>
      <dgm:spPr/>
    </dgm:pt>
    <dgm:pt modelId="{7CBEB7D5-000F-4635-B149-DCD28D623E50}" type="pres">
      <dgm:prSet presAssocID="{4907B688-D2CD-4CBA-9E54-6ADBD259B171}" presName="sibSpaceOne" presStyleCnt="0"/>
      <dgm:spPr/>
    </dgm:pt>
    <dgm:pt modelId="{4104EADD-4D4F-47BD-8007-C26055B05B9C}" type="pres">
      <dgm:prSet presAssocID="{0A1CEB63-6BC4-47C8-B469-826B2D2F5A1D}" presName="vertOne" presStyleCnt="0"/>
      <dgm:spPr/>
    </dgm:pt>
    <dgm:pt modelId="{30449864-5207-45F8-A4EA-61B0D632F142}" type="pres">
      <dgm:prSet presAssocID="{0A1CEB63-6BC4-47C8-B469-826B2D2F5A1D}" presName="txOne" presStyleLbl="node0" presStyleIdx="4" presStyleCnt="5">
        <dgm:presLayoutVars>
          <dgm:chPref val="3"/>
        </dgm:presLayoutVars>
      </dgm:prSet>
      <dgm:spPr/>
    </dgm:pt>
    <dgm:pt modelId="{BD98A145-3F6C-4D5C-BDDE-8B2B8B74887D}" type="pres">
      <dgm:prSet presAssocID="{0A1CEB63-6BC4-47C8-B469-826B2D2F5A1D}" presName="horzOne" presStyleCnt="0"/>
      <dgm:spPr/>
    </dgm:pt>
  </dgm:ptLst>
  <dgm:cxnLst>
    <dgm:cxn modelId="{295F3800-543A-4948-B751-3ACD63CB1A19}" type="presOf" srcId="{E6BC25E5-84EB-48F1-8F90-57EC42D90866}" destId="{E95D9F66-F4DC-4AC8-9B06-B45F5B236E4D}" srcOrd="0" destOrd="0" presId="urn:microsoft.com/office/officeart/2005/8/layout/hierarchy4"/>
    <dgm:cxn modelId="{49CA440C-0A3A-47D0-8D93-AA2B29BC2B4D}" type="presOf" srcId="{863AE9B5-359F-4C7F-A7B9-A1EC0B0C3E3A}" destId="{4D870EFE-9A96-4B9D-8A5F-D5152B1DCC28}" srcOrd="0" destOrd="0" presId="urn:microsoft.com/office/officeart/2005/8/layout/hierarchy4"/>
    <dgm:cxn modelId="{9093A724-B133-491A-B32A-A317386D4C90}" srcId="{098CF568-72AC-449B-A36B-3CB47B66D6E4}" destId="{863AE9B5-359F-4C7F-A7B9-A1EC0B0C3E3A}" srcOrd="3" destOrd="0" parTransId="{F85248BF-ABFC-49E4-BF7C-F0C2075A44DC}" sibTransId="{4907B688-D2CD-4CBA-9E54-6ADBD259B171}"/>
    <dgm:cxn modelId="{6CDEAC27-8165-4F45-AB15-0246C1B28029}" type="presOf" srcId="{18627499-C5F7-4B5B-B79F-8ABA8F6DD0C7}" destId="{8A4BBFFD-65D3-4282-B693-9BB09083B88B}" srcOrd="0" destOrd="0" presId="urn:microsoft.com/office/officeart/2005/8/layout/hierarchy4"/>
    <dgm:cxn modelId="{5810AB31-4286-4EB6-B82B-6042F0212499}" type="presOf" srcId="{0A1CEB63-6BC4-47C8-B469-826B2D2F5A1D}" destId="{30449864-5207-45F8-A4EA-61B0D632F142}" srcOrd="0" destOrd="0" presId="urn:microsoft.com/office/officeart/2005/8/layout/hierarchy4"/>
    <dgm:cxn modelId="{BD68C935-CC17-4B45-AB6E-FCA50031B7A2}" srcId="{098CF568-72AC-449B-A36B-3CB47B66D6E4}" destId="{C084067F-A5CF-4263-A509-11E685F19AFA}" srcOrd="1" destOrd="0" parTransId="{8F3A1C6C-3DDE-465E-8BE3-1F6F971053F1}" sibTransId="{D1704ED9-6951-4AD9-9C3B-1D9D7E7242EA}"/>
    <dgm:cxn modelId="{51613345-71E4-412C-AB74-5A97D48B347C}" srcId="{098CF568-72AC-449B-A36B-3CB47B66D6E4}" destId="{0A1CEB63-6BC4-47C8-B469-826B2D2F5A1D}" srcOrd="4" destOrd="0" parTransId="{A44DA21B-27AB-43A7-B3D5-88EFCFCC16FB}" sibTransId="{C44CBB90-D20D-4339-B73C-6AF68337EAF4}"/>
    <dgm:cxn modelId="{5D4FBC54-83DA-478C-BB96-0B0E74729CA1}" srcId="{098CF568-72AC-449B-A36B-3CB47B66D6E4}" destId="{E6BC25E5-84EB-48F1-8F90-57EC42D90866}" srcOrd="0" destOrd="0" parTransId="{15627C2E-80E7-4322-8F75-99CA7057C8D0}" sibTransId="{DC53BC9E-DB86-41DB-8A4B-B152A61F9EEA}"/>
    <dgm:cxn modelId="{815A3C5A-B444-4C35-958B-EB9E7C2D4EC8}" type="presOf" srcId="{098CF568-72AC-449B-A36B-3CB47B66D6E4}" destId="{F593F66F-9378-48F2-AEAE-F13BF9F4F121}" srcOrd="0" destOrd="0" presId="urn:microsoft.com/office/officeart/2005/8/layout/hierarchy4"/>
    <dgm:cxn modelId="{C07F52A3-ABE7-4A86-8148-A83F1F7824BC}" type="presOf" srcId="{C084067F-A5CF-4263-A509-11E685F19AFA}" destId="{CC3B93CF-834D-4796-BCEC-995F75D7ACFA}" srcOrd="0" destOrd="0" presId="urn:microsoft.com/office/officeart/2005/8/layout/hierarchy4"/>
    <dgm:cxn modelId="{9B6A90FF-D008-4498-909A-5C9F1E8E2897}" srcId="{098CF568-72AC-449B-A36B-3CB47B66D6E4}" destId="{18627499-C5F7-4B5B-B79F-8ABA8F6DD0C7}" srcOrd="2" destOrd="0" parTransId="{C45BE461-2B15-44A5-9574-CCD81A72E7DB}" sibTransId="{963C1254-5B4A-44BA-82D2-DA02BC8354CD}"/>
    <dgm:cxn modelId="{F1B77AE4-6D9C-4D3D-B27F-CD47C185CA18}" type="presParOf" srcId="{F593F66F-9378-48F2-AEAE-F13BF9F4F121}" destId="{84E3EE40-DABC-4BD4-A326-DFCFF8172B39}" srcOrd="0" destOrd="0" presId="urn:microsoft.com/office/officeart/2005/8/layout/hierarchy4"/>
    <dgm:cxn modelId="{8A9B2443-B0C9-42B1-AA09-22BA9F19EDD3}" type="presParOf" srcId="{84E3EE40-DABC-4BD4-A326-DFCFF8172B39}" destId="{E95D9F66-F4DC-4AC8-9B06-B45F5B236E4D}" srcOrd="0" destOrd="0" presId="urn:microsoft.com/office/officeart/2005/8/layout/hierarchy4"/>
    <dgm:cxn modelId="{F2455751-EB3E-4688-A64D-0F292C238B1F}" type="presParOf" srcId="{84E3EE40-DABC-4BD4-A326-DFCFF8172B39}" destId="{E4E1467B-845A-435E-9321-3204B07C2DAD}" srcOrd="1" destOrd="0" presId="urn:microsoft.com/office/officeart/2005/8/layout/hierarchy4"/>
    <dgm:cxn modelId="{D2F88776-BE75-45DA-A51B-CD0C82EEA7D5}" type="presParOf" srcId="{F593F66F-9378-48F2-AEAE-F13BF9F4F121}" destId="{18C4FAE7-E218-493B-A86B-D9F2CF8325F9}" srcOrd="1" destOrd="0" presId="urn:microsoft.com/office/officeart/2005/8/layout/hierarchy4"/>
    <dgm:cxn modelId="{96E2DE96-45CF-4F89-BD4D-A7618C9E96EA}" type="presParOf" srcId="{F593F66F-9378-48F2-AEAE-F13BF9F4F121}" destId="{B187EB1E-7CCC-4464-9CAA-8CC1727765A8}" srcOrd="2" destOrd="0" presId="urn:microsoft.com/office/officeart/2005/8/layout/hierarchy4"/>
    <dgm:cxn modelId="{812757CC-3BCC-406E-A381-445BAA8A45DA}" type="presParOf" srcId="{B187EB1E-7CCC-4464-9CAA-8CC1727765A8}" destId="{CC3B93CF-834D-4796-BCEC-995F75D7ACFA}" srcOrd="0" destOrd="0" presId="urn:microsoft.com/office/officeart/2005/8/layout/hierarchy4"/>
    <dgm:cxn modelId="{DD56CC7F-F080-4572-8880-E2679BE986B8}" type="presParOf" srcId="{B187EB1E-7CCC-4464-9CAA-8CC1727765A8}" destId="{AC19BB4F-0E7E-41B0-83AC-78BF5C3FCAE3}" srcOrd="1" destOrd="0" presId="urn:microsoft.com/office/officeart/2005/8/layout/hierarchy4"/>
    <dgm:cxn modelId="{EECD5135-778A-43EE-92BA-B32BB79ED5B3}" type="presParOf" srcId="{F593F66F-9378-48F2-AEAE-F13BF9F4F121}" destId="{B2F8238A-4E4A-4D91-B98E-CEC0D18014CB}" srcOrd="3" destOrd="0" presId="urn:microsoft.com/office/officeart/2005/8/layout/hierarchy4"/>
    <dgm:cxn modelId="{BDED5405-1F48-4A3C-AF94-DDA341541A6A}" type="presParOf" srcId="{F593F66F-9378-48F2-AEAE-F13BF9F4F121}" destId="{0DDAF38D-EF8E-4BF6-AE98-D52673AA2693}" srcOrd="4" destOrd="0" presId="urn:microsoft.com/office/officeart/2005/8/layout/hierarchy4"/>
    <dgm:cxn modelId="{4CD760F1-483E-4A65-95E2-089E59295BE6}" type="presParOf" srcId="{0DDAF38D-EF8E-4BF6-AE98-D52673AA2693}" destId="{8A4BBFFD-65D3-4282-B693-9BB09083B88B}" srcOrd="0" destOrd="0" presId="urn:microsoft.com/office/officeart/2005/8/layout/hierarchy4"/>
    <dgm:cxn modelId="{34CEA3C6-47C6-429C-B184-AE24E813D69B}" type="presParOf" srcId="{0DDAF38D-EF8E-4BF6-AE98-D52673AA2693}" destId="{D9E2ACB2-1DFE-4707-88D8-F96A747481C2}" srcOrd="1" destOrd="0" presId="urn:microsoft.com/office/officeart/2005/8/layout/hierarchy4"/>
    <dgm:cxn modelId="{0D250CDC-9E43-46EE-99D6-D4986280DBB7}" type="presParOf" srcId="{F593F66F-9378-48F2-AEAE-F13BF9F4F121}" destId="{CA7DCD27-4536-456B-AAD5-89106FF35721}" srcOrd="5" destOrd="0" presId="urn:microsoft.com/office/officeart/2005/8/layout/hierarchy4"/>
    <dgm:cxn modelId="{E300480A-FDFE-4374-81D3-6C5775E9A63B}" type="presParOf" srcId="{F593F66F-9378-48F2-AEAE-F13BF9F4F121}" destId="{EEF15CD6-3FB3-44BA-9BF9-2437BE549D47}" srcOrd="6" destOrd="0" presId="urn:microsoft.com/office/officeart/2005/8/layout/hierarchy4"/>
    <dgm:cxn modelId="{CB133F9E-96B4-4BBD-BAA6-ECFA3384AF88}" type="presParOf" srcId="{EEF15CD6-3FB3-44BA-9BF9-2437BE549D47}" destId="{4D870EFE-9A96-4B9D-8A5F-D5152B1DCC28}" srcOrd="0" destOrd="0" presId="urn:microsoft.com/office/officeart/2005/8/layout/hierarchy4"/>
    <dgm:cxn modelId="{1DAE8ACA-B2FD-4FAB-8347-80DD8833D554}" type="presParOf" srcId="{EEF15CD6-3FB3-44BA-9BF9-2437BE549D47}" destId="{D29149E4-4CA5-47B9-B05F-5ECA105B4287}" srcOrd="1" destOrd="0" presId="urn:microsoft.com/office/officeart/2005/8/layout/hierarchy4"/>
    <dgm:cxn modelId="{49A168FC-7847-4B9E-9E72-85A9E7F233B7}" type="presParOf" srcId="{F593F66F-9378-48F2-AEAE-F13BF9F4F121}" destId="{7CBEB7D5-000F-4635-B149-DCD28D623E50}" srcOrd="7" destOrd="0" presId="urn:microsoft.com/office/officeart/2005/8/layout/hierarchy4"/>
    <dgm:cxn modelId="{44A49B52-6A1C-42DA-B619-7E11E367FCDE}" type="presParOf" srcId="{F593F66F-9378-48F2-AEAE-F13BF9F4F121}" destId="{4104EADD-4D4F-47BD-8007-C26055B05B9C}" srcOrd="8" destOrd="0" presId="urn:microsoft.com/office/officeart/2005/8/layout/hierarchy4"/>
    <dgm:cxn modelId="{D70116ED-E363-4F02-9401-03DA8A5FF24D}" type="presParOf" srcId="{4104EADD-4D4F-47BD-8007-C26055B05B9C}" destId="{30449864-5207-45F8-A4EA-61B0D632F142}" srcOrd="0" destOrd="0" presId="urn:microsoft.com/office/officeart/2005/8/layout/hierarchy4"/>
    <dgm:cxn modelId="{D8306BF0-BEE0-49E3-A066-72AFF2B3D5BE}" type="presParOf" srcId="{4104EADD-4D4F-47BD-8007-C26055B05B9C}" destId="{BD98A145-3F6C-4D5C-BDDE-8B2B8B74887D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4AEF0CC-93DE-40D8-82B4-26B04F7144A5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9A169D1-6245-49D5-9184-711B4521E518}">
      <dgm:prSet/>
      <dgm:spPr/>
      <dgm:t>
        <a:bodyPr/>
        <a:lstStyle/>
        <a:p>
          <a:r>
            <a:rPr lang="en-US" b="1"/>
            <a:t>2014</a:t>
          </a:r>
          <a:endParaRPr lang="en-US"/>
        </a:p>
      </dgm:t>
    </dgm:pt>
    <dgm:pt modelId="{E9ED9F62-646A-459D-94B4-9E1C82276837}" type="parTrans" cxnId="{265FC220-FACD-43B6-B2CD-AD68A69FEB10}">
      <dgm:prSet/>
      <dgm:spPr/>
      <dgm:t>
        <a:bodyPr/>
        <a:lstStyle/>
        <a:p>
          <a:endParaRPr lang="en-US"/>
        </a:p>
      </dgm:t>
    </dgm:pt>
    <dgm:pt modelId="{92918256-7FB2-471B-85D1-21444584B083}" type="sibTrans" cxnId="{265FC220-FACD-43B6-B2CD-AD68A69FEB10}">
      <dgm:prSet/>
      <dgm:spPr/>
      <dgm:t>
        <a:bodyPr/>
        <a:lstStyle/>
        <a:p>
          <a:endParaRPr lang="en-US"/>
        </a:p>
      </dgm:t>
    </dgm:pt>
    <dgm:pt modelId="{8D0E1652-56B2-4D5C-A83C-ADECDFA06D9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Sales: ~ $7.92M</a:t>
          </a:r>
        </a:p>
      </dgm:t>
    </dgm:pt>
    <dgm:pt modelId="{5CCA0BB2-C357-4D3F-9994-3E63A589FAAC}" type="parTrans" cxnId="{772E2ADF-5253-4452-9A75-F9438F8F3096}">
      <dgm:prSet/>
      <dgm:spPr/>
      <dgm:t>
        <a:bodyPr/>
        <a:lstStyle/>
        <a:p>
          <a:endParaRPr lang="en-US"/>
        </a:p>
      </dgm:t>
    </dgm:pt>
    <dgm:pt modelId="{1AA7E835-AA0F-4E33-84F3-3650A77FF94A}" type="sibTrans" cxnId="{772E2ADF-5253-4452-9A75-F9438F8F3096}">
      <dgm:prSet/>
      <dgm:spPr/>
      <dgm:t>
        <a:bodyPr/>
        <a:lstStyle/>
        <a:p>
          <a:endParaRPr lang="en-US"/>
        </a:p>
      </dgm:t>
    </dgm:pt>
    <dgm:pt modelId="{E99F0334-5F1C-4315-B5F0-2ED00D4CD0C8}">
      <dgm:prSet/>
      <dgm:spPr/>
      <dgm:t>
        <a:bodyPr/>
        <a:lstStyle/>
        <a:p>
          <a:endParaRPr lang="en-US" sz="1900" dirty="0"/>
        </a:p>
      </dgm:t>
    </dgm:pt>
    <dgm:pt modelId="{4243A030-EEBA-45E2-8371-F51836F0D53B}" type="parTrans" cxnId="{50DAC4B5-66A8-4849-BFF5-AD6FA23D61B5}">
      <dgm:prSet/>
      <dgm:spPr/>
      <dgm:t>
        <a:bodyPr/>
        <a:lstStyle/>
        <a:p>
          <a:endParaRPr lang="en-US"/>
        </a:p>
      </dgm:t>
    </dgm:pt>
    <dgm:pt modelId="{92A0F157-A185-45CC-A1C8-9373EDE4B68A}" type="sibTrans" cxnId="{50DAC4B5-66A8-4849-BFF5-AD6FA23D61B5}">
      <dgm:prSet/>
      <dgm:spPr/>
      <dgm:t>
        <a:bodyPr/>
        <a:lstStyle/>
        <a:p>
          <a:endParaRPr lang="en-US"/>
        </a:p>
      </dgm:t>
    </dgm:pt>
    <dgm:pt modelId="{AF123AF2-7916-4034-A870-97B38769CAC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COGS: ~ $2.64M</a:t>
          </a:r>
        </a:p>
      </dgm:t>
    </dgm:pt>
    <dgm:pt modelId="{C4C1450B-04EC-4942-BAC6-0B0D2338EC2D}" type="parTrans" cxnId="{5B45ECC5-B823-4ABC-BC33-AB4D2906D233}">
      <dgm:prSet/>
      <dgm:spPr/>
      <dgm:t>
        <a:bodyPr/>
        <a:lstStyle/>
        <a:p>
          <a:endParaRPr lang="en-US"/>
        </a:p>
      </dgm:t>
    </dgm:pt>
    <dgm:pt modelId="{69BBBC1B-AF9C-4255-9AC2-367E338FDD3D}" type="sibTrans" cxnId="{5B45ECC5-B823-4ABC-BC33-AB4D2906D233}">
      <dgm:prSet/>
      <dgm:spPr/>
      <dgm:t>
        <a:bodyPr/>
        <a:lstStyle/>
        <a:p>
          <a:endParaRPr lang="en-US"/>
        </a:p>
      </dgm:t>
    </dgm:pt>
    <dgm:pt modelId="{13E84BCE-58AD-4494-92D9-CF76E6D3EC1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Profit: ~ $5.37M</a:t>
          </a:r>
        </a:p>
      </dgm:t>
    </dgm:pt>
    <dgm:pt modelId="{05FE361A-1ABA-4ADA-9F0F-285812048A29}" type="parTrans" cxnId="{F1873A92-D094-4689-9D31-665CE2C2C12F}">
      <dgm:prSet/>
      <dgm:spPr/>
      <dgm:t>
        <a:bodyPr/>
        <a:lstStyle/>
        <a:p>
          <a:endParaRPr lang="en-US"/>
        </a:p>
      </dgm:t>
    </dgm:pt>
    <dgm:pt modelId="{94F40C5F-9A2A-4C14-8750-1D2335C23F5D}" type="sibTrans" cxnId="{F1873A92-D094-4689-9D31-665CE2C2C12F}">
      <dgm:prSet/>
      <dgm:spPr/>
      <dgm:t>
        <a:bodyPr/>
        <a:lstStyle/>
        <a:p>
          <a:endParaRPr lang="en-US"/>
        </a:p>
      </dgm:t>
    </dgm:pt>
    <dgm:pt modelId="{9F39E932-6C68-4790-948C-75056B0C7D15}" type="pres">
      <dgm:prSet presAssocID="{C4AEF0CC-93DE-40D8-82B4-26B04F7144A5}" presName="Name0" presStyleCnt="0">
        <dgm:presLayoutVars>
          <dgm:dir/>
          <dgm:animLvl val="lvl"/>
          <dgm:resizeHandles val="exact"/>
        </dgm:presLayoutVars>
      </dgm:prSet>
      <dgm:spPr/>
    </dgm:pt>
    <dgm:pt modelId="{F046F77E-5677-4D8B-B780-2F6357650271}" type="pres">
      <dgm:prSet presAssocID="{D9A169D1-6245-49D5-9184-711B4521E518}" presName="linNode" presStyleCnt="0"/>
      <dgm:spPr/>
    </dgm:pt>
    <dgm:pt modelId="{BAE6ABC7-12B9-4707-BFBF-F3C8BCC1934B}" type="pres">
      <dgm:prSet presAssocID="{D9A169D1-6245-49D5-9184-711B4521E518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7A70E06D-2ED9-4CC9-8788-C988FACD10B4}" type="pres">
      <dgm:prSet presAssocID="{D9A169D1-6245-49D5-9184-711B4521E518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5A0B0217-EA85-47C7-9672-CC95B341DB9D}" type="presOf" srcId="{D9A169D1-6245-49D5-9184-711B4521E518}" destId="{BAE6ABC7-12B9-4707-BFBF-F3C8BCC1934B}" srcOrd="0" destOrd="0" presId="urn:microsoft.com/office/officeart/2005/8/layout/vList5"/>
    <dgm:cxn modelId="{265FC220-FACD-43B6-B2CD-AD68A69FEB10}" srcId="{C4AEF0CC-93DE-40D8-82B4-26B04F7144A5}" destId="{D9A169D1-6245-49D5-9184-711B4521E518}" srcOrd="0" destOrd="0" parTransId="{E9ED9F62-646A-459D-94B4-9E1C82276837}" sibTransId="{92918256-7FB2-471B-85D1-21444584B083}"/>
    <dgm:cxn modelId="{111F916A-7BAE-4445-9BBA-122E19F2E5D6}" type="presOf" srcId="{AF123AF2-7916-4034-A870-97B38769CAC9}" destId="{7A70E06D-2ED9-4CC9-8788-C988FACD10B4}" srcOrd="0" destOrd="1" presId="urn:microsoft.com/office/officeart/2005/8/layout/vList5"/>
    <dgm:cxn modelId="{F1873A92-D094-4689-9D31-665CE2C2C12F}" srcId="{D9A169D1-6245-49D5-9184-711B4521E518}" destId="{13E84BCE-58AD-4494-92D9-CF76E6D3EC14}" srcOrd="2" destOrd="0" parTransId="{05FE361A-1ABA-4ADA-9F0F-285812048A29}" sibTransId="{94F40C5F-9A2A-4C14-8750-1D2335C23F5D}"/>
    <dgm:cxn modelId="{CF25C098-33C5-4623-AA52-77822E68EE1A}" type="presOf" srcId="{13E84BCE-58AD-4494-92D9-CF76E6D3EC14}" destId="{7A70E06D-2ED9-4CC9-8788-C988FACD10B4}" srcOrd="0" destOrd="2" presId="urn:microsoft.com/office/officeart/2005/8/layout/vList5"/>
    <dgm:cxn modelId="{42FB63AC-383A-4BD5-B3CE-412FBF03FA84}" type="presOf" srcId="{C4AEF0CC-93DE-40D8-82B4-26B04F7144A5}" destId="{9F39E932-6C68-4790-948C-75056B0C7D15}" srcOrd="0" destOrd="0" presId="urn:microsoft.com/office/officeart/2005/8/layout/vList5"/>
    <dgm:cxn modelId="{50DAC4B5-66A8-4849-BFF5-AD6FA23D61B5}" srcId="{D9A169D1-6245-49D5-9184-711B4521E518}" destId="{E99F0334-5F1C-4315-B5F0-2ED00D4CD0C8}" srcOrd="3" destOrd="0" parTransId="{4243A030-EEBA-45E2-8371-F51836F0D53B}" sibTransId="{92A0F157-A185-45CC-A1C8-9373EDE4B68A}"/>
    <dgm:cxn modelId="{5B45ECC5-B823-4ABC-BC33-AB4D2906D233}" srcId="{D9A169D1-6245-49D5-9184-711B4521E518}" destId="{AF123AF2-7916-4034-A870-97B38769CAC9}" srcOrd="1" destOrd="0" parTransId="{C4C1450B-04EC-4942-BAC6-0B0D2338EC2D}" sibTransId="{69BBBC1B-AF9C-4255-9AC2-367E338FDD3D}"/>
    <dgm:cxn modelId="{772E2ADF-5253-4452-9A75-F9438F8F3096}" srcId="{D9A169D1-6245-49D5-9184-711B4521E518}" destId="{8D0E1652-56B2-4D5C-A83C-ADECDFA06D98}" srcOrd="0" destOrd="0" parTransId="{5CCA0BB2-C357-4D3F-9994-3E63A589FAAC}" sibTransId="{1AA7E835-AA0F-4E33-84F3-3650A77FF94A}"/>
    <dgm:cxn modelId="{CF0EDFF7-8A02-4B00-A9FA-080F3528AF06}" type="presOf" srcId="{E99F0334-5F1C-4315-B5F0-2ED00D4CD0C8}" destId="{7A70E06D-2ED9-4CC9-8788-C988FACD10B4}" srcOrd="0" destOrd="3" presId="urn:microsoft.com/office/officeart/2005/8/layout/vList5"/>
    <dgm:cxn modelId="{2508FEF7-B602-418E-A5F6-69E19FCE26DB}" type="presOf" srcId="{8D0E1652-56B2-4D5C-A83C-ADECDFA06D98}" destId="{7A70E06D-2ED9-4CC9-8788-C988FACD10B4}" srcOrd="0" destOrd="0" presId="urn:microsoft.com/office/officeart/2005/8/layout/vList5"/>
    <dgm:cxn modelId="{4C40A443-916F-4713-9761-CC2678490910}" type="presParOf" srcId="{9F39E932-6C68-4790-948C-75056B0C7D15}" destId="{F046F77E-5677-4D8B-B780-2F6357650271}" srcOrd="0" destOrd="0" presId="urn:microsoft.com/office/officeart/2005/8/layout/vList5"/>
    <dgm:cxn modelId="{41B9556F-9417-4C07-A525-CE4FE815CDC9}" type="presParOf" srcId="{F046F77E-5677-4D8B-B780-2F6357650271}" destId="{BAE6ABC7-12B9-4707-BFBF-F3C8BCC1934B}" srcOrd="0" destOrd="0" presId="urn:microsoft.com/office/officeart/2005/8/layout/vList5"/>
    <dgm:cxn modelId="{49790F2A-A35C-4E77-81C1-3645DD4837F2}" type="presParOf" srcId="{F046F77E-5677-4D8B-B780-2F6357650271}" destId="{7A70E06D-2ED9-4CC9-8788-C988FACD10B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20E580E-AD38-45ED-AE3F-A63B53ACBB6D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65BBF6E-E5FD-427D-BB05-BADFD56FFA1A}">
      <dgm:prSet/>
      <dgm:spPr/>
      <dgm:t>
        <a:bodyPr/>
        <a:lstStyle/>
        <a:p>
          <a:r>
            <a:rPr lang="en-US" b="1" dirty="0"/>
            <a:t>Insight</a:t>
          </a:r>
        </a:p>
      </dgm:t>
    </dgm:pt>
    <dgm:pt modelId="{5B083D61-EC2A-4801-8D80-1CAC4151F8EF}" type="parTrans" cxnId="{50D2F1BB-880E-466D-907D-0350C75016C8}">
      <dgm:prSet/>
      <dgm:spPr/>
      <dgm:t>
        <a:bodyPr/>
        <a:lstStyle/>
        <a:p>
          <a:endParaRPr lang="en-US"/>
        </a:p>
      </dgm:t>
    </dgm:pt>
    <dgm:pt modelId="{2137F974-16C0-41AC-A81C-44B704FD839F}" type="sibTrans" cxnId="{50D2F1BB-880E-466D-907D-0350C75016C8}">
      <dgm:prSet/>
      <dgm:spPr/>
      <dgm:t>
        <a:bodyPr/>
        <a:lstStyle/>
        <a:p>
          <a:endParaRPr lang="en-US"/>
        </a:p>
      </dgm:t>
    </dgm:pt>
    <dgm:pt modelId="{EEF68080-3658-46C9-B5C8-38BA999E2E77}">
      <dgm:prSet/>
      <dgm:spPr/>
      <dgm:t>
        <a:bodyPr/>
        <a:lstStyle/>
        <a:p>
          <a:pPr>
            <a:buNone/>
          </a:pPr>
          <a:r>
            <a:rPr lang="en-US" dirty="0"/>
            <a:t>2013 generated </a:t>
          </a:r>
          <a:r>
            <a:rPr lang="en-US" b="1" dirty="0"/>
            <a:t>higher profit</a:t>
          </a:r>
          <a:r>
            <a:rPr lang="en-US" dirty="0"/>
            <a:t> than 2014, despite similar sales volumes.</a:t>
          </a:r>
        </a:p>
      </dgm:t>
    </dgm:pt>
    <dgm:pt modelId="{03875822-7A8B-4978-B20B-A2AEE360746F}" type="parTrans" cxnId="{F81EB5A6-FE28-490C-8882-97EF66B1ED1E}">
      <dgm:prSet/>
      <dgm:spPr/>
      <dgm:t>
        <a:bodyPr/>
        <a:lstStyle/>
        <a:p>
          <a:endParaRPr lang="en-US"/>
        </a:p>
      </dgm:t>
    </dgm:pt>
    <dgm:pt modelId="{2026FD59-6714-47AC-B1AC-75A0103B54BB}" type="sibTrans" cxnId="{F81EB5A6-FE28-490C-8882-97EF66B1ED1E}">
      <dgm:prSet/>
      <dgm:spPr/>
      <dgm:t>
        <a:bodyPr/>
        <a:lstStyle/>
        <a:p>
          <a:endParaRPr lang="en-US"/>
        </a:p>
      </dgm:t>
    </dgm:pt>
    <dgm:pt modelId="{04C67050-DC71-4BF7-93D8-3AEB42C205BB}" type="pres">
      <dgm:prSet presAssocID="{020E580E-AD38-45ED-AE3F-A63B53ACBB6D}" presName="Name0" presStyleCnt="0">
        <dgm:presLayoutVars>
          <dgm:dir/>
          <dgm:animLvl val="lvl"/>
          <dgm:resizeHandles val="exact"/>
        </dgm:presLayoutVars>
      </dgm:prSet>
      <dgm:spPr/>
    </dgm:pt>
    <dgm:pt modelId="{A8BEC5B2-067E-441C-9B25-ABE4C5A76258}" type="pres">
      <dgm:prSet presAssocID="{A65BBF6E-E5FD-427D-BB05-BADFD56FFA1A}" presName="composite" presStyleCnt="0"/>
      <dgm:spPr/>
    </dgm:pt>
    <dgm:pt modelId="{F014A5CC-0FBE-440C-90C9-F9B8083BF0DE}" type="pres">
      <dgm:prSet presAssocID="{A65BBF6E-E5FD-427D-BB05-BADFD56FFA1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C86F13F-65CA-449A-9BF4-5B300D43DE85}" type="pres">
      <dgm:prSet presAssocID="{A65BBF6E-E5FD-427D-BB05-BADFD56FFA1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B8C1033-9B0A-49B2-83DC-7E305D9A7CD4}" type="presOf" srcId="{A65BBF6E-E5FD-427D-BB05-BADFD56FFA1A}" destId="{F014A5CC-0FBE-440C-90C9-F9B8083BF0DE}" srcOrd="0" destOrd="0" presId="urn:microsoft.com/office/officeart/2005/8/layout/hList1"/>
    <dgm:cxn modelId="{080A2051-791E-4128-AF34-5EE1C469F09D}" type="presOf" srcId="{020E580E-AD38-45ED-AE3F-A63B53ACBB6D}" destId="{04C67050-DC71-4BF7-93D8-3AEB42C205BB}" srcOrd="0" destOrd="0" presId="urn:microsoft.com/office/officeart/2005/8/layout/hList1"/>
    <dgm:cxn modelId="{6854AB72-DDB9-4FB9-9EE1-F74B0CB12B55}" type="presOf" srcId="{EEF68080-3658-46C9-B5C8-38BA999E2E77}" destId="{5C86F13F-65CA-449A-9BF4-5B300D43DE85}" srcOrd="0" destOrd="0" presId="urn:microsoft.com/office/officeart/2005/8/layout/hList1"/>
    <dgm:cxn modelId="{F81EB5A6-FE28-490C-8882-97EF66B1ED1E}" srcId="{A65BBF6E-E5FD-427D-BB05-BADFD56FFA1A}" destId="{EEF68080-3658-46C9-B5C8-38BA999E2E77}" srcOrd="0" destOrd="0" parTransId="{03875822-7A8B-4978-B20B-A2AEE360746F}" sibTransId="{2026FD59-6714-47AC-B1AC-75A0103B54BB}"/>
    <dgm:cxn modelId="{50D2F1BB-880E-466D-907D-0350C75016C8}" srcId="{020E580E-AD38-45ED-AE3F-A63B53ACBB6D}" destId="{A65BBF6E-E5FD-427D-BB05-BADFD56FFA1A}" srcOrd="0" destOrd="0" parTransId="{5B083D61-EC2A-4801-8D80-1CAC4151F8EF}" sibTransId="{2137F974-16C0-41AC-A81C-44B704FD839F}"/>
    <dgm:cxn modelId="{CE86C7E0-F83A-49D9-A217-FF59CBF3804B}" type="presParOf" srcId="{04C67050-DC71-4BF7-93D8-3AEB42C205BB}" destId="{A8BEC5B2-067E-441C-9B25-ABE4C5A76258}" srcOrd="0" destOrd="0" presId="urn:microsoft.com/office/officeart/2005/8/layout/hList1"/>
    <dgm:cxn modelId="{26290790-C446-4218-876A-9D11D940D287}" type="presParOf" srcId="{A8BEC5B2-067E-441C-9B25-ABE4C5A76258}" destId="{F014A5CC-0FBE-440C-90C9-F9B8083BF0DE}" srcOrd="0" destOrd="0" presId="urn:microsoft.com/office/officeart/2005/8/layout/hList1"/>
    <dgm:cxn modelId="{46EFFF59-114A-4A9E-81CE-715E97D2D202}" type="presParOf" srcId="{A8BEC5B2-067E-441C-9B25-ABE4C5A76258}" destId="{5C86F13F-65CA-449A-9BF4-5B300D43DE8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4AEF0CC-93DE-40D8-82B4-26B04F7144A5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9A169D1-6245-49D5-9184-711B4521E518}">
      <dgm:prSet/>
      <dgm:spPr/>
      <dgm:t>
        <a:bodyPr/>
        <a:lstStyle/>
        <a:p>
          <a:r>
            <a:rPr lang="en-US" b="1" dirty="0"/>
            <a:t>2013</a:t>
          </a:r>
          <a:endParaRPr lang="en-US" dirty="0"/>
        </a:p>
      </dgm:t>
    </dgm:pt>
    <dgm:pt modelId="{E9ED9F62-646A-459D-94B4-9E1C82276837}" type="parTrans" cxnId="{265FC220-FACD-43B6-B2CD-AD68A69FEB10}">
      <dgm:prSet/>
      <dgm:spPr/>
      <dgm:t>
        <a:bodyPr/>
        <a:lstStyle/>
        <a:p>
          <a:endParaRPr lang="en-US"/>
        </a:p>
      </dgm:t>
    </dgm:pt>
    <dgm:pt modelId="{92918256-7FB2-471B-85D1-21444584B083}" type="sibTrans" cxnId="{265FC220-FACD-43B6-B2CD-AD68A69FEB10}">
      <dgm:prSet/>
      <dgm:spPr/>
      <dgm:t>
        <a:bodyPr/>
        <a:lstStyle/>
        <a:p>
          <a:endParaRPr lang="en-US"/>
        </a:p>
      </dgm:t>
    </dgm:pt>
    <dgm:pt modelId="{8D0E1652-56B2-4D5C-A83C-ADECDFA06D98}">
      <dgm:prSet custT="1"/>
      <dgm:spPr/>
      <dgm:t>
        <a:bodyPr/>
        <a:lstStyle/>
        <a:p>
          <a:r>
            <a:rPr lang="en-US" sz="1600" dirty="0"/>
            <a:t>Sales: ~$9.23M</a:t>
          </a:r>
        </a:p>
      </dgm:t>
    </dgm:pt>
    <dgm:pt modelId="{5CCA0BB2-C357-4D3F-9994-3E63A589FAAC}" type="parTrans" cxnId="{772E2ADF-5253-4452-9A75-F9438F8F3096}">
      <dgm:prSet/>
      <dgm:spPr/>
      <dgm:t>
        <a:bodyPr/>
        <a:lstStyle/>
        <a:p>
          <a:endParaRPr lang="en-US"/>
        </a:p>
      </dgm:t>
    </dgm:pt>
    <dgm:pt modelId="{1AA7E835-AA0F-4E33-84F3-3650A77FF94A}" type="sibTrans" cxnId="{772E2ADF-5253-4452-9A75-F9438F8F3096}">
      <dgm:prSet/>
      <dgm:spPr/>
      <dgm:t>
        <a:bodyPr/>
        <a:lstStyle/>
        <a:p>
          <a:endParaRPr lang="en-US"/>
        </a:p>
      </dgm:t>
    </dgm:pt>
    <dgm:pt modelId="{2A81AE23-BBEF-4175-BE3D-387972A5627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COGS: ~ $2.25M</a:t>
          </a:r>
        </a:p>
      </dgm:t>
    </dgm:pt>
    <dgm:pt modelId="{A204199E-5AC2-4250-9ED6-B94E575764DB}" type="parTrans" cxnId="{B5B71EDD-D0BC-42DE-81BA-89B8D51FFEB2}">
      <dgm:prSet/>
      <dgm:spPr/>
      <dgm:t>
        <a:bodyPr/>
        <a:lstStyle/>
        <a:p>
          <a:endParaRPr lang="en-US"/>
        </a:p>
      </dgm:t>
    </dgm:pt>
    <dgm:pt modelId="{01574247-4687-4F3B-B148-CBA17E6EA945}" type="sibTrans" cxnId="{B5B71EDD-D0BC-42DE-81BA-89B8D51FFEB2}">
      <dgm:prSet/>
      <dgm:spPr/>
      <dgm:t>
        <a:bodyPr/>
        <a:lstStyle/>
        <a:p>
          <a:endParaRPr lang="en-US"/>
        </a:p>
      </dgm:t>
    </dgm:pt>
    <dgm:pt modelId="{5214F53D-3B93-43A4-8890-CD0F85BB7C0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Profit: ~ $7.97M</a:t>
          </a:r>
        </a:p>
      </dgm:t>
    </dgm:pt>
    <dgm:pt modelId="{70DD7174-75B1-473E-85CC-8FD2FF465FFE}" type="parTrans" cxnId="{DFF31D9C-A78B-469B-A6CC-4348AB1617D8}">
      <dgm:prSet/>
      <dgm:spPr/>
      <dgm:t>
        <a:bodyPr/>
        <a:lstStyle/>
        <a:p>
          <a:endParaRPr lang="en-US"/>
        </a:p>
      </dgm:t>
    </dgm:pt>
    <dgm:pt modelId="{054730B3-6A55-4397-85EC-A65B68D702F1}" type="sibTrans" cxnId="{DFF31D9C-A78B-469B-A6CC-4348AB1617D8}">
      <dgm:prSet/>
      <dgm:spPr/>
      <dgm:t>
        <a:bodyPr/>
        <a:lstStyle/>
        <a:p>
          <a:endParaRPr lang="en-US"/>
        </a:p>
      </dgm:t>
    </dgm:pt>
    <dgm:pt modelId="{9F39E932-6C68-4790-948C-75056B0C7D15}" type="pres">
      <dgm:prSet presAssocID="{C4AEF0CC-93DE-40D8-82B4-26B04F7144A5}" presName="Name0" presStyleCnt="0">
        <dgm:presLayoutVars>
          <dgm:dir/>
          <dgm:animLvl val="lvl"/>
          <dgm:resizeHandles val="exact"/>
        </dgm:presLayoutVars>
      </dgm:prSet>
      <dgm:spPr/>
    </dgm:pt>
    <dgm:pt modelId="{F046F77E-5677-4D8B-B780-2F6357650271}" type="pres">
      <dgm:prSet presAssocID="{D9A169D1-6245-49D5-9184-711B4521E518}" presName="linNode" presStyleCnt="0"/>
      <dgm:spPr/>
    </dgm:pt>
    <dgm:pt modelId="{BAE6ABC7-12B9-4707-BFBF-F3C8BCC1934B}" type="pres">
      <dgm:prSet presAssocID="{D9A169D1-6245-49D5-9184-711B4521E518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7A70E06D-2ED9-4CC9-8788-C988FACD10B4}" type="pres">
      <dgm:prSet presAssocID="{D9A169D1-6245-49D5-9184-711B4521E518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5A0B0217-EA85-47C7-9672-CC95B341DB9D}" type="presOf" srcId="{D9A169D1-6245-49D5-9184-711B4521E518}" destId="{BAE6ABC7-12B9-4707-BFBF-F3C8BCC1934B}" srcOrd="0" destOrd="0" presId="urn:microsoft.com/office/officeart/2005/8/layout/vList5"/>
    <dgm:cxn modelId="{265FC220-FACD-43B6-B2CD-AD68A69FEB10}" srcId="{C4AEF0CC-93DE-40D8-82B4-26B04F7144A5}" destId="{D9A169D1-6245-49D5-9184-711B4521E518}" srcOrd="0" destOrd="0" parTransId="{E9ED9F62-646A-459D-94B4-9E1C82276837}" sibTransId="{92918256-7FB2-471B-85D1-21444584B083}"/>
    <dgm:cxn modelId="{2993AD44-8A9B-4B32-A7B7-38939986A766}" type="presOf" srcId="{5214F53D-3B93-43A4-8890-CD0F85BB7C00}" destId="{7A70E06D-2ED9-4CC9-8788-C988FACD10B4}" srcOrd="0" destOrd="2" presId="urn:microsoft.com/office/officeart/2005/8/layout/vList5"/>
    <dgm:cxn modelId="{346F3570-6024-4AA4-9067-84023317C921}" type="presOf" srcId="{2A81AE23-BBEF-4175-BE3D-387972A56279}" destId="{7A70E06D-2ED9-4CC9-8788-C988FACD10B4}" srcOrd="0" destOrd="1" presId="urn:microsoft.com/office/officeart/2005/8/layout/vList5"/>
    <dgm:cxn modelId="{DFF31D9C-A78B-469B-A6CC-4348AB1617D8}" srcId="{D9A169D1-6245-49D5-9184-711B4521E518}" destId="{5214F53D-3B93-43A4-8890-CD0F85BB7C00}" srcOrd="2" destOrd="0" parTransId="{70DD7174-75B1-473E-85CC-8FD2FF465FFE}" sibTransId="{054730B3-6A55-4397-85EC-A65B68D702F1}"/>
    <dgm:cxn modelId="{42FB63AC-383A-4BD5-B3CE-412FBF03FA84}" type="presOf" srcId="{C4AEF0CC-93DE-40D8-82B4-26B04F7144A5}" destId="{9F39E932-6C68-4790-948C-75056B0C7D15}" srcOrd="0" destOrd="0" presId="urn:microsoft.com/office/officeart/2005/8/layout/vList5"/>
    <dgm:cxn modelId="{B5B71EDD-D0BC-42DE-81BA-89B8D51FFEB2}" srcId="{D9A169D1-6245-49D5-9184-711B4521E518}" destId="{2A81AE23-BBEF-4175-BE3D-387972A56279}" srcOrd="1" destOrd="0" parTransId="{A204199E-5AC2-4250-9ED6-B94E575764DB}" sibTransId="{01574247-4687-4F3B-B148-CBA17E6EA945}"/>
    <dgm:cxn modelId="{772E2ADF-5253-4452-9A75-F9438F8F3096}" srcId="{D9A169D1-6245-49D5-9184-711B4521E518}" destId="{8D0E1652-56B2-4D5C-A83C-ADECDFA06D98}" srcOrd="0" destOrd="0" parTransId="{5CCA0BB2-C357-4D3F-9994-3E63A589FAAC}" sibTransId="{1AA7E835-AA0F-4E33-84F3-3650A77FF94A}"/>
    <dgm:cxn modelId="{2508FEF7-B602-418E-A5F6-69E19FCE26DB}" type="presOf" srcId="{8D0E1652-56B2-4D5C-A83C-ADECDFA06D98}" destId="{7A70E06D-2ED9-4CC9-8788-C988FACD10B4}" srcOrd="0" destOrd="0" presId="urn:microsoft.com/office/officeart/2005/8/layout/vList5"/>
    <dgm:cxn modelId="{4C40A443-916F-4713-9761-CC2678490910}" type="presParOf" srcId="{9F39E932-6C68-4790-948C-75056B0C7D15}" destId="{F046F77E-5677-4D8B-B780-2F6357650271}" srcOrd="0" destOrd="0" presId="urn:microsoft.com/office/officeart/2005/8/layout/vList5"/>
    <dgm:cxn modelId="{41B9556F-9417-4C07-A525-CE4FE815CDC9}" type="presParOf" srcId="{F046F77E-5677-4D8B-B780-2F6357650271}" destId="{BAE6ABC7-12B9-4707-BFBF-F3C8BCC1934B}" srcOrd="0" destOrd="0" presId="urn:microsoft.com/office/officeart/2005/8/layout/vList5"/>
    <dgm:cxn modelId="{49790F2A-A35C-4E77-81C1-3645DD4837F2}" type="presParOf" srcId="{F046F77E-5677-4D8B-B780-2F6357650271}" destId="{7A70E06D-2ED9-4CC9-8788-C988FACD10B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20E580E-AD38-45ED-AE3F-A63B53ACBB6D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65BBF6E-E5FD-427D-BB05-BADFD56FFA1A}">
      <dgm:prSet/>
      <dgm:spPr/>
      <dgm:t>
        <a:bodyPr/>
        <a:lstStyle/>
        <a:p>
          <a:r>
            <a:rPr lang="en-US" b="1" dirty="0"/>
            <a:t>Insight</a:t>
          </a:r>
        </a:p>
      </dgm:t>
    </dgm:pt>
    <dgm:pt modelId="{5B083D61-EC2A-4801-8D80-1CAC4151F8EF}" type="parTrans" cxnId="{50D2F1BB-880E-466D-907D-0350C75016C8}">
      <dgm:prSet/>
      <dgm:spPr/>
      <dgm:t>
        <a:bodyPr/>
        <a:lstStyle/>
        <a:p>
          <a:endParaRPr lang="en-US"/>
        </a:p>
      </dgm:t>
    </dgm:pt>
    <dgm:pt modelId="{2137F974-16C0-41AC-A81C-44B704FD839F}" type="sibTrans" cxnId="{50D2F1BB-880E-466D-907D-0350C75016C8}">
      <dgm:prSet/>
      <dgm:spPr/>
      <dgm:t>
        <a:bodyPr/>
        <a:lstStyle/>
        <a:p>
          <a:endParaRPr lang="en-US"/>
        </a:p>
      </dgm:t>
    </dgm:pt>
    <dgm:pt modelId="{EEF68080-3658-46C9-B5C8-38BA999E2E77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dirty="0"/>
            <a:t>USA is the highest contributing country.</a:t>
          </a:r>
        </a:p>
      </dgm:t>
    </dgm:pt>
    <dgm:pt modelId="{03875822-7A8B-4978-B20B-A2AEE360746F}" type="parTrans" cxnId="{F81EB5A6-FE28-490C-8882-97EF66B1ED1E}">
      <dgm:prSet/>
      <dgm:spPr/>
      <dgm:t>
        <a:bodyPr/>
        <a:lstStyle/>
        <a:p>
          <a:endParaRPr lang="en-US"/>
        </a:p>
      </dgm:t>
    </dgm:pt>
    <dgm:pt modelId="{2026FD59-6714-47AC-B1AC-75A0103B54BB}" type="sibTrans" cxnId="{F81EB5A6-FE28-490C-8882-97EF66B1ED1E}">
      <dgm:prSet/>
      <dgm:spPr/>
      <dgm:t>
        <a:bodyPr/>
        <a:lstStyle/>
        <a:p>
          <a:endParaRPr lang="en-US"/>
        </a:p>
      </dgm:t>
    </dgm:pt>
    <dgm:pt modelId="{A1B83305-AE2C-4F64-AB5C-C17434F8410F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dirty="0"/>
            <a:t>Midmarket is the strongest performing segment</a:t>
          </a:r>
        </a:p>
      </dgm:t>
    </dgm:pt>
    <dgm:pt modelId="{2BC0BF22-9485-46F4-886C-AF1A0F767285}" type="parTrans" cxnId="{6AB470E7-70A4-4302-8118-C178C906AD3A}">
      <dgm:prSet/>
      <dgm:spPr/>
      <dgm:t>
        <a:bodyPr/>
        <a:lstStyle/>
        <a:p>
          <a:endParaRPr lang="en-US"/>
        </a:p>
      </dgm:t>
    </dgm:pt>
    <dgm:pt modelId="{B94D48EA-1C58-4D5A-AD92-FB1E14C5603D}" type="sibTrans" cxnId="{6AB470E7-70A4-4302-8118-C178C906AD3A}">
      <dgm:prSet/>
      <dgm:spPr/>
      <dgm:t>
        <a:bodyPr/>
        <a:lstStyle/>
        <a:p>
          <a:endParaRPr lang="en-US"/>
        </a:p>
      </dgm:t>
    </dgm:pt>
    <dgm:pt modelId="{0BBE8E97-C83E-461F-BA1C-91FEBD24476D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dirty="0"/>
            <a:t>Paseo is the top-selling product</a:t>
          </a:r>
        </a:p>
      </dgm:t>
    </dgm:pt>
    <dgm:pt modelId="{6F1E52E7-804C-43C8-95AB-D1D653BD9E53}" type="parTrans" cxnId="{D1EC6B5F-C6F0-4E14-B3EF-AEB5FB17CB85}">
      <dgm:prSet/>
      <dgm:spPr/>
      <dgm:t>
        <a:bodyPr/>
        <a:lstStyle/>
        <a:p>
          <a:endParaRPr lang="en-US"/>
        </a:p>
      </dgm:t>
    </dgm:pt>
    <dgm:pt modelId="{BA5B20A0-3CA7-432C-818C-088AC7751F08}" type="sibTrans" cxnId="{D1EC6B5F-C6F0-4E14-B3EF-AEB5FB17CB85}">
      <dgm:prSet/>
      <dgm:spPr/>
      <dgm:t>
        <a:bodyPr/>
        <a:lstStyle/>
        <a:p>
          <a:endParaRPr lang="en-US"/>
        </a:p>
      </dgm:t>
    </dgm:pt>
    <dgm:pt modelId="{45447B7D-7BA8-4B85-9FE2-DA0530303B2E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dirty="0"/>
            <a:t>Low &amp; Medium discounts create maximum sales</a:t>
          </a:r>
        </a:p>
      </dgm:t>
    </dgm:pt>
    <dgm:pt modelId="{DE4322D0-5BB6-4B18-900F-77574F1B3162}" type="parTrans" cxnId="{68587B7B-CFAB-4977-ACB3-B6ED7F585CE8}">
      <dgm:prSet/>
      <dgm:spPr/>
      <dgm:t>
        <a:bodyPr/>
        <a:lstStyle/>
        <a:p>
          <a:endParaRPr lang="en-US"/>
        </a:p>
      </dgm:t>
    </dgm:pt>
    <dgm:pt modelId="{CEB66FD5-F463-4605-9265-28E00FCB8864}" type="sibTrans" cxnId="{68587B7B-CFAB-4977-ACB3-B6ED7F585CE8}">
      <dgm:prSet/>
      <dgm:spPr/>
      <dgm:t>
        <a:bodyPr/>
        <a:lstStyle/>
        <a:p>
          <a:endParaRPr lang="en-US"/>
        </a:p>
      </dgm:t>
    </dgm:pt>
    <dgm:pt modelId="{B5907A27-EB39-4825-8A3F-A34C913E94FA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dirty="0"/>
            <a:t>Sales improve heavily during October–December</a:t>
          </a:r>
        </a:p>
      </dgm:t>
    </dgm:pt>
    <dgm:pt modelId="{81727C91-C406-4166-9E53-3D8C549CA83D}" type="parTrans" cxnId="{A156A6CA-2BD0-413C-BC4A-CB8C78FFED6C}">
      <dgm:prSet/>
      <dgm:spPr/>
      <dgm:t>
        <a:bodyPr/>
        <a:lstStyle/>
        <a:p>
          <a:endParaRPr lang="en-US"/>
        </a:p>
      </dgm:t>
    </dgm:pt>
    <dgm:pt modelId="{1CD08929-B01D-4DE0-9B20-702A894FAE55}" type="sibTrans" cxnId="{A156A6CA-2BD0-413C-BC4A-CB8C78FFED6C}">
      <dgm:prSet/>
      <dgm:spPr/>
      <dgm:t>
        <a:bodyPr/>
        <a:lstStyle/>
        <a:p>
          <a:endParaRPr lang="en-US"/>
        </a:p>
      </dgm:t>
    </dgm:pt>
    <dgm:pt modelId="{B625F2F6-886F-4C0C-9D1D-D3FF0A2E4C86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dirty="0"/>
            <a:t>2013 had stronger profitability than 2014</a:t>
          </a:r>
        </a:p>
      </dgm:t>
    </dgm:pt>
    <dgm:pt modelId="{3D76F433-7095-498C-90FB-27F4207E61BA}" type="parTrans" cxnId="{AB59C487-C60A-441F-9CA2-5825E8622956}">
      <dgm:prSet/>
      <dgm:spPr/>
      <dgm:t>
        <a:bodyPr/>
        <a:lstStyle/>
        <a:p>
          <a:endParaRPr lang="en-US"/>
        </a:p>
      </dgm:t>
    </dgm:pt>
    <dgm:pt modelId="{D9D5F14A-66E2-4F4F-970E-8711F7336696}" type="sibTrans" cxnId="{AB59C487-C60A-441F-9CA2-5825E8622956}">
      <dgm:prSet/>
      <dgm:spPr/>
      <dgm:t>
        <a:bodyPr/>
        <a:lstStyle/>
        <a:p>
          <a:endParaRPr lang="en-US"/>
        </a:p>
      </dgm:t>
    </dgm:pt>
    <dgm:pt modelId="{04C67050-DC71-4BF7-93D8-3AEB42C205BB}" type="pres">
      <dgm:prSet presAssocID="{020E580E-AD38-45ED-AE3F-A63B53ACBB6D}" presName="Name0" presStyleCnt="0">
        <dgm:presLayoutVars>
          <dgm:dir/>
          <dgm:animLvl val="lvl"/>
          <dgm:resizeHandles val="exact"/>
        </dgm:presLayoutVars>
      </dgm:prSet>
      <dgm:spPr/>
    </dgm:pt>
    <dgm:pt modelId="{A8BEC5B2-067E-441C-9B25-ABE4C5A76258}" type="pres">
      <dgm:prSet presAssocID="{A65BBF6E-E5FD-427D-BB05-BADFD56FFA1A}" presName="composite" presStyleCnt="0"/>
      <dgm:spPr/>
    </dgm:pt>
    <dgm:pt modelId="{F014A5CC-0FBE-440C-90C9-F9B8083BF0DE}" type="pres">
      <dgm:prSet presAssocID="{A65BBF6E-E5FD-427D-BB05-BADFD56FFA1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C86F13F-65CA-449A-9BF4-5B300D43DE85}" type="pres">
      <dgm:prSet presAssocID="{A65BBF6E-E5FD-427D-BB05-BADFD56FFA1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99025C10-6B27-4AD4-AE59-10A43EC72D02}" type="presOf" srcId="{0BBE8E97-C83E-461F-BA1C-91FEBD24476D}" destId="{5C86F13F-65CA-449A-9BF4-5B300D43DE85}" srcOrd="0" destOrd="2" presId="urn:microsoft.com/office/officeart/2005/8/layout/hList1"/>
    <dgm:cxn modelId="{A7A8EA23-F2A8-4361-856D-FE4DD65CB89B}" type="presOf" srcId="{A1B83305-AE2C-4F64-AB5C-C17434F8410F}" destId="{5C86F13F-65CA-449A-9BF4-5B300D43DE85}" srcOrd="0" destOrd="1" presId="urn:microsoft.com/office/officeart/2005/8/layout/hList1"/>
    <dgm:cxn modelId="{AB8C1033-9B0A-49B2-83DC-7E305D9A7CD4}" type="presOf" srcId="{A65BBF6E-E5FD-427D-BB05-BADFD56FFA1A}" destId="{F014A5CC-0FBE-440C-90C9-F9B8083BF0DE}" srcOrd="0" destOrd="0" presId="urn:microsoft.com/office/officeart/2005/8/layout/hList1"/>
    <dgm:cxn modelId="{D1EC6B5F-C6F0-4E14-B3EF-AEB5FB17CB85}" srcId="{A65BBF6E-E5FD-427D-BB05-BADFD56FFA1A}" destId="{0BBE8E97-C83E-461F-BA1C-91FEBD24476D}" srcOrd="2" destOrd="0" parTransId="{6F1E52E7-804C-43C8-95AB-D1D653BD9E53}" sibTransId="{BA5B20A0-3CA7-432C-818C-088AC7751F08}"/>
    <dgm:cxn modelId="{080A2051-791E-4128-AF34-5EE1C469F09D}" type="presOf" srcId="{020E580E-AD38-45ED-AE3F-A63B53ACBB6D}" destId="{04C67050-DC71-4BF7-93D8-3AEB42C205BB}" srcOrd="0" destOrd="0" presId="urn:microsoft.com/office/officeart/2005/8/layout/hList1"/>
    <dgm:cxn modelId="{6854AB72-DDB9-4FB9-9EE1-F74B0CB12B55}" type="presOf" srcId="{EEF68080-3658-46C9-B5C8-38BA999E2E77}" destId="{5C86F13F-65CA-449A-9BF4-5B300D43DE85}" srcOrd="0" destOrd="0" presId="urn:microsoft.com/office/officeart/2005/8/layout/hList1"/>
    <dgm:cxn modelId="{68587B7B-CFAB-4977-ACB3-B6ED7F585CE8}" srcId="{A65BBF6E-E5FD-427D-BB05-BADFD56FFA1A}" destId="{45447B7D-7BA8-4B85-9FE2-DA0530303B2E}" srcOrd="3" destOrd="0" parTransId="{DE4322D0-5BB6-4B18-900F-77574F1B3162}" sibTransId="{CEB66FD5-F463-4605-9265-28E00FCB8864}"/>
    <dgm:cxn modelId="{AB59C487-C60A-441F-9CA2-5825E8622956}" srcId="{A65BBF6E-E5FD-427D-BB05-BADFD56FFA1A}" destId="{B625F2F6-886F-4C0C-9D1D-D3FF0A2E4C86}" srcOrd="5" destOrd="0" parTransId="{3D76F433-7095-498C-90FB-27F4207E61BA}" sibTransId="{D9D5F14A-66E2-4F4F-970E-8711F7336696}"/>
    <dgm:cxn modelId="{F81EB5A6-FE28-490C-8882-97EF66B1ED1E}" srcId="{A65BBF6E-E5FD-427D-BB05-BADFD56FFA1A}" destId="{EEF68080-3658-46C9-B5C8-38BA999E2E77}" srcOrd="0" destOrd="0" parTransId="{03875822-7A8B-4978-B20B-A2AEE360746F}" sibTransId="{2026FD59-6714-47AC-B1AC-75A0103B54BB}"/>
    <dgm:cxn modelId="{CE01FAB5-3996-4F4C-93AD-1EF0D529B7C3}" type="presOf" srcId="{B5907A27-EB39-4825-8A3F-A34C913E94FA}" destId="{5C86F13F-65CA-449A-9BF4-5B300D43DE85}" srcOrd="0" destOrd="4" presId="urn:microsoft.com/office/officeart/2005/8/layout/hList1"/>
    <dgm:cxn modelId="{50D2F1BB-880E-466D-907D-0350C75016C8}" srcId="{020E580E-AD38-45ED-AE3F-A63B53ACBB6D}" destId="{A65BBF6E-E5FD-427D-BB05-BADFD56FFA1A}" srcOrd="0" destOrd="0" parTransId="{5B083D61-EC2A-4801-8D80-1CAC4151F8EF}" sibTransId="{2137F974-16C0-41AC-A81C-44B704FD839F}"/>
    <dgm:cxn modelId="{A156A6CA-2BD0-413C-BC4A-CB8C78FFED6C}" srcId="{A65BBF6E-E5FD-427D-BB05-BADFD56FFA1A}" destId="{B5907A27-EB39-4825-8A3F-A34C913E94FA}" srcOrd="4" destOrd="0" parTransId="{81727C91-C406-4166-9E53-3D8C549CA83D}" sibTransId="{1CD08929-B01D-4DE0-9B20-702A894FAE55}"/>
    <dgm:cxn modelId="{D8EBCEDE-8D27-4008-8553-C5C326226035}" type="presOf" srcId="{B625F2F6-886F-4C0C-9D1D-D3FF0A2E4C86}" destId="{5C86F13F-65CA-449A-9BF4-5B300D43DE85}" srcOrd="0" destOrd="5" presId="urn:microsoft.com/office/officeart/2005/8/layout/hList1"/>
    <dgm:cxn modelId="{6AB470E7-70A4-4302-8118-C178C906AD3A}" srcId="{A65BBF6E-E5FD-427D-BB05-BADFD56FFA1A}" destId="{A1B83305-AE2C-4F64-AB5C-C17434F8410F}" srcOrd="1" destOrd="0" parTransId="{2BC0BF22-9485-46F4-886C-AF1A0F767285}" sibTransId="{B94D48EA-1C58-4D5A-AD92-FB1E14C5603D}"/>
    <dgm:cxn modelId="{2620C6F0-07B3-49D1-8619-12551AF933E8}" type="presOf" srcId="{45447B7D-7BA8-4B85-9FE2-DA0530303B2E}" destId="{5C86F13F-65CA-449A-9BF4-5B300D43DE85}" srcOrd="0" destOrd="3" presId="urn:microsoft.com/office/officeart/2005/8/layout/hList1"/>
    <dgm:cxn modelId="{CE86C7E0-F83A-49D9-A217-FF59CBF3804B}" type="presParOf" srcId="{04C67050-DC71-4BF7-93D8-3AEB42C205BB}" destId="{A8BEC5B2-067E-441C-9B25-ABE4C5A76258}" srcOrd="0" destOrd="0" presId="urn:microsoft.com/office/officeart/2005/8/layout/hList1"/>
    <dgm:cxn modelId="{26290790-C446-4218-876A-9D11D940D287}" type="presParOf" srcId="{A8BEC5B2-067E-441C-9B25-ABE4C5A76258}" destId="{F014A5CC-0FBE-440C-90C9-F9B8083BF0DE}" srcOrd="0" destOrd="0" presId="urn:microsoft.com/office/officeart/2005/8/layout/hList1"/>
    <dgm:cxn modelId="{46EFFF59-114A-4A9E-81CE-715E97D2D202}" type="presParOf" srcId="{A8BEC5B2-067E-441C-9B25-ABE4C5A76258}" destId="{5C86F13F-65CA-449A-9BF4-5B300D43DE8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020E580E-AD38-45ED-AE3F-A63B53ACBB6D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65BBF6E-E5FD-427D-BB05-BADFD56FFA1A}">
      <dgm:prSet/>
      <dgm:spPr/>
      <dgm:t>
        <a:bodyPr/>
        <a:lstStyle/>
        <a:p>
          <a:r>
            <a:rPr lang="en-US" b="1" dirty="0"/>
            <a:t>Insight</a:t>
          </a:r>
        </a:p>
      </dgm:t>
    </dgm:pt>
    <dgm:pt modelId="{5B083D61-EC2A-4801-8D80-1CAC4151F8EF}" type="parTrans" cxnId="{50D2F1BB-880E-466D-907D-0350C75016C8}">
      <dgm:prSet/>
      <dgm:spPr/>
      <dgm:t>
        <a:bodyPr/>
        <a:lstStyle/>
        <a:p>
          <a:endParaRPr lang="en-US"/>
        </a:p>
      </dgm:t>
    </dgm:pt>
    <dgm:pt modelId="{2137F974-16C0-41AC-A81C-44B704FD839F}" type="sibTrans" cxnId="{50D2F1BB-880E-466D-907D-0350C75016C8}">
      <dgm:prSet/>
      <dgm:spPr/>
      <dgm:t>
        <a:bodyPr/>
        <a:lstStyle/>
        <a:p>
          <a:endParaRPr lang="en-US"/>
        </a:p>
      </dgm:t>
    </dgm:pt>
    <dgm:pt modelId="{EEF68080-3658-46C9-B5C8-38BA999E2E77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b="1" dirty="0"/>
            <a:t>Boost inventory</a:t>
          </a:r>
          <a:r>
            <a:rPr lang="en-US" dirty="0"/>
            <a:t> for top products (Paseo, VTT, Velo) in peak months.</a:t>
          </a:r>
        </a:p>
      </dgm:t>
    </dgm:pt>
    <dgm:pt modelId="{03875822-7A8B-4978-B20B-A2AEE360746F}" type="parTrans" cxnId="{F81EB5A6-FE28-490C-8882-97EF66B1ED1E}">
      <dgm:prSet/>
      <dgm:spPr/>
      <dgm:t>
        <a:bodyPr/>
        <a:lstStyle/>
        <a:p>
          <a:endParaRPr lang="en-US"/>
        </a:p>
      </dgm:t>
    </dgm:pt>
    <dgm:pt modelId="{2026FD59-6714-47AC-B1AC-75A0103B54BB}" type="sibTrans" cxnId="{F81EB5A6-FE28-490C-8882-97EF66B1ED1E}">
      <dgm:prSet/>
      <dgm:spPr/>
      <dgm:t>
        <a:bodyPr/>
        <a:lstStyle/>
        <a:p>
          <a:endParaRPr lang="en-US"/>
        </a:p>
      </dgm:t>
    </dgm:pt>
    <dgm:pt modelId="{97132560-F67B-4691-B230-D4A72CC2F97C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b="1" dirty="0"/>
            <a:t>Target Midmarket &amp; Government segments</a:t>
          </a:r>
          <a:r>
            <a:rPr lang="en-US" dirty="0"/>
            <a:t> with marketing campaigns.</a:t>
          </a:r>
        </a:p>
      </dgm:t>
    </dgm:pt>
    <dgm:pt modelId="{428023A1-A3E2-48FC-BFE0-18FB5AC99CA5}" type="parTrans" cxnId="{B1D4BFD8-19D2-4EC6-A4B0-9165543A7449}">
      <dgm:prSet/>
      <dgm:spPr/>
      <dgm:t>
        <a:bodyPr/>
        <a:lstStyle/>
        <a:p>
          <a:endParaRPr lang="en-US"/>
        </a:p>
      </dgm:t>
    </dgm:pt>
    <dgm:pt modelId="{126163F2-0D26-4C64-91A6-EE1D5A40F032}" type="sibTrans" cxnId="{B1D4BFD8-19D2-4EC6-A4B0-9165543A7449}">
      <dgm:prSet/>
      <dgm:spPr/>
      <dgm:t>
        <a:bodyPr/>
        <a:lstStyle/>
        <a:p>
          <a:endParaRPr lang="en-US"/>
        </a:p>
      </dgm:t>
    </dgm:pt>
    <dgm:pt modelId="{4ADF8F11-CE26-493F-A40B-95F0E69DED6D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b="1" dirty="0"/>
            <a:t>Optimize discount strategy</a:t>
          </a:r>
          <a:r>
            <a:rPr lang="en-US" dirty="0"/>
            <a:t>—reduce high discounts.</a:t>
          </a:r>
        </a:p>
      </dgm:t>
    </dgm:pt>
    <dgm:pt modelId="{066F83E3-7AEC-4833-B962-0605F37C6E65}" type="parTrans" cxnId="{9DC7BD54-7194-415F-BB3D-1EA3901636EB}">
      <dgm:prSet/>
      <dgm:spPr/>
      <dgm:t>
        <a:bodyPr/>
        <a:lstStyle/>
        <a:p>
          <a:endParaRPr lang="en-US"/>
        </a:p>
      </dgm:t>
    </dgm:pt>
    <dgm:pt modelId="{60403C87-74DE-4293-AA19-085CD8F46976}" type="sibTrans" cxnId="{9DC7BD54-7194-415F-BB3D-1EA3901636EB}">
      <dgm:prSet/>
      <dgm:spPr/>
      <dgm:t>
        <a:bodyPr/>
        <a:lstStyle/>
        <a:p>
          <a:endParaRPr lang="en-US"/>
        </a:p>
      </dgm:t>
    </dgm:pt>
    <dgm:pt modelId="{CAE8375E-3103-4BB5-969A-6C47DAD9665D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b="1" dirty="0"/>
            <a:t>Focus on Canada</a:t>
          </a:r>
          <a:r>
            <a:rPr lang="en-US" dirty="0"/>
            <a:t> to improve its performance.</a:t>
          </a:r>
        </a:p>
      </dgm:t>
    </dgm:pt>
    <dgm:pt modelId="{A157F303-35D0-4085-9C6B-4E8E6B7FBC30}" type="parTrans" cxnId="{926B4F42-F77B-4A6D-83AB-426D24B89285}">
      <dgm:prSet/>
      <dgm:spPr/>
      <dgm:t>
        <a:bodyPr/>
        <a:lstStyle/>
        <a:p>
          <a:endParaRPr lang="en-US"/>
        </a:p>
      </dgm:t>
    </dgm:pt>
    <dgm:pt modelId="{CBD2C03E-E38D-42DB-89E4-32102671CB95}" type="sibTrans" cxnId="{926B4F42-F77B-4A6D-83AB-426D24B89285}">
      <dgm:prSet/>
      <dgm:spPr/>
      <dgm:t>
        <a:bodyPr/>
        <a:lstStyle/>
        <a:p>
          <a:endParaRPr lang="en-US"/>
        </a:p>
      </dgm:t>
    </dgm:pt>
    <dgm:pt modelId="{ABA8F34D-2954-4C56-A82C-A13E43B06A1F}">
      <dgm:prSet/>
      <dgm:spPr/>
      <dgm:t>
        <a:bodyPr/>
        <a:lstStyle/>
        <a:p>
          <a:pPr>
            <a:buFont typeface="Wingdings" panose="05000000000000000000" pitchFamily="2" charset="2"/>
            <a:buChar char="Ø"/>
          </a:pPr>
          <a:r>
            <a:rPr lang="en-US" b="1" dirty="0"/>
            <a:t>Investigate profit drop in 2014</a:t>
          </a:r>
          <a:r>
            <a:rPr lang="en-US" dirty="0"/>
            <a:t> to correct cost structure.</a:t>
          </a:r>
        </a:p>
      </dgm:t>
    </dgm:pt>
    <dgm:pt modelId="{AFC53945-4AD2-427D-A8FF-609A5C681A1E}" type="parTrans" cxnId="{BD061697-49E7-4FDC-9CA1-E01D9C483938}">
      <dgm:prSet/>
      <dgm:spPr/>
      <dgm:t>
        <a:bodyPr/>
        <a:lstStyle/>
        <a:p>
          <a:endParaRPr lang="en-US"/>
        </a:p>
      </dgm:t>
    </dgm:pt>
    <dgm:pt modelId="{B5247C7A-566A-471D-977E-1DCEFFB36041}" type="sibTrans" cxnId="{BD061697-49E7-4FDC-9CA1-E01D9C483938}">
      <dgm:prSet/>
      <dgm:spPr/>
      <dgm:t>
        <a:bodyPr/>
        <a:lstStyle/>
        <a:p>
          <a:endParaRPr lang="en-US"/>
        </a:p>
      </dgm:t>
    </dgm:pt>
    <dgm:pt modelId="{04C67050-DC71-4BF7-93D8-3AEB42C205BB}" type="pres">
      <dgm:prSet presAssocID="{020E580E-AD38-45ED-AE3F-A63B53ACBB6D}" presName="Name0" presStyleCnt="0">
        <dgm:presLayoutVars>
          <dgm:dir/>
          <dgm:animLvl val="lvl"/>
          <dgm:resizeHandles val="exact"/>
        </dgm:presLayoutVars>
      </dgm:prSet>
      <dgm:spPr/>
    </dgm:pt>
    <dgm:pt modelId="{A8BEC5B2-067E-441C-9B25-ABE4C5A76258}" type="pres">
      <dgm:prSet presAssocID="{A65BBF6E-E5FD-427D-BB05-BADFD56FFA1A}" presName="composite" presStyleCnt="0"/>
      <dgm:spPr/>
    </dgm:pt>
    <dgm:pt modelId="{F014A5CC-0FBE-440C-90C9-F9B8083BF0DE}" type="pres">
      <dgm:prSet presAssocID="{A65BBF6E-E5FD-427D-BB05-BADFD56FFA1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C86F13F-65CA-449A-9BF4-5B300D43DE85}" type="pres">
      <dgm:prSet presAssocID="{A65BBF6E-E5FD-427D-BB05-BADFD56FFA1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B0566E21-F398-4A59-8E69-F0BFB0F53EC2}" type="presOf" srcId="{CAE8375E-3103-4BB5-969A-6C47DAD9665D}" destId="{5C86F13F-65CA-449A-9BF4-5B300D43DE85}" srcOrd="0" destOrd="3" presId="urn:microsoft.com/office/officeart/2005/8/layout/hList1"/>
    <dgm:cxn modelId="{AB8C1033-9B0A-49B2-83DC-7E305D9A7CD4}" type="presOf" srcId="{A65BBF6E-E5FD-427D-BB05-BADFD56FFA1A}" destId="{F014A5CC-0FBE-440C-90C9-F9B8083BF0DE}" srcOrd="0" destOrd="0" presId="urn:microsoft.com/office/officeart/2005/8/layout/hList1"/>
    <dgm:cxn modelId="{926B4F42-F77B-4A6D-83AB-426D24B89285}" srcId="{A65BBF6E-E5FD-427D-BB05-BADFD56FFA1A}" destId="{CAE8375E-3103-4BB5-969A-6C47DAD9665D}" srcOrd="3" destOrd="0" parTransId="{A157F303-35D0-4085-9C6B-4E8E6B7FBC30}" sibTransId="{CBD2C03E-E38D-42DB-89E4-32102671CB95}"/>
    <dgm:cxn modelId="{080A2051-791E-4128-AF34-5EE1C469F09D}" type="presOf" srcId="{020E580E-AD38-45ED-AE3F-A63B53ACBB6D}" destId="{04C67050-DC71-4BF7-93D8-3AEB42C205BB}" srcOrd="0" destOrd="0" presId="urn:microsoft.com/office/officeart/2005/8/layout/hList1"/>
    <dgm:cxn modelId="{6854AB72-DDB9-4FB9-9EE1-F74B0CB12B55}" type="presOf" srcId="{EEF68080-3658-46C9-B5C8-38BA999E2E77}" destId="{5C86F13F-65CA-449A-9BF4-5B300D43DE85}" srcOrd="0" destOrd="0" presId="urn:microsoft.com/office/officeart/2005/8/layout/hList1"/>
    <dgm:cxn modelId="{9DC7BD54-7194-415F-BB3D-1EA3901636EB}" srcId="{A65BBF6E-E5FD-427D-BB05-BADFD56FFA1A}" destId="{4ADF8F11-CE26-493F-A40B-95F0E69DED6D}" srcOrd="2" destOrd="0" parTransId="{066F83E3-7AEC-4833-B962-0605F37C6E65}" sibTransId="{60403C87-74DE-4293-AA19-085CD8F46976}"/>
    <dgm:cxn modelId="{CA43D183-173D-4394-AE80-1FE006C3A708}" type="presOf" srcId="{4ADF8F11-CE26-493F-A40B-95F0E69DED6D}" destId="{5C86F13F-65CA-449A-9BF4-5B300D43DE85}" srcOrd="0" destOrd="2" presId="urn:microsoft.com/office/officeart/2005/8/layout/hList1"/>
    <dgm:cxn modelId="{BD061697-49E7-4FDC-9CA1-E01D9C483938}" srcId="{A65BBF6E-E5FD-427D-BB05-BADFD56FFA1A}" destId="{ABA8F34D-2954-4C56-A82C-A13E43B06A1F}" srcOrd="4" destOrd="0" parTransId="{AFC53945-4AD2-427D-A8FF-609A5C681A1E}" sibTransId="{B5247C7A-566A-471D-977E-1DCEFFB36041}"/>
    <dgm:cxn modelId="{838E5C9E-453A-4BF5-8CE7-BE5C0817A8A1}" type="presOf" srcId="{97132560-F67B-4691-B230-D4A72CC2F97C}" destId="{5C86F13F-65CA-449A-9BF4-5B300D43DE85}" srcOrd="0" destOrd="1" presId="urn:microsoft.com/office/officeart/2005/8/layout/hList1"/>
    <dgm:cxn modelId="{F81EB5A6-FE28-490C-8882-97EF66B1ED1E}" srcId="{A65BBF6E-E5FD-427D-BB05-BADFD56FFA1A}" destId="{EEF68080-3658-46C9-B5C8-38BA999E2E77}" srcOrd="0" destOrd="0" parTransId="{03875822-7A8B-4978-B20B-A2AEE360746F}" sibTransId="{2026FD59-6714-47AC-B1AC-75A0103B54BB}"/>
    <dgm:cxn modelId="{50D2F1BB-880E-466D-907D-0350C75016C8}" srcId="{020E580E-AD38-45ED-AE3F-A63B53ACBB6D}" destId="{A65BBF6E-E5FD-427D-BB05-BADFD56FFA1A}" srcOrd="0" destOrd="0" parTransId="{5B083D61-EC2A-4801-8D80-1CAC4151F8EF}" sibTransId="{2137F974-16C0-41AC-A81C-44B704FD839F}"/>
    <dgm:cxn modelId="{B1D4BFD8-19D2-4EC6-A4B0-9165543A7449}" srcId="{A65BBF6E-E5FD-427D-BB05-BADFD56FFA1A}" destId="{97132560-F67B-4691-B230-D4A72CC2F97C}" srcOrd="1" destOrd="0" parTransId="{428023A1-A3E2-48FC-BFE0-18FB5AC99CA5}" sibTransId="{126163F2-0D26-4C64-91A6-EE1D5A40F032}"/>
    <dgm:cxn modelId="{41ABA8F0-5117-4D4F-AF88-6A800342C2A6}" type="presOf" srcId="{ABA8F34D-2954-4C56-A82C-A13E43B06A1F}" destId="{5C86F13F-65CA-449A-9BF4-5B300D43DE85}" srcOrd="0" destOrd="4" presId="urn:microsoft.com/office/officeart/2005/8/layout/hList1"/>
    <dgm:cxn modelId="{CE86C7E0-F83A-49D9-A217-FF59CBF3804B}" type="presParOf" srcId="{04C67050-DC71-4BF7-93D8-3AEB42C205BB}" destId="{A8BEC5B2-067E-441C-9B25-ABE4C5A76258}" srcOrd="0" destOrd="0" presId="urn:microsoft.com/office/officeart/2005/8/layout/hList1"/>
    <dgm:cxn modelId="{26290790-C446-4218-876A-9D11D940D287}" type="presParOf" srcId="{A8BEC5B2-067E-441C-9B25-ABE4C5A76258}" destId="{F014A5CC-0FBE-440C-90C9-F9B8083BF0DE}" srcOrd="0" destOrd="0" presId="urn:microsoft.com/office/officeart/2005/8/layout/hList1"/>
    <dgm:cxn modelId="{46EFFF59-114A-4A9E-81CE-715E97D2D202}" type="presParOf" srcId="{A8BEC5B2-067E-441C-9B25-ABE4C5A76258}" destId="{5C86F13F-65CA-449A-9BF4-5B300D43DE8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E23B1D-7471-4A31-8C35-60D0D000D0F9}">
      <dsp:nvSpPr>
        <dsp:cNvPr id="0" name=""/>
        <dsp:cNvSpPr/>
      </dsp:nvSpPr>
      <dsp:spPr>
        <a:xfrm>
          <a:off x="0" y="78994"/>
          <a:ext cx="5591908" cy="449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 dirty="0">
              <a:solidFill>
                <a:srgbClr val="B95CDE"/>
              </a:solidFill>
            </a:rPr>
            <a:t>Key Highlights</a:t>
          </a:r>
          <a:endParaRPr lang="en-US" sz="1600" b="1" kern="1200" dirty="0">
            <a:solidFill>
              <a:srgbClr val="B95CDE"/>
            </a:solidFill>
          </a:endParaRPr>
        </a:p>
      </dsp:txBody>
      <dsp:txXfrm>
        <a:off x="21932" y="100926"/>
        <a:ext cx="5548044" cy="405416"/>
      </dsp:txXfrm>
    </dsp:sp>
    <dsp:sp modelId="{197FD2A0-DBB7-4DB6-8D7D-885C9A897C8E}">
      <dsp:nvSpPr>
        <dsp:cNvPr id="0" name=""/>
        <dsp:cNvSpPr/>
      </dsp:nvSpPr>
      <dsp:spPr>
        <a:xfrm>
          <a:off x="0" y="597394"/>
          <a:ext cx="5591908" cy="449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>
              <a:solidFill>
                <a:srgbClr val="B95CDE"/>
              </a:solidFill>
            </a:rPr>
            <a:t>Overall KPIs</a:t>
          </a:r>
          <a:endParaRPr lang="en-US" sz="1600" b="1" kern="1200">
            <a:solidFill>
              <a:srgbClr val="B95CDE"/>
            </a:solidFill>
          </a:endParaRPr>
        </a:p>
      </dsp:txBody>
      <dsp:txXfrm>
        <a:off x="21932" y="619326"/>
        <a:ext cx="5548044" cy="405416"/>
      </dsp:txXfrm>
    </dsp:sp>
    <dsp:sp modelId="{C36C5C48-4873-45A3-934F-9908EE7998E9}">
      <dsp:nvSpPr>
        <dsp:cNvPr id="0" name=""/>
        <dsp:cNvSpPr/>
      </dsp:nvSpPr>
      <dsp:spPr>
        <a:xfrm>
          <a:off x="0" y="1115794"/>
          <a:ext cx="5591908" cy="449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>
              <a:solidFill>
                <a:srgbClr val="B95CDE"/>
              </a:solidFill>
            </a:rPr>
            <a:t>Country-Level Sales</a:t>
          </a:r>
          <a:endParaRPr lang="en-US" sz="1600" b="1" kern="1200">
            <a:solidFill>
              <a:srgbClr val="B95CDE"/>
            </a:solidFill>
          </a:endParaRPr>
        </a:p>
      </dsp:txBody>
      <dsp:txXfrm>
        <a:off x="21932" y="1137726"/>
        <a:ext cx="5548044" cy="405416"/>
      </dsp:txXfrm>
    </dsp:sp>
    <dsp:sp modelId="{E22345B8-26B8-47C7-B46E-42BF3C66AB2A}">
      <dsp:nvSpPr>
        <dsp:cNvPr id="0" name=""/>
        <dsp:cNvSpPr/>
      </dsp:nvSpPr>
      <dsp:spPr>
        <a:xfrm>
          <a:off x="0" y="1634194"/>
          <a:ext cx="5591908" cy="449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>
              <a:solidFill>
                <a:srgbClr val="B95CDE"/>
              </a:solidFill>
            </a:rPr>
            <a:t>Segment Performance</a:t>
          </a:r>
          <a:endParaRPr lang="en-US" sz="1600" b="1" kern="1200">
            <a:solidFill>
              <a:srgbClr val="B95CDE"/>
            </a:solidFill>
          </a:endParaRPr>
        </a:p>
      </dsp:txBody>
      <dsp:txXfrm>
        <a:off x="21932" y="1656126"/>
        <a:ext cx="5548044" cy="405416"/>
      </dsp:txXfrm>
    </dsp:sp>
    <dsp:sp modelId="{B3D41620-63D3-4B3E-B7E4-C0DFDB98F8BF}">
      <dsp:nvSpPr>
        <dsp:cNvPr id="0" name=""/>
        <dsp:cNvSpPr/>
      </dsp:nvSpPr>
      <dsp:spPr>
        <a:xfrm>
          <a:off x="0" y="2152595"/>
          <a:ext cx="5591908" cy="449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>
              <a:solidFill>
                <a:srgbClr val="B95CDE"/>
              </a:solidFill>
            </a:rPr>
            <a:t>Product Insights</a:t>
          </a:r>
          <a:endParaRPr lang="en-US" sz="1600" b="1" kern="1200">
            <a:solidFill>
              <a:srgbClr val="B95CDE"/>
            </a:solidFill>
          </a:endParaRPr>
        </a:p>
      </dsp:txBody>
      <dsp:txXfrm>
        <a:off x="21932" y="2174527"/>
        <a:ext cx="5548044" cy="405416"/>
      </dsp:txXfrm>
    </dsp:sp>
    <dsp:sp modelId="{492929FD-FA62-4EE6-82F5-0E9B280000BA}">
      <dsp:nvSpPr>
        <dsp:cNvPr id="0" name=""/>
        <dsp:cNvSpPr/>
      </dsp:nvSpPr>
      <dsp:spPr>
        <a:xfrm>
          <a:off x="0" y="2670995"/>
          <a:ext cx="5591908" cy="449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>
              <a:solidFill>
                <a:srgbClr val="B95CDE"/>
              </a:solidFill>
            </a:rPr>
            <a:t>Discount Impact</a:t>
          </a:r>
          <a:endParaRPr lang="en-US" sz="1600" b="1" kern="1200">
            <a:solidFill>
              <a:srgbClr val="B95CDE"/>
            </a:solidFill>
          </a:endParaRPr>
        </a:p>
      </dsp:txBody>
      <dsp:txXfrm>
        <a:off x="21932" y="2692927"/>
        <a:ext cx="5548044" cy="405416"/>
      </dsp:txXfrm>
    </dsp:sp>
    <dsp:sp modelId="{E0A4FADA-98A6-4A83-BB5F-6F2322C99F98}">
      <dsp:nvSpPr>
        <dsp:cNvPr id="0" name=""/>
        <dsp:cNvSpPr/>
      </dsp:nvSpPr>
      <dsp:spPr>
        <a:xfrm>
          <a:off x="0" y="3189395"/>
          <a:ext cx="5591908" cy="449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>
              <a:solidFill>
                <a:srgbClr val="B95CDE"/>
              </a:solidFill>
            </a:rPr>
            <a:t>Monthly Trends</a:t>
          </a:r>
          <a:endParaRPr lang="en-US" sz="1600" b="1" kern="1200">
            <a:solidFill>
              <a:srgbClr val="B95CDE"/>
            </a:solidFill>
          </a:endParaRPr>
        </a:p>
      </dsp:txBody>
      <dsp:txXfrm>
        <a:off x="21932" y="3211327"/>
        <a:ext cx="5548044" cy="405416"/>
      </dsp:txXfrm>
    </dsp:sp>
    <dsp:sp modelId="{DB2EC40D-4AF0-4CF9-B08C-66EF60CAD62C}">
      <dsp:nvSpPr>
        <dsp:cNvPr id="0" name=""/>
        <dsp:cNvSpPr/>
      </dsp:nvSpPr>
      <dsp:spPr>
        <a:xfrm>
          <a:off x="0" y="3707795"/>
          <a:ext cx="5591908" cy="449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>
              <a:solidFill>
                <a:srgbClr val="B95CDE"/>
              </a:solidFill>
            </a:rPr>
            <a:t>Financial Analysis (Sales vs </a:t>
          </a:r>
          <a:r>
            <a:rPr lang="en-US" sz="1600" b="1" kern="1200">
              <a:solidFill>
                <a:srgbClr val="B95CDE"/>
              </a:solidFill>
            </a:rPr>
            <a:t>  </a:t>
          </a:r>
          <a:r>
            <a:rPr lang="en-US" sz="1600" b="1" i="0" kern="1200" baseline="0">
              <a:solidFill>
                <a:srgbClr val="B95CDE"/>
              </a:solidFill>
            </a:rPr>
            <a:t>COGS vs Profit)</a:t>
          </a:r>
          <a:endParaRPr lang="en-US" sz="1600" b="1" kern="1200">
            <a:solidFill>
              <a:srgbClr val="B95CDE"/>
            </a:solidFill>
          </a:endParaRPr>
        </a:p>
      </dsp:txBody>
      <dsp:txXfrm>
        <a:off x="21932" y="3729727"/>
        <a:ext cx="5548044" cy="405416"/>
      </dsp:txXfrm>
    </dsp:sp>
    <dsp:sp modelId="{924E1CE3-6334-4E46-A2BC-A746BB784250}">
      <dsp:nvSpPr>
        <dsp:cNvPr id="0" name=""/>
        <dsp:cNvSpPr/>
      </dsp:nvSpPr>
      <dsp:spPr>
        <a:xfrm>
          <a:off x="0" y="4226195"/>
          <a:ext cx="5591908" cy="449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>
              <a:solidFill>
                <a:srgbClr val="B95CDE"/>
              </a:solidFill>
            </a:rPr>
            <a:t>Insights</a:t>
          </a:r>
          <a:endParaRPr lang="en-US" sz="1600" b="1" kern="1200">
            <a:solidFill>
              <a:srgbClr val="B95CDE"/>
            </a:solidFill>
          </a:endParaRPr>
        </a:p>
      </dsp:txBody>
      <dsp:txXfrm>
        <a:off x="21932" y="4248127"/>
        <a:ext cx="5548044" cy="405416"/>
      </dsp:txXfrm>
    </dsp:sp>
    <dsp:sp modelId="{69539EC8-F565-48B4-A6EE-9E763CD7DFFF}">
      <dsp:nvSpPr>
        <dsp:cNvPr id="0" name=""/>
        <dsp:cNvSpPr/>
      </dsp:nvSpPr>
      <dsp:spPr>
        <a:xfrm>
          <a:off x="0" y="4744595"/>
          <a:ext cx="5591908" cy="44928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>
              <a:solidFill>
                <a:srgbClr val="B95CDE"/>
              </a:solidFill>
            </a:rPr>
            <a:t>Recommendations</a:t>
          </a:r>
          <a:endParaRPr lang="en-US" sz="1600" b="1" kern="1200">
            <a:solidFill>
              <a:srgbClr val="B95CDE"/>
            </a:solidFill>
          </a:endParaRPr>
        </a:p>
      </dsp:txBody>
      <dsp:txXfrm>
        <a:off x="21932" y="4766527"/>
        <a:ext cx="5548044" cy="4054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D1AF03-65AC-445D-BF4B-A96A42E46088}">
      <dsp:nvSpPr>
        <dsp:cNvPr id="0" name=""/>
        <dsp:cNvSpPr/>
      </dsp:nvSpPr>
      <dsp:spPr>
        <a:xfrm>
          <a:off x="0" y="7420"/>
          <a:ext cx="8708970" cy="368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>
              <a:solidFill>
                <a:srgbClr val="B95CDE"/>
              </a:solidFill>
            </a:rPr>
            <a:t>Total sales reached </a:t>
          </a:r>
          <a:r>
            <a:rPr lang="en-US" sz="1500" b="1" i="0" kern="1200" baseline="0">
              <a:solidFill>
                <a:srgbClr val="B95CDE"/>
              </a:solidFill>
            </a:rPr>
            <a:t>$16.89M</a:t>
          </a:r>
          <a:r>
            <a:rPr lang="en-US" sz="1500" b="0" i="0" kern="1200" baseline="0">
              <a:solidFill>
                <a:srgbClr val="B95CDE"/>
              </a:solidFill>
            </a:rPr>
            <a:t> across 2013–2014.</a:t>
          </a:r>
          <a:endParaRPr lang="en-US" sz="1500" kern="1200">
            <a:solidFill>
              <a:srgbClr val="B95CDE"/>
            </a:solidFill>
          </a:endParaRPr>
        </a:p>
      </dsp:txBody>
      <dsp:txXfrm>
        <a:off x="17991" y="25411"/>
        <a:ext cx="8672988" cy="332567"/>
      </dsp:txXfrm>
    </dsp:sp>
    <dsp:sp modelId="{CB2E851A-951E-4A3E-BE13-0C70D43ED4EC}">
      <dsp:nvSpPr>
        <dsp:cNvPr id="0" name=""/>
        <dsp:cNvSpPr/>
      </dsp:nvSpPr>
      <dsp:spPr>
        <a:xfrm>
          <a:off x="0" y="419170"/>
          <a:ext cx="8708970" cy="368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>
              <a:solidFill>
                <a:srgbClr val="B95CDE"/>
              </a:solidFill>
            </a:rPr>
            <a:t>Total profit is also </a:t>
          </a:r>
          <a:r>
            <a:rPr lang="en-US" sz="1500" b="1" i="0" kern="1200" baseline="0">
              <a:solidFill>
                <a:srgbClr val="B95CDE"/>
              </a:solidFill>
            </a:rPr>
            <a:t>$16.89M</a:t>
          </a:r>
          <a:r>
            <a:rPr lang="en-US" sz="1500" b="0" i="0" kern="1200" baseline="0">
              <a:solidFill>
                <a:srgbClr val="B95CDE"/>
              </a:solidFill>
            </a:rPr>
            <a:t>, indicating highly profitable products.</a:t>
          </a:r>
          <a:endParaRPr lang="en-US" sz="1500" kern="1200">
            <a:solidFill>
              <a:srgbClr val="B95CDE"/>
            </a:solidFill>
          </a:endParaRPr>
        </a:p>
      </dsp:txBody>
      <dsp:txXfrm>
        <a:off x="17991" y="437161"/>
        <a:ext cx="8672988" cy="332567"/>
      </dsp:txXfrm>
    </dsp:sp>
    <dsp:sp modelId="{DA01A50F-53CA-4FC5-A66A-78004F024F56}">
      <dsp:nvSpPr>
        <dsp:cNvPr id="0" name=""/>
        <dsp:cNvSpPr/>
      </dsp:nvSpPr>
      <dsp:spPr>
        <a:xfrm>
          <a:off x="0" y="830919"/>
          <a:ext cx="8708970" cy="368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>
              <a:solidFill>
                <a:srgbClr val="B95CDE"/>
              </a:solidFill>
            </a:rPr>
            <a:t>Total units sold: </a:t>
          </a:r>
          <a:r>
            <a:rPr lang="en-US" sz="1500" b="1" i="0" kern="1200" baseline="0">
              <a:solidFill>
                <a:srgbClr val="B95CDE"/>
              </a:solidFill>
            </a:rPr>
            <a:t>1.12M units</a:t>
          </a:r>
          <a:endParaRPr lang="en-US" sz="1500" kern="1200">
            <a:solidFill>
              <a:srgbClr val="B95CDE"/>
            </a:solidFill>
          </a:endParaRPr>
        </a:p>
      </dsp:txBody>
      <dsp:txXfrm>
        <a:off x="17991" y="848910"/>
        <a:ext cx="8672988" cy="332567"/>
      </dsp:txXfrm>
    </dsp:sp>
    <dsp:sp modelId="{156FEA74-F180-4A03-8E4A-BF5B18E4589C}">
      <dsp:nvSpPr>
        <dsp:cNvPr id="0" name=""/>
        <dsp:cNvSpPr/>
      </dsp:nvSpPr>
      <dsp:spPr>
        <a:xfrm>
          <a:off x="0" y="1242670"/>
          <a:ext cx="8708970" cy="368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>
              <a:solidFill>
                <a:srgbClr val="B95CDE"/>
              </a:solidFill>
            </a:rPr>
            <a:t>Highest revenue-generating country: </a:t>
          </a:r>
          <a:r>
            <a:rPr lang="en-US" sz="1500" b="1" i="0" kern="1200" baseline="0">
              <a:solidFill>
                <a:srgbClr val="B95CDE"/>
              </a:solidFill>
            </a:rPr>
            <a:t>USA (~$2.50M)</a:t>
          </a:r>
          <a:endParaRPr lang="en-US" sz="1500" kern="1200">
            <a:solidFill>
              <a:srgbClr val="B95CDE"/>
            </a:solidFill>
          </a:endParaRPr>
        </a:p>
      </dsp:txBody>
      <dsp:txXfrm>
        <a:off x="17991" y="1260661"/>
        <a:ext cx="8672988" cy="332567"/>
      </dsp:txXfrm>
    </dsp:sp>
    <dsp:sp modelId="{55DA6C0A-7C0D-4BCB-A938-E5973124FA70}">
      <dsp:nvSpPr>
        <dsp:cNvPr id="0" name=""/>
        <dsp:cNvSpPr/>
      </dsp:nvSpPr>
      <dsp:spPr>
        <a:xfrm>
          <a:off x="0" y="1654420"/>
          <a:ext cx="8708970" cy="368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>
              <a:solidFill>
                <a:srgbClr val="B95CDE"/>
              </a:solidFill>
            </a:rPr>
            <a:t>Strongest segment: </a:t>
          </a:r>
          <a:r>
            <a:rPr lang="en-US" sz="1500" b="1" i="0" kern="1200" baseline="0">
              <a:solidFill>
                <a:srgbClr val="B95CDE"/>
              </a:solidFill>
            </a:rPr>
            <a:t>Midmarket (44% contribution)</a:t>
          </a:r>
          <a:endParaRPr lang="en-US" sz="1500" kern="1200">
            <a:solidFill>
              <a:srgbClr val="B95CDE"/>
            </a:solidFill>
          </a:endParaRPr>
        </a:p>
      </dsp:txBody>
      <dsp:txXfrm>
        <a:off x="17991" y="1672411"/>
        <a:ext cx="8672988" cy="332567"/>
      </dsp:txXfrm>
    </dsp:sp>
    <dsp:sp modelId="{03777976-78CC-4C3B-9EB8-C87703454310}">
      <dsp:nvSpPr>
        <dsp:cNvPr id="0" name=""/>
        <dsp:cNvSpPr/>
      </dsp:nvSpPr>
      <dsp:spPr>
        <a:xfrm>
          <a:off x="0" y="2066170"/>
          <a:ext cx="8708970" cy="368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>
              <a:solidFill>
                <a:srgbClr val="B95CDE"/>
              </a:solidFill>
            </a:rPr>
            <a:t>Discounts significantly impact sales, especially in the </a:t>
          </a:r>
          <a:r>
            <a:rPr lang="en-US" sz="1500" b="1" i="0" kern="1200" baseline="0">
              <a:solidFill>
                <a:srgbClr val="B95CDE"/>
              </a:solidFill>
            </a:rPr>
            <a:t>Low and Medium</a:t>
          </a:r>
          <a:r>
            <a:rPr lang="en-US" sz="1500" b="0" i="0" kern="1200" baseline="0">
              <a:solidFill>
                <a:srgbClr val="B95CDE"/>
              </a:solidFill>
            </a:rPr>
            <a:t> bands.</a:t>
          </a:r>
          <a:endParaRPr lang="en-US" sz="1500" kern="1200">
            <a:solidFill>
              <a:srgbClr val="B95CDE"/>
            </a:solidFill>
          </a:endParaRPr>
        </a:p>
      </dsp:txBody>
      <dsp:txXfrm>
        <a:off x="17991" y="2084161"/>
        <a:ext cx="8672988" cy="332567"/>
      </dsp:txXfrm>
    </dsp:sp>
    <dsp:sp modelId="{51660B56-9B70-407D-95DC-11EFB3C47D9A}">
      <dsp:nvSpPr>
        <dsp:cNvPr id="0" name=""/>
        <dsp:cNvSpPr/>
      </dsp:nvSpPr>
      <dsp:spPr>
        <a:xfrm>
          <a:off x="0" y="2477920"/>
          <a:ext cx="8708970" cy="368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>
              <a:solidFill>
                <a:srgbClr val="B95CDE"/>
              </a:solidFill>
            </a:rPr>
            <a:t>Sales peak in </a:t>
          </a:r>
          <a:r>
            <a:rPr lang="en-US" sz="1500" b="1" i="0" kern="1200" baseline="0">
              <a:solidFill>
                <a:srgbClr val="B95CDE"/>
              </a:solidFill>
            </a:rPr>
            <a:t>October &amp; November</a:t>
          </a:r>
          <a:r>
            <a:rPr lang="en-US" sz="1500" b="0" i="0" kern="1200" baseline="0">
              <a:solidFill>
                <a:srgbClr val="B95CDE"/>
              </a:solidFill>
            </a:rPr>
            <a:t>.</a:t>
          </a:r>
          <a:endParaRPr lang="en-US" sz="1500" kern="1200">
            <a:solidFill>
              <a:srgbClr val="B95CDE"/>
            </a:solidFill>
          </a:endParaRPr>
        </a:p>
      </dsp:txBody>
      <dsp:txXfrm>
        <a:off x="17991" y="2495911"/>
        <a:ext cx="8672988" cy="332567"/>
      </dsp:txXfrm>
    </dsp:sp>
    <dsp:sp modelId="{0C10C2DC-8445-4184-98E0-B783577BFAAB}">
      <dsp:nvSpPr>
        <dsp:cNvPr id="0" name=""/>
        <dsp:cNvSpPr/>
      </dsp:nvSpPr>
      <dsp:spPr>
        <a:xfrm>
          <a:off x="0" y="2889670"/>
          <a:ext cx="8708970" cy="3685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>
              <a:solidFill>
                <a:srgbClr val="B95CDE"/>
              </a:solidFill>
            </a:rPr>
            <a:t>Top product by sales: </a:t>
          </a:r>
          <a:r>
            <a:rPr lang="en-US" sz="1500" b="1" i="0" kern="1200" baseline="0">
              <a:solidFill>
                <a:srgbClr val="B95CDE"/>
              </a:solidFill>
            </a:rPr>
            <a:t>Paseo (≈ $3.3M)</a:t>
          </a:r>
          <a:endParaRPr lang="en-US" sz="1500" kern="1200">
            <a:solidFill>
              <a:srgbClr val="B95CDE"/>
            </a:solidFill>
          </a:endParaRPr>
        </a:p>
      </dsp:txBody>
      <dsp:txXfrm>
        <a:off x="17991" y="2907661"/>
        <a:ext cx="8672988" cy="3325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14A5CC-0FBE-440C-90C9-F9B8083BF0DE}">
      <dsp:nvSpPr>
        <dsp:cNvPr id="0" name=""/>
        <dsp:cNvSpPr/>
      </dsp:nvSpPr>
      <dsp:spPr>
        <a:xfrm>
          <a:off x="0" y="0"/>
          <a:ext cx="7006593" cy="432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bg1"/>
              </a:solidFill>
            </a:rPr>
            <a:t>Key Insight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0" y="0"/>
        <a:ext cx="7006593" cy="432000"/>
      </dsp:txXfrm>
    </dsp:sp>
    <dsp:sp modelId="{5C86F13F-65CA-449A-9BF4-5B300D43DE85}">
      <dsp:nvSpPr>
        <dsp:cNvPr id="0" name=""/>
        <dsp:cNvSpPr/>
      </dsp:nvSpPr>
      <dsp:spPr>
        <a:xfrm>
          <a:off x="0" y="435757"/>
          <a:ext cx="7006593" cy="6588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USA leads with </a:t>
          </a:r>
          <a:r>
            <a:rPr lang="en-US" sz="1500" b="1" kern="1200" dirty="0"/>
            <a:t>$25M</a:t>
          </a:r>
          <a:r>
            <a:rPr lang="en-US" sz="1500" kern="1200" dirty="0"/>
            <a:t>, followed closely by Mexico and France.</a:t>
          </a:r>
          <a:br>
            <a:rPr lang="en-US" sz="1500" kern="1200" dirty="0"/>
          </a:br>
          <a:r>
            <a:rPr lang="en-US" sz="1500" kern="1200" dirty="0"/>
            <a:t>Canada has the lowest sales among the five countries.</a:t>
          </a:r>
        </a:p>
      </dsp:txBody>
      <dsp:txXfrm>
        <a:off x="0" y="435757"/>
        <a:ext cx="7006593" cy="6588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F912FE-7EAA-468E-ADC8-4DFD1D7770D7}">
      <dsp:nvSpPr>
        <dsp:cNvPr id="0" name=""/>
        <dsp:cNvSpPr/>
      </dsp:nvSpPr>
      <dsp:spPr>
        <a:xfrm>
          <a:off x="1418891" y="1219"/>
          <a:ext cx="1596253" cy="5333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>
              <a:solidFill>
                <a:srgbClr val="B95CDE"/>
              </a:solidFill>
            </a:rPr>
            <a:t>Midmarket → 44%</a:t>
          </a:r>
          <a:endParaRPr lang="en-US" sz="1500" b="1" kern="1200">
            <a:solidFill>
              <a:srgbClr val="B95CDE"/>
            </a:solidFill>
          </a:endParaRPr>
        </a:p>
      </dsp:txBody>
      <dsp:txXfrm>
        <a:off x="1444927" y="27255"/>
        <a:ext cx="1544181" cy="481277"/>
      </dsp:txXfrm>
    </dsp:sp>
    <dsp:sp modelId="{B2F22716-CAB5-49B8-9BE4-41E5C6C68F9A}">
      <dsp:nvSpPr>
        <dsp:cNvPr id="0" name=""/>
        <dsp:cNvSpPr/>
      </dsp:nvSpPr>
      <dsp:spPr>
        <a:xfrm>
          <a:off x="1418891" y="561236"/>
          <a:ext cx="1596253" cy="5333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>
              <a:solidFill>
                <a:srgbClr val="B95CDE"/>
              </a:solidFill>
            </a:rPr>
            <a:t>Government → 36%</a:t>
          </a:r>
          <a:endParaRPr lang="en-US" sz="1500" b="1" kern="1200">
            <a:solidFill>
              <a:srgbClr val="B95CDE"/>
            </a:solidFill>
          </a:endParaRPr>
        </a:p>
      </dsp:txBody>
      <dsp:txXfrm>
        <a:off x="1444927" y="587272"/>
        <a:ext cx="1544181" cy="481277"/>
      </dsp:txXfrm>
    </dsp:sp>
    <dsp:sp modelId="{94190CDA-8C79-45A9-83FE-DA2BC5EAA5C5}">
      <dsp:nvSpPr>
        <dsp:cNvPr id="0" name=""/>
        <dsp:cNvSpPr/>
      </dsp:nvSpPr>
      <dsp:spPr>
        <a:xfrm>
          <a:off x="1418891" y="1121253"/>
          <a:ext cx="1596253" cy="5333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>
              <a:solidFill>
                <a:srgbClr val="B95CDE"/>
              </a:solidFill>
            </a:rPr>
            <a:t>Enterprise → 17%</a:t>
          </a:r>
          <a:endParaRPr lang="en-US" sz="1500" b="1" kern="1200">
            <a:solidFill>
              <a:srgbClr val="B95CDE"/>
            </a:solidFill>
          </a:endParaRPr>
        </a:p>
      </dsp:txBody>
      <dsp:txXfrm>
        <a:off x="1444927" y="1147289"/>
        <a:ext cx="1544181" cy="481277"/>
      </dsp:txXfrm>
    </dsp:sp>
    <dsp:sp modelId="{F8F01834-6A7C-4A2F-8B08-C88CB07759CE}">
      <dsp:nvSpPr>
        <dsp:cNvPr id="0" name=""/>
        <dsp:cNvSpPr/>
      </dsp:nvSpPr>
      <dsp:spPr>
        <a:xfrm>
          <a:off x="1418891" y="1681270"/>
          <a:ext cx="1596253" cy="5333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>
              <a:solidFill>
                <a:srgbClr val="B95CDE"/>
              </a:solidFill>
            </a:rPr>
            <a:t>Channel Partners → 1%</a:t>
          </a:r>
          <a:endParaRPr lang="en-US" sz="1500" b="1" kern="1200">
            <a:solidFill>
              <a:srgbClr val="B95CDE"/>
            </a:solidFill>
          </a:endParaRPr>
        </a:p>
      </dsp:txBody>
      <dsp:txXfrm>
        <a:off x="1444927" y="1707306"/>
        <a:ext cx="1544181" cy="481277"/>
      </dsp:txXfrm>
    </dsp:sp>
    <dsp:sp modelId="{C1F3444C-9AEE-4B85-9510-E18991DEE2DC}">
      <dsp:nvSpPr>
        <dsp:cNvPr id="0" name=""/>
        <dsp:cNvSpPr/>
      </dsp:nvSpPr>
      <dsp:spPr>
        <a:xfrm>
          <a:off x="1418891" y="2241287"/>
          <a:ext cx="1596253" cy="53334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i="0" kern="1200" baseline="0">
              <a:solidFill>
                <a:srgbClr val="B95CDE"/>
              </a:solidFill>
            </a:rPr>
            <a:t>Small Business → 2%</a:t>
          </a:r>
          <a:endParaRPr lang="en-US" sz="1500" b="1" kern="1200">
            <a:solidFill>
              <a:srgbClr val="B95CDE"/>
            </a:solidFill>
          </a:endParaRPr>
        </a:p>
      </dsp:txBody>
      <dsp:txXfrm>
        <a:off x="1444927" y="2267323"/>
        <a:ext cx="1544181" cy="48127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14A5CC-0FBE-440C-90C9-F9B8083BF0DE}">
      <dsp:nvSpPr>
        <dsp:cNvPr id="0" name=""/>
        <dsp:cNvSpPr/>
      </dsp:nvSpPr>
      <dsp:spPr>
        <a:xfrm>
          <a:off x="0" y="0"/>
          <a:ext cx="7006593" cy="432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solidFill>
                <a:schemeClr val="bg1"/>
              </a:solidFill>
            </a:rPr>
            <a:t>Key Insight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0" y="0"/>
        <a:ext cx="7006593" cy="432000"/>
      </dsp:txXfrm>
    </dsp:sp>
    <dsp:sp modelId="{5C86F13F-65CA-449A-9BF4-5B300D43DE85}">
      <dsp:nvSpPr>
        <dsp:cNvPr id="0" name=""/>
        <dsp:cNvSpPr/>
      </dsp:nvSpPr>
      <dsp:spPr>
        <a:xfrm>
          <a:off x="0" y="435757"/>
          <a:ext cx="7006593" cy="6588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Midmarket + Government together generate </a:t>
          </a:r>
          <a:r>
            <a:rPr lang="en-US" sz="1500" b="1" kern="1200" dirty="0"/>
            <a:t>80%+</a:t>
          </a:r>
          <a:r>
            <a:rPr lang="en-US" sz="1500" kern="1200" dirty="0"/>
            <a:t> of revenue.</a:t>
          </a:r>
        </a:p>
      </dsp:txBody>
      <dsp:txXfrm>
        <a:off x="0" y="435757"/>
        <a:ext cx="7006593" cy="6588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A6BA27-E399-442B-95D3-0152CEC34DC2}">
      <dsp:nvSpPr>
        <dsp:cNvPr id="0" name=""/>
        <dsp:cNvSpPr/>
      </dsp:nvSpPr>
      <dsp:spPr>
        <a:xfrm>
          <a:off x="1323982" y="1203"/>
          <a:ext cx="1489480" cy="57899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srgbClr val="B95CDE"/>
              </a:solidFill>
            </a:rPr>
            <a:t>Low Discount → </a:t>
          </a:r>
          <a:r>
            <a:rPr lang="en-US" sz="1600" b="1" i="0" kern="1200" baseline="0">
              <a:solidFill>
                <a:srgbClr val="B95CDE"/>
              </a:solidFill>
            </a:rPr>
            <a:t>$6,188,857</a:t>
          </a:r>
          <a:endParaRPr lang="en-US" sz="1600" kern="1200">
            <a:solidFill>
              <a:srgbClr val="B95CDE"/>
            </a:solidFill>
          </a:endParaRPr>
        </a:p>
      </dsp:txBody>
      <dsp:txXfrm>
        <a:off x="1352246" y="29467"/>
        <a:ext cx="1432952" cy="522468"/>
      </dsp:txXfrm>
    </dsp:sp>
    <dsp:sp modelId="{9DC3048A-4655-4F11-A179-6B7BE5819F4E}">
      <dsp:nvSpPr>
        <dsp:cNvPr id="0" name=""/>
        <dsp:cNvSpPr/>
      </dsp:nvSpPr>
      <dsp:spPr>
        <a:xfrm>
          <a:off x="1323982" y="609149"/>
          <a:ext cx="1489480" cy="57899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srgbClr val="B95CDE"/>
              </a:solidFill>
            </a:rPr>
            <a:t>Medium → </a:t>
          </a:r>
          <a:r>
            <a:rPr lang="en-US" sz="1600" b="1" i="0" kern="1200" baseline="0">
              <a:solidFill>
                <a:srgbClr val="B95CDE"/>
              </a:solidFill>
            </a:rPr>
            <a:t>$5,575,222</a:t>
          </a:r>
          <a:endParaRPr lang="en-US" sz="1600" kern="1200">
            <a:solidFill>
              <a:srgbClr val="B95CDE"/>
            </a:solidFill>
          </a:endParaRPr>
        </a:p>
      </dsp:txBody>
      <dsp:txXfrm>
        <a:off x="1352246" y="637413"/>
        <a:ext cx="1432952" cy="522468"/>
      </dsp:txXfrm>
    </dsp:sp>
    <dsp:sp modelId="{C7EBBBA2-3231-40E8-B9CB-7E20A32584D0}">
      <dsp:nvSpPr>
        <dsp:cNvPr id="0" name=""/>
        <dsp:cNvSpPr/>
      </dsp:nvSpPr>
      <dsp:spPr>
        <a:xfrm>
          <a:off x="1323982" y="1217095"/>
          <a:ext cx="1489480" cy="57899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srgbClr val="B95CDE"/>
              </a:solidFill>
            </a:rPr>
            <a:t>High → </a:t>
          </a:r>
          <a:r>
            <a:rPr lang="en-US" sz="1600" b="1" i="0" kern="1200" baseline="0">
              <a:solidFill>
                <a:srgbClr val="B95CDE"/>
              </a:solidFill>
            </a:rPr>
            <a:t>$3,388,866</a:t>
          </a:r>
          <a:endParaRPr lang="en-US" sz="1600" kern="1200">
            <a:solidFill>
              <a:srgbClr val="B95CDE"/>
            </a:solidFill>
          </a:endParaRPr>
        </a:p>
      </dsp:txBody>
      <dsp:txXfrm>
        <a:off x="1352246" y="1245359"/>
        <a:ext cx="1432952" cy="522468"/>
      </dsp:txXfrm>
    </dsp:sp>
    <dsp:sp modelId="{AD96D5AA-FF19-408B-A782-F7A4EA3D2F3F}">
      <dsp:nvSpPr>
        <dsp:cNvPr id="0" name=""/>
        <dsp:cNvSpPr/>
      </dsp:nvSpPr>
      <dsp:spPr>
        <a:xfrm>
          <a:off x="1323982" y="1825041"/>
          <a:ext cx="1489480" cy="57899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>
              <a:solidFill>
                <a:srgbClr val="B95CDE"/>
              </a:solidFill>
            </a:rPr>
            <a:t>None → </a:t>
          </a:r>
          <a:r>
            <a:rPr lang="en-US" sz="1600" b="1" i="0" kern="1200" baseline="0">
              <a:solidFill>
                <a:srgbClr val="B95CDE"/>
              </a:solidFill>
            </a:rPr>
            <a:t>$1,736,455</a:t>
          </a:r>
          <a:endParaRPr lang="en-US" sz="1600" kern="1200">
            <a:solidFill>
              <a:srgbClr val="B95CDE"/>
            </a:solidFill>
          </a:endParaRPr>
        </a:p>
      </dsp:txBody>
      <dsp:txXfrm>
        <a:off x="1352246" y="1853305"/>
        <a:ext cx="1432952" cy="5224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14A5CC-0FBE-440C-90C9-F9B8083BF0DE}">
      <dsp:nvSpPr>
        <dsp:cNvPr id="0" name=""/>
        <dsp:cNvSpPr/>
      </dsp:nvSpPr>
      <dsp:spPr>
        <a:xfrm>
          <a:off x="0" y="3756"/>
          <a:ext cx="7006593" cy="432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Interpretation:</a:t>
          </a:r>
          <a:endParaRPr lang="en-US" sz="1500" kern="1200" dirty="0"/>
        </a:p>
      </dsp:txBody>
      <dsp:txXfrm>
        <a:off x="0" y="3756"/>
        <a:ext cx="7006593" cy="432000"/>
      </dsp:txXfrm>
    </dsp:sp>
    <dsp:sp modelId="{5C86F13F-65CA-449A-9BF4-5B300D43DE85}">
      <dsp:nvSpPr>
        <dsp:cNvPr id="0" name=""/>
        <dsp:cNvSpPr/>
      </dsp:nvSpPr>
      <dsp:spPr>
        <a:xfrm>
          <a:off x="0" y="435757"/>
          <a:ext cx="7006593" cy="6588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Lower discount bands drive </a:t>
          </a:r>
          <a:r>
            <a:rPr lang="en-US" sz="1500" b="1" kern="1200"/>
            <a:t>maximum sales volume</a:t>
          </a:r>
          <a:r>
            <a:rPr lang="en-US" sz="1500" kern="1200"/>
            <a:t>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High discounts reduce profitability.</a:t>
          </a:r>
        </a:p>
      </dsp:txBody>
      <dsp:txXfrm>
        <a:off x="0" y="435757"/>
        <a:ext cx="7006593" cy="6588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118603-9200-4CC8-AA4F-B2946FAAC95A}">
      <dsp:nvSpPr>
        <dsp:cNvPr id="0" name=""/>
        <dsp:cNvSpPr/>
      </dsp:nvSpPr>
      <dsp:spPr>
        <a:xfrm rot="5400000">
          <a:off x="1260715" y="98510"/>
          <a:ext cx="1775156" cy="2021923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Stable sales around $4M–$8M per month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Slight drop in June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Peak in December</a:t>
          </a:r>
          <a:br>
            <a:rPr lang="en-US" sz="1500" kern="1200" dirty="0"/>
          </a:br>
          <a:br>
            <a:rPr lang="en-US" sz="1500" kern="1200" dirty="0"/>
          </a:br>
          <a:endParaRPr lang="en-US" sz="1500" kern="1200" dirty="0"/>
        </a:p>
      </dsp:txBody>
      <dsp:txXfrm rot="-5400000">
        <a:off x="1137332" y="308549"/>
        <a:ext cx="1935267" cy="1601844"/>
      </dsp:txXfrm>
    </dsp:sp>
    <dsp:sp modelId="{B31DE728-6856-418C-AD4C-2760B6FAA73F}">
      <dsp:nvSpPr>
        <dsp:cNvPr id="0" name=""/>
        <dsp:cNvSpPr/>
      </dsp:nvSpPr>
      <dsp:spPr>
        <a:xfrm>
          <a:off x="0" y="0"/>
          <a:ext cx="1137331" cy="22189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2013</a:t>
          </a:r>
          <a:endParaRPr lang="en-US" sz="2900" kern="1200"/>
        </a:p>
      </dsp:txBody>
      <dsp:txXfrm>
        <a:off x="55520" y="55520"/>
        <a:ext cx="1026291" cy="210790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70E06D-2ED9-4CC9-8788-C988FACD10B4}">
      <dsp:nvSpPr>
        <dsp:cNvPr id="0" name=""/>
        <dsp:cNvSpPr/>
      </dsp:nvSpPr>
      <dsp:spPr>
        <a:xfrm rot="5400000">
          <a:off x="1260715" y="98510"/>
          <a:ext cx="1775156" cy="2021923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Higher volatility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Massive peak in </a:t>
          </a:r>
          <a:r>
            <a:rPr lang="en-US" sz="1500" b="1" kern="1200"/>
            <a:t>October (Top performing month)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Decline in Nov–Dec.</a:t>
          </a:r>
        </a:p>
      </dsp:txBody>
      <dsp:txXfrm rot="-5400000">
        <a:off x="1137332" y="308549"/>
        <a:ext cx="1935267" cy="1601844"/>
      </dsp:txXfrm>
    </dsp:sp>
    <dsp:sp modelId="{BAE6ABC7-12B9-4707-BFBF-F3C8BCC1934B}">
      <dsp:nvSpPr>
        <dsp:cNvPr id="0" name=""/>
        <dsp:cNvSpPr/>
      </dsp:nvSpPr>
      <dsp:spPr>
        <a:xfrm>
          <a:off x="0" y="0"/>
          <a:ext cx="1137331" cy="221894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2014</a:t>
          </a:r>
          <a:endParaRPr lang="en-US" sz="2900" kern="1200"/>
        </a:p>
      </dsp:txBody>
      <dsp:txXfrm>
        <a:off x="55520" y="55520"/>
        <a:ext cx="1026291" cy="210790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14A5CC-0FBE-440C-90C9-F9B8083BF0DE}">
      <dsp:nvSpPr>
        <dsp:cNvPr id="0" name=""/>
        <dsp:cNvSpPr/>
      </dsp:nvSpPr>
      <dsp:spPr>
        <a:xfrm>
          <a:off x="0" y="3756"/>
          <a:ext cx="7006593" cy="432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Interpretation:</a:t>
          </a:r>
          <a:endParaRPr lang="en-US" sz="1500" kern="1200"/>
        </a:p>
      </dsp:txBody>
      <dsp:txXfrm>
        <a:off x="0" y="3756"/>
        <a:ext cx="7006593" cy="432000"/>
      </dsp:txXfrm>
    </dsp:sp>
    <dsp:sp modelId="{5C86F13F-65CA-449A-9BF4-5B300D43DE85}">
      <dsp:nvSpPr>
        <dsp:cNvPr id="0" name=""/>
        <dsp:cNvSpPr/>
      </dsp:nvSpPr>
      <dsp:spPr>
        <a:xfrm>
          <a:off x="0" y="435757"/>
          <a:ext cx="7006593" cy="6588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Sales exhibit clear </a:t>
          </a:r>
          <a:r>
            <a:rPr lang="en-US" sz="1500" b="1" kern="1200" dirty="0"/>
            <a:t>Q4 seasonality</a:t>
          </a:r>
          <a:r>
            <a:rPr lang="en-US" sz="1500" kern="1200" dirty="0"/>
            <a:t>, especially in 2014.</a:t>
          </a:r>
        </a:p>
      </dsp:txBody>
      <dsp:txXfrm>
        <a:off x="0" y="435757"/>
        <a:ext cx="7006593" cy="6588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14A5CC-0FBE-440C-90C9-F9B8083BF0DE}">
      <dsp:nvSpPr>
        <dsp:cNvPr id="0" name=""/>
        <dsp:cNvSpPr/>
      </dsp:nvSpPr>
      <dsp:spPr>
        <a:xfrm>
          <a:off x="0" y="3756"/>
          <a:ext cx="7006593" cy="432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Interpretation:</a:t>
          </a:r>
          <a:endParaRPr lang="en-US" sz="1500" kern="1200"/>
        </a:p>
      </dsp:txBody>
      <dsp:txXfrm>
        <a:off x="0" y="3756"/>
        <a:ext cx="7006593" cy="432000"/>
      </dsp:txXfrm>
    </dsp:sp>
    <dsp:sp modelId="{5C86F13F-65CA-449A-9BF4-5B300D43DE85}">
      <dsp:nvSpPr>
        <dsp:cNvPr id="0" name=""/>
        <dsp:cNvSpPr/>
      </dsp:nvSpPr>
      <dsp:spPr>
        <a:xfrm>
          <a:off x="0" y="435757"/>
          <a:ext cx="7006593" cy="6588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Sales exhibit clear </a:t>
          </a:r>
          <a:r>
            <a:rPr lang="en-US" sz="1500" b="1" kern="1200" dirty="0"/>
            <a:t>Q4 seasonality</a:t>
          </a:r>
          <a:r>
            <a:rPr lang="en-US" sz="1500" kern="1200" dirty="0"/>
            <a:t>, especially in 2014.</a:t>
          </a:r>
        </a:p>
      </dsp:txBody>
      <dsp:txXfrm>
        <a:off x="0" y="435757"/>
        <a:ext cx="7006593" cy="6588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D9F66-F4DC-4AC8-9B06-B45F5B236E4D}">
      <dsp:nvSpPr>
        <dsp:cNvPr id="0" name=""/>
        <dsp:cNvSpPr/>
      </dsp:nvSpPr>
      <dsp:spPr>
        <a:xfrm>
          <a:off x="471" y="0"/>
          <a:ext cx="833990" cy="27758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B95CDE"/>
              </a:solidFill>
            </a:rPr>
            <a:t>Paseo  $3.30M</a:t>
          </a:r>
        </a:p>
      </dsp:txBody>
      <dsp:txXfrm>
        <a:off x="24898" y="24427"/>
        <a:ext cx="785136" cy="2727002"/>
      </dsp:txXfrm>
    </dsp:sp>
    <dsp:sp modelId="{CC3B93CF-834D-4796-BCEC-995F75D7ACFA}">
      <dsp:nvSpPr>
        <dsp:cNvPr id="0" name=""/>
        <dsp:cNvSpPr/>
      </dsp:nvSpPr>
      <dsp:spPr>
        <a:xfrm>
          <a:off x="974571" y="0"/>
          <a:ext cx="833990" cy="27758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B95CDE"/>
              </a:solidFill>
            </a:rPr>
            <a:t>VTT $2.05M</a:t>
          </a:r>
        </a:p>
      </dsp:txBody>
      <dsp:txXfrm>
        <a:off x="998998" y="24427"/>
        <a:ext cx="785136" cy="2727002"/>
      </dsp:txXfrm>
    </dsp:sp>
    <dsp:sp modelId="{8A4BBFFD-65D3-4282-B693-9BB09083B88B}">
      <dsp:nvSpPr>
        <dsp:cNvPr id="0" name=""/>
        <dsp:cNvSpPr/>
      </dsp:nvSpPr>
      <dsp:spPr>
        <a:xfrm>
          <a:off x="1948671" y="0"/>
          <a:ext cx="833990" cy="27758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B95CDE"/>
              </a:solidFill>
            </a:rPr>
            <a:t>Velo $1.83M</a:t>
          </a:r>
        </a:p>
      </dsp:txBody>
      <dsp:txXfrm>
        <a:off x="1973098" y="24427"/>
        <a:ext cx="785136" cy="2727002"/>
      </dsp:txXfrm>
    </dsp:sp>
    <dsp:sp modelId="{4D870EFE-9A96-4B9D-8A5F-D5152B1DCC28}">
      <dsp:nvSpPr>
        <dsp:cNvPr id="0" name=""/>
        <dsp:cNvSpPr/>
      </dsp:nvSpPr>
      <dsp:spPr>
        <a:xfrm>
          <a:off x="2922772" y="0"/>
          <a:ext cx="833990" cy="27758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B95CDE"/>
              </a:solidFill>
            </a:rPr>
            <a:t>Amarilla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rgbClr val="B95CDE"/>
              </a:solidFill>
            </a:rPr>
            <a:t>$1.77M</a:t>
          </a:r>
        </a:p>
      </dsp:txBody>
      <dsp:txXfrm>
        <a:off x="2947199" y="24427"/>
        <a:ext cx="785136" cy="2727002"/>
      </dsp:txXfrm>
    </dsp:sp>
    <dsp:sp modelId="{30449864-5207-45F8-A4EA-61B0D632F142}">
      <dsp:nvSpPr>
        <dsp:cNvPr id="0" name=""/>
        <dsp:cNvSpPr/>
      </dsp:nvSpPr>
      <dsp:spPr>
        <a:xfrm>
          <a:off x="3896872" y="0"/>
          <a:ext cx="833990" cy="277585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300" b="1" kern="1200" dirty="0">
              <a:solidFill>
                <a:srgbClr val="B95CDE"/>
              </a:solidFill>
            </a:rPr>
            <a:t>Montana  $1.53M</a:t>
          </a:r>
        </a:p>
      </dsp:txBody>
      <dsp:txXfrm>
        <a:off x="3921299" y="24427"/>
        <a:ext cx="785136" cy="272700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70E06D-2ED9-4CC9-8788-C988FACD10B4}">
      <dsp:nvSpPr>
        <dsp:cNvPr id="0" name=""/>
        <dsp:cNvSpPr/>
      </dsp:nvSpPr>
      <dsp:spPr>
        <a:xfrm rot="5400000">
          <a:off x="1261582" y="98510"/>
          <a:ext cx="1773422" cy="2021923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Sales: ~ $7.92M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COGS: ~ $2.64M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Profit: ~ $5.37M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900" kern="1200" dirty="0"/>
        </a:p>
      </dsp:txBody>
      <dsp:txXfrm rot="-5400000">
        <a:off x="1137332" y="309332"/>
        <a:ext cx="1935352" cy="1600280"/>
      </dsp:txXfrm>
    </dsp:sp>
    <dsp:sp modelId="{BAE6ABC7-12B9-4707-BFBF-F3C8BCC1934B}">
      <dsp:nvSpPr>
        <dsp:cNvPr id="0" name=""/>
        <dsp:cNvSpPr/>
      </dsp:nvSpPr>
      <dsp:spPr>
        <a:xfrm>
          <a:off x="0" y="1083"/>
          <a:ext cx="1137331" cy="221677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2014</a:t>
          </a:r>
          <a:endParaRPr lang="en-US" sz="2900" kern="1200"/>
        </a:p>
      </dsp:txBody>
      <dsp:txXfrm>
        <a:off x="55520" y="56603"/>
        <a:ext cx="1026291" cy="210573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14A5CC-0FBE-440C-90C9-F9B8083BF0DE}">
      <dsp:nvSpPr>
        <dsp:cNvPr id="0" name=""/>
        <dsp:cNvSpPr/>
      </dsp:nvSpPr>
      <dsp:spPr>
        <a:xfrm>
          <a:off x="0" y="3756"/>
          <a:ext cx="7006593" cy="432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Insight</a:t>
          </a:r>
        </a:p>
      </dsp:txBody>
      <dsp:txXfrm>
        <a:off x="0" y="3756"/>
        <a:ext cx="7006593" cy="432000"/>
      </dsp:txXfrm>
    </dsp:sp>
    <dsp:sp modelId="{5C86F13F-65CA-449A-9BF4-5B300D43DE85}">
      <dsp:nvSpPr>
        <dsp:cNvPr id="0" name=""/>
        <dsp:cNvSpPr/>
      </dsp:nvSpPr>
      <dsp:spPr>
        <a:xfrm>
          <a:off x="0" y="435757"/>
          <a:ext cx="7006593" cy="65880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2013 generated </a:t>
          </a:r>
          <a:r>
            <a:rPr lang="en-US" sz="1500" b="1" kern="1200" dirty="0"/>
            <a:t>higher profit</a:t>
          </a:r>
          <a:r>
            <a:rPr lang="en-US" sz="1500" kern="1200" dirty="0"/>
            <a:t> than 2014, despite similar sales volumes.</a:t>
          </a:r>
        </a:p>
      </dsp:txBody>
      <dsp:txXfrm>
        <a:off x="0" y="435757"/>
        <a:ext cx="7006593" cy="6588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70E06D-2ED9-4CC9-8788-C988FACD10B4}">
      <dsp:nvSpPr>
        <dsp:cNvPr id="0" name=""/>
        <dsp:cNvSpPr/>
      </dsp:nvSpPr>
      <dsp:spPr>
        <a:xfrm rot="5400000">
          <a:off x="1261582" y="98510"/>
          <a:ext cx="1773422" cy="2021923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Sales: ~$9.23M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COGS: ~ $2.25M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Profit: ~ $7.97M</a:t>
          </a:r>
        </a:p>
      </dsp:txBody>
      <dsp:txXfrm rot="-5400000">
        <a:off x="1137332" y="309332"/>
        <a:ext cx="1935352" cy="1600280"/>
      </dsp:txXfrm>
    </dsp:sp>
    <dsp:sp modelId="{BAE6ABC7-12B9-4707-BFBF-F3C8BCC1934B}">
      <dsp:nvSpPr>
        <dsp:cNvPr id="0" name=""/>
        <dsp:cNvSpPr/>
      </dsp:nvSpPr>
      <dsp:spPr>
        <a:xfrm>
          <a:off x="0" y="1083"/>
          <a:ext cx="1137331" cy="221677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2013</a:t>
          </a:r>
          <a:endParaRPr lang="en-US" sz="2900" kern="1200" dirty="0"/>
        </a:p>
      </dsp:txBody>
      <dsp:txXfrm>
        <a:off x="55520" y="56603"/>
        <a:ext cx="1026291" cy="210573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14A5CC-0FBE-440C-90C9-F9B8083BF0DE}">
      <dsp:nvSpPr>
        <dsp:cNvPr id="0" name=""/>
        <dsp:cNvSpPr/>
      </dsp:nvSpPr>
      <dsp:spPr>
        <a:xfrm>
          <a:off x="0" y="300100"/>
          <a:ext cx="8909538" cy="8928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125984" rIns="220472" bIns="125984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 dirty="0"/>
            <a:t>Insight</a:t>
          </a:r>
        </a:p>
      </dsp:txBody>
      <dsp:txXfrm>
        <a:off x="0" y="300100"/>
        <a:ext cx="8909538" cy="892800"/>
      </dsp:txXfrm>
    </dsp:sp>
    <dsp:sp modelId="{5C86F13F-65CA-449A-9BF4-5B300D43DE85}">
      <dsp:nvSpPr>
        <dsp:cNvPr id="0" name=""/>
        <dsp:cNvSpPr/>
      </dsp:nvSpPr>
      <dsp:spPr>
        <a:xfrm>
          <a:off x="0" y="1192900"/>
          <a:ext cx="8909538" cy="382927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3100" kern="1200" dirty="0"/>
            <a:t>USA is the highest contributing country.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3100" kern="1200" dirty="0"/>
            <a:t>Midmarket is the strongest performing segment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3100" kern="1200" dirty="0"/>
            <a:t>Paseo is the top-selling product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3100" kern="1200" dirty="0"/>
            <a:t>Low &amp; Medium discounts create maximum sales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3100" kern="1200" dirty="0"/>
            <a:t>Sales improve heavily during October–December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3100" kern="1200" dirty="0"/>
            <a:t>2013 had stronger profitability than 2014</a:t>
          </a:r>
        </a:p>
      </dsp:txBody>
      <dsp:txXfrm>
        <a:off x="0" y="1192900"/>
        <a:ext cx="8909538" cy="382927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14A5CC-0FBE-440C-90C9-F9B8083BF0DE}">
      <dsp:nvSpPr>
        <dsp:cNvPr id="0" name=""/>
        <dsp:cNvSpPr/>
      </dsp:nvSpPr>
      <dsp:spPr>
        <a:xfrm>
          <a:off x="0" y="37961"/>
          <a:ext cx="8551030" cy="8352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117856" rIns="206248" bIns="117856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Insight</a:t>
          </a:r>
        </a:p>
      </dsp:txBody>
      <dsp:txXfrm>
        <a:off x="0" y="37961"/>
        <a:ext cx="8551030" cy="835200"/>
      </dsp:txXfrm>
    </dsp:sp>
    <dsp:sp modelId="{5C86F13F-65CA-449A-9BF4-5B300D43DE85}">
      <dsp:nvSpPr>
        <dsp:cNvPr id="0" name=""/>
        <dsp:cNvSpPr/>
      </dsp:nvSpPr>
      <dsp:spPr>
        <a:xfrm>
          <a:off x="0" y="873161"/>
          <a:ext cx="8551030" cy="437827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900" b="1" kern="1200" dirty="0"/>
            <a:t>Boost inventory</a:t>
          </a:r>
          <a:r>
            <a:rPr lang="en-US" sz="2900" kern="1200" dirty="0"/>
            <a:t> for top products (Paseo, VTT, Velo) in peak months.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900" b="1" kern="1200" dirty="0"/>
            <a:t>Target Midmarket &amp; Government segments</a:t>
          </a:r>
          <a:r>
            <a:rPr lang="en-US" sz="2900" kern="1200" dirty="0"/>
            <a:t> with marketing campaigns.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900" b="1" kern="1200" dirty="0"/>
            <a:t>Optimize discount strategy</a:t>
          </a:r>
          <a:r>
            <a:rPr lang="en-US" sz="2900" kern="1200" dirty="0"/>
            <a:t>—reduce high discounts.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900" b="1" kern="1200" dirty="0"/>
            <a:t>Focus on Canada</a:t>
          </a:r>
          <a:r>
            <a:rPr lang="en-US" sz="2900" kern="1200" dirty="0"/>
            <a:t> to improve its performance.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Wingdings" panose="05000000000000000000" pitchFamily="2" charset="2"/>
            <a:buChar char="Ø"/>
          </a:pPr>
          <a:r>
            <a:rPr lang="en-US" sz="2900" b="1" kern="1200" dirty="0"/>
            <a:t>Investigate profit drop in 2014</a:t>
          </a:r>
          <a:r>
            <a:rPr lang="en-US" sz="2900" kern="1200" dirty="0"/>
            <a:t> to correct cost structure.</a:t>
          </a:r>
        </a:p>
      </dsp:txBody>
      <dsp:txXfrm>
        <a:off x="0" y="873161"/>
        <a:ext cx="8551030" cy="43782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C31EF-508F-FD34-3B55-CDEC7F9E7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DDDA8F-8309-D1A2-8F55-0CC9FC55C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0D830-3CA4-4FB0-BE5A-DED636DD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8663-F5C6-4EED-B088-0B6FD79C0AC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63087-87C5-55DA-BDFB-3BA59AEC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6FB8E-623D-B289-A7BB-668F2FFD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9471-888A-46FB-A2F6-A1EF5C9F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23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69729-5438-F03B-019E-50DA47EB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AFCA8-F465-A4B9-5E04-6FC2232A3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BEEBF-C81E-D9E5-9017-CA934E300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8663-F5C6-4EED-B088-0B6FD79C0AC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6F960-CE14-5C41-4E02-3523908AA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D2333-08D1-2E7F-765A-8FB54412F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9471-888A-46FB-A2F6-A1EF5C9F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31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F35A8-3D0C-6A77-7E3E-5D51C9721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561A2-C996-72B5-24E8-040756B59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05BEA-2FDC-7C92-1D08-AD241CB9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8663-F5C6-4EED-B088-0B6FD79C0AC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2689E-C6D9-4EB2-8E88-EAF5DFB20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1BDEE-7B16-71B4-D6F0-152942F57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9471-888A-46FB-A2F6-A1EF5C9F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344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C523-2148-19D5-142F-06BD8301F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BF247-82C4-C674-54E8-6819A00BD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9C5ED4-B46D-DA65-B7A3-10EC008D0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645C4-A340-9EE8-C664-6776571F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8663-F5C6-4EED-B088-0B6FD79C0AC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99C4F-101D-CEE1-3A58-8ACAA5851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FC01D-8C2F-8773-33AE-2467D3F56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9471-888A-46FB-A2F6-A1EF5C9F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7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90CAD-4636-ADB4-1DD2-332E414A0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22C8A-7E1A-301F-7E0A-4974903F0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E43F4-96EE-9CB0-4BA9-D15EDF94E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CC7A92-8C9A-17CA-D115-E1AAFED0B5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09C62-11E3-152B-A4DC-199112886F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303E13-9F06-9B1A-DF4B-6A18F3A06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8663-F5C6-4EED-B088-0B6FD79C0AC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408D8F-0DC8-6B3F-A8D2-0C29CB753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B318-FB86-6E37-FDE5-F84808C4F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9471-888A-46FB-A2F6-A1EF5C9F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70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4FA67-8650-F795-88E2-3A2B4789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D8012-AEF9-34F0-0A2D-42BC28395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8663-F5C6-4EED-B088-0B6FD79C0AC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8847B8-793F-354E-078F-39566F1A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068CF-06E2-C25B-D282-B8425105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9471-888A-46FB-A2F6-A1EF5C9F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72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E2627-3AD8-2777-D7B4-B50995F6E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8663-F5C6-4EED-B088-0B6FD79C0AC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507F6B-04D7-4E0B-6395-E187E8DE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62195-FFAA-2F18-A68C-047E69E8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9471-888A-46FB-A2F6-A1EF5C9F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5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E487-8E0F-7BDB-1C05-B6D5E682D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276ED-9D3A-8CE9-57B6-F65654C85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BBF54-D83F-4343-7F9C-D58524A5D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45C50-FF79-E5D8-0B6F-80E915A29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8663-F5C6-4EED-B088-0B6FD79C0AC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5DAF5-9614-C976-7F9B-96493AABF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6C930-BE21-9A5F-81C8-E4F86E1FB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9471-888A-46FB-A2F6-A1EF5C9F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105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EB5B7-5096-9CCE-5ABA-C6FD1D13D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C854A-B005-117C-A312-36045411B0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9FBF0-FB11-C0A4-5F6C-1A8828FC6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0BC49-1750-065B-CE89-8CE3A023E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8663-F5C6-4EED-B088-0B6FD79C0AC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B13E1-FB27-551E-BC3F-18C692EB3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98326-A40E-7570-E2DF-35CCFF9F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9471-888A-46FB-A2F6-A1EF5C9F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64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ABB0B-D2B1-8676-AC10-8D43DB1A8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AF817-9DA2-F25E-5CD9-AF03072DD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368C3-98F8-E2E4-84A0-C14F32742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8663-F5C6-4EED-B088-0B6FD79C0AC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27922-9955-DECD-1D2C-F712C4FE2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EB29F-E64B-2C81-4ECC-DEE756A3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9471-888A-46FB-A2F6-A1EF5C9F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47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52385C-4379-7E62-00CF-0CCFFAB762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2D505-9E0E-9CA0-9260-29F43E9D5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885DC-7FFD-BB68-2D7F-43742E40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38663-F5C6-4EED-B088-0B6FD79C0AC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CF45D-02D9-87FA-EC2B-70FC3230D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D7EBF-AEE5-3426-CDD8-203E8B02B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B9471-888A-46FB-A2F6-A1EF5C9F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87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68A0DD-7971-DC14-9ADD-93CB70579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C1D49-63AC-5853-FF00-9D063FD20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DE3B5-4E5D-385F-53A3-D14084403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B38663-F5C6-4EED-B088-0B6FD79C0AC2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559C1-FB29-10F5-D696-ADE95F001B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4E240-B017-6A08-3671-385123D19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B9471-888A-46FB-A2F6-A1EF5C9FA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chart" Target="../charts/chart2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12" Type="http://schemas.openxmlformats.org/officeDocument/2006/relationships/chart" Target="../charts/chart3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13" Type="http://schemas.openxmlformats.org/officeDocument/2006/relationships/diagramLayout" Target="../diagrams/layout10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12" Type="http://schemas.openxmlformats.org/officeDocument/2006/relationships/diagramData" Target="../diagrams/data10.xml"/><Relationship Id="rId17" Type="http://schemas.openxmlformats.org/officeDocument/2006/relationships/chart" Target="../charts/chart4.xml"/><Relationship Id="rId2" Type="http://schemas.openxmlformats.org/officeDocument/2006/relationships/diagramData" Target="../diagrams/data8.xml"/><Relationship Id="rId16" Type="http://schemas.microsoft.com/office/2007/relationships/diagramDrawing" Target="../diagrams/drawing1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5" Type="http://schemas.openxmlformats.org/officeDocument/2006/relationships/diagramColors" Target="../diagrams/colors10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Relationship Id="rId14" Type="http://schemas.openxmlformats.org/officeDocument/2006/relationships/diagramQuickStyle" Target="../diagrams/quickStyle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diagramDrawing" Target="../diagrams/drawing12.xml"/><Relationship Id="rId3" Type="http://schemas.openxmlformats.org/officeDocument/2006/relationships/diagramLayout" Target="../diagrams/layout11.xml"/><Relationship Id="rId7" Type="http://schemas.microsoft.com/office/2014/relationships/chartEx" Target="../charts/chartEx1.xml"/><Relationship Id="rId12" Type="http://schemas.openxmlformats.org/officeDocument/2006/relationships/diagramColors" Target="../diagrams/colors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.xml"/><Relationship Id="rId11" Type="http://schemas.openxmlformats.org/officeDocument/2006/relationships/diagramQuickStyle" Target="../diagrams/quickStyle12.xml"/><Relationship Id="rId5" Type="http://schemas.openxmlformats.org/officeDocument/2006/relationships/diagramColors" Target="../diagrams/colors11.xml"/><Relationship Id="rId10" Type="http://schemas.openxmlformats.org/officeDocument/2006/relationships/diagramLayout" Target="../diagrams/layout12.xml"/><Relationship Id="rId4" Type="http://schemas.openxmlformats.org/officeDocument/2006/relationships/diagramQuickStyle" Target="../diagrams/quickStyle11.xml"/><Relationship Id="rId9" Type="http://schemas.openxmlformats.org/officeDocument/2006/relationships/diagramData" Target="../diagrams/data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4.xml"/><Relationship Id="rId13" Type="http://schemas.openxmlformats.org/officeDocument/2006/relationships/diagramData" Target="../diagrams/data15.xml"/><Relationship Id="rId3" Type="http://schemas.openxmlformats.org/officeDocument/2006/relationships/diagramLayout" Target="../diagrams/layout13.xml"/><Relationship Id="rId7" Type="http://schemas.openxmlformats.org/officeDocument/2006/relationships/diagramData" Target="../diagrams/data14.xml"/><Relationship Id="rId12" Type="http://schemas.openxmlformats.org/officeDocument/2006/relationships/chart" Target="../charts/chart5.xml"/><Relationship Id="rId17" Type="http://schemas.microsoft.com/office/2007/relationships/diagramDrawing" Target="../diagrams/drawing15.xml"/><Relationship Id="rId2" Type="http://schemas.openxmlformats.org/officeDocument/2006/relationships/diagramData" Target="../diagrams/data13.xml"/><Relationship Id="rId16" Type="http://schemas.openxmlformats.org/officeDocument/2006/relationships/diagramColors" Target="../diagrams/colors1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.xml"/><Relationship Id="rId11" Type="http://schemas.microsoft.com/office/2007/relationships/diagramDrawing" Target="../diagrams/drawing14.xml"/><Relationship Id="rId5" Type="http://schemas.openxmlformats.org/officeDocument/2006/relationships/diagramColors" Target="../diagrams/colors13.xml"/><Relationship Id="rId15" Type="http://schemas.openxmlformats.org/officeDocument/2006/relationships/diagramQuickStyle" Target="../diagrams/quickStyle15.xml"/><Relationship Id="rId10" Type="http://schemas.openxmlformats.org/officeDocument/2006/relationships/diagramColors" Target="../diagrams/colors14.xml"/><Relationship Id="rId4" Type="http://schemas.openxmlformats.org/officeDocument/2006/relationships/diagramQuickStyle" Target="../diagrams/quickStyle13.xml"/><Relationship Id="rId9" Type="http://schemas.openxmlformats.org/officeDocument/2006/relationships/diagramQuickStyle" Target="../diagrams/quickStyle14.xml"/><Relationship Id="rId14" Type="http://schemas.openxmlformats.org/officeDocument/2006/relationships/diagramLayout" Target="../diagrams/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B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49ED5-38BA-DF25-681A-B0D8D2C3F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E18C-A096-6A84-217E-0E3C16C297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2647"/>
            <a:ext cx="9144000" cy="1852706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Sales Performance Report</a:t>
            </a: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2013-2014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A4080-9B46-6441-F9AE-AFC1FF8C00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2768" y="5016290"/>
            <a:ext cx="2102079" cy="719347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Presented by</a:t>
            </a:r>
            <a:br>
              <a:rPr lang="en-US" b="1" dirty="0">
                <a:solidFill>
                  <a:srgbClr val="7030A0"/>
                </a:solidFill>
              </a:rPr>
            </a:br>
            <a:br>
              <a:rPr lang="en-US" b="1" dirty="0">
                <a:solidFill>
                  <a:srgbClr val="7030A0"/>
                </a:solidFill>
              </a:rPr>
            </a:br>
            <a:r>
              <a:rPr lang="en-US" b="1" dirty="0">
                <a:solidFill>
                  <a:srgbClr val="7030A0"/>
                </a:solidFill>
              </a:rPr>
              <a:t>Vishwa</a:t>
            </a:r>
          </a:p>
        </p:txBody>
      </p:sp>
    </p:spTree>
    <p:extLst>
      <p:ext uri="{BB962C8B-B14F-4D97-AF65-F5344CB8AC3E}">
        <p14:creationId xmlns:p14="http://schemas.microsoft.com/office/powerpoint/2010/main" val="2836436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B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EE932F-3294-EBC0-58A7-42DD61097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4CD90-0BAC-67E2-BDBB-C00B83E851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3124" y="168015"/>
            <a:ext cx="6065747" cy="99508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Agenda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68CD9828-9E36-45FB-DC71-543C14D48D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1017980"/>
              </p:ext>
            </p:extLst>
          </p:nvPr>
        </p:nvGraphicFramePr>
        <p:xfrm>
          <a:off x="3235569" y="1163099"/>
          <a:ext cx="5591908" cy="52728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135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B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B3A92-E128-A606-D3E0-4F2A90284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5AEA3-EC71-F1EE-9A39-E144C2640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9290" y="432619"/>
            <a:ext cx="6833418" cy="88490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Executive Summary</a:t>
            </a:r>
            <a:endParaRPr lang="en-US" dirty="0">
              <a:solidFill>
                <a:srgbClr val="7030A0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40C7CE6-2EDA-0237-7A11-AD5D52FFCC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0554249"/>
              </p:ext>
            </p:extLst>
          </p:nvPr>
        </p:nvGraphicFramePr>
        <p:xfrm>
          <a:off x="1741515" y="2065439"/>
          <a:ext cx="8708970" cy="3265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3532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B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90732-1EB5-AE25-41EA-F492ADF70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2FB9E-69EF-7EE6-D320-EA4478CD55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2177" y="118421"/>
            <a:ext cx="6287640" cy="1842979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7030A0"/>
                </a:solidFill>
              </a:rPr>
              <a:t>Overall KPIs</a:t>
            </a:r>
            <a:br>
              <a:rPr lang="en-US" altLang="en-US" b="1" dirty="0">
                <a:solidFill>
                  <a:srgbClr val="7030A0"/>
                </a:solidFill>
              </a:rPr>
            </a:br>
            <a:endParaRPr lang="en-US" b="1" dirty="0">
              <a:solidFill>
                <a:srgbClr val="7030A0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18CEBB1-C811-B8CF-86F9-3AB952A8F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072" y="1117685"/>
            <a:ext cx="1701121" cy="135649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17D78C3-338E-B5CE-2F00-AF00ECEC8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146" y="3599151"/>
            <a:ext cx="1792728" cy="142954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383D0DF-38B8-98B2-6200-DD55D39A7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3194" y="3490617"/>
            <a:ext cx="1853697" cy="1429546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1A6A72F2-192C-5A34-129F-814478F08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043" y="1189195"/>
            <a:ext cx="1701122" cy="1339182"/>
          </a:xfrm>
          <a:prstGeom prst="rect">
            <a:avLst/>
          </a:prstGeom>
        </p:spPr>
      </p:pic>
      <p:sp>
        <p:nvSpPr>
          <p:cNvPr id="66" name="Rectangle 1">
            <a:extLst>
              <a:ext uri="{FF2B5EF4-FFF2-40B4-BE49-F238E27FC236}">
                <a16:creationId xmlns:a16="http://schemas.microsoft.com/office/drawing/2014/main" id="{361B344B-E889-01CD-0E3F-B37CFD92B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4042" y="2809108"/>
            <a:ext cx="34095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solidFill>
                  <a:srgbClr val="7030A0"/>
                </a:solidFill>
              </a:rPr>
              <a:t>Total units sold: </a:t>
            </a:r>
            <a:r>
              <a:rPr lang="en-US" altLang="en-US" sz="1800" dirty="0">
                <a:solidFill>
                  <a:srgbClr val="7030A0"/>
                </a:solidFill>
              </a:rPr>
              <a:t>1.12M units</a:t>
            </a:r>
          </a:p>
        </p:txBody>
      </p:sp>
      <p:sp>
        <p:nvSpPr>
          <p:cNvPr id="67" name="Rectangle 1">
            <a:extLst>
              <a:ext uri="{FF2B5EF4-FFF2-40B4-BE49-F238E27FC236}">
                <a16:creationId xmlns:a16="http://schemas.microsoft.com/office/drawing/2014/main" id="{5C393B9A-5191-2C71-6077-0186EDDEC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6506" y="5142344"/>
            <a:ext cx="263040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solidFill>
                  <a:srgbClr val="7030A0"/>
                </a:solidFill>
              </a:rPr>
              <a:t>Average sale: </a:t>
            </a:r>
            <a:r>
              <a:rPr lang="en-US" altLang="en-US" sz="1800" dirty="0">
                <a:solidFill>
                  <a:srgbClr val="7030A0"/>
                </a:solidFill>
              </a:rPr>
              <a:t>118.43</a:t>
            </a:r>
            <a:br>
              <a:rPr lang="en-US" altLang="en-US" sz="1800" dirty="0">
                <a:solidFill>
                  <a:srgbClr val="7030A0"/>
                </a:solidFill>
              </a:rPr>
            </a:br>
            <a:endParaRPr lang="en-US" altLang="en-US" sz="1800" dirty="0">
              <a:solidFill>
                <a:srgbClr val="7030A0"/>
              </a:solidFill>
            </a:endParaRPr>
          </a:p>
        </p:txBody>
      </p:sp>
      <p:sp>
        <p:nvSpPr>
          <p:cNvPr id="68" name="Rectangle 1">
            <a:extLst>
              <a:ext uri="{FF2B5EF4-FFF2-40B4-BE49-F238E27FC236}">
                <a16:creationId xmlns:a16="http://schemas.microsoft.com/office/drawing/2014/main" id="{840EDD4C-72EE-8445-22C0-FAAAE0595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6418" y="5142344"/>
            <a:ext cx="46078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solidFill>
                  <a:srgbClr val="7030A0"/>
                </a:solidFill>
              </a:rPr>
              <a:t>Average Discount: </a:t>
            </a:r>
            <a:r>
              <a:rPr lang="en-US" altLang="en-US" sz="1800" dirty="0">
                <a:solidFill>
                  <a:srgbClr val="7030A0"/>
                </a:solidFill>
              </a:rPr>
              <a:t>13,150.35</a:t>
            </a:r>
          </a:p>
        </p:txBody>
      </p:sp>
      <p:sp>
        <p:nvSpPr>
          <p:cNvPr id="69" name="Rectangle 27">
            <a:extLst>
              <a:ext uri="{FF2B5EF4-FFF2-40B4-BE49-F238E27FC236}">
                <a16:creationId xmlns:a16="http://schemas.microsoft.com/office/drawing/2014/main" id="{F869D33C-473B-02DC-020A-482820F1E74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402751" y="2804292"/>
            <a:ext cx="30988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Total Sales: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</a:rPr>
              <a:t> </a:t>
            </a:r>
            <a:r>
              <a:rPr lang="en-US" altLang="en-US" sz="1800" dirty="0">
                <a:solidFill>
                  <a:srgbClr val="7030A0"/>
                </a:solidFill>
              </a:rPr>
              <a:t>118726350.26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7030A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0" name="Rectangle 28">
            <a:extLst>
              <a:ext uri="{FF2B5EF4-FFF2-40B4-BE49-F238E27FC236}">
                <a16:creationId xmlns:a16="http://schemas.microsoft.com/office/drawing/2014/main" id="{7212AF0A-F884-D73F-A772-1C0F99E69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16,893,702.26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7">
            <a:extLst>
              <a:ext uri="{FF2B5EF4-FFF2-40B4-BE49-F238E27FC236}">
                <a16:creationId xmlns:a16="http://schemas.microsoft.com/office/drawing/2014/main" id="{D09AE5BC-F7D7-E95F-333D-3C8E1C6CF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992" y="2809108"/>
            <a:ext cx="30988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solidFill>
                  <a:srgbClr val="7030A0"/>
                </a:solidFill>
              </a:rPr>
              <a:t>Total Profit:</a:t>
            </a:r>
            <a:r>
              <a:rPr lang="en-US" altLang="en-US" sz="1800" dirty="0">
                <a:solidFill>
                  <a:srgbClr val="7030A0"/>
                </a:solidFill>
              </a:rPr>
              <a:t> 16,893,702.26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6494646-4376-CF3D-86F6-856F74C2CE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271" y="1125018"/>
            <a:ext cx="1701121" cy="134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491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B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A6E8C-2352-C2B7-9672-6E3989052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5EB8-1BB8-FCB6-8845-46A102AB5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37918" y="156410"/>
            <a:ext cx="6716160" cy="87024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Sales by Country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84BEB6-3659-89E0-FEED-B03152117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017659"/>
              </p:ext>
            </p:extLst>
          </p:nvPr>
        </p:nvGraphicFramePr>
        <p:xfrm>
          <a:off x="6473952" y="1134939"/>
          <a:ext cx="5110480" cy="288360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2555240">
                  <a:extLst>
                    <a:ext uri="{9D8B030D-6E8A-4147-A177-3AD203B41FA5}">
                      <a16:colId xmlns:a16="http://schemas.microsoft.com/office/drawing/2014/main" val="4291008196"/>
                    </a:ext>
                  </a:extLst>
                </a:gridCol>
                <a:gridCol w="2555240">
                  <a:extLst>
                    <a:ext uri="{9D8B030D-6E8A-4147-A177-3AD203B41FA5}">
                      <a16:colId xmlns:a16="http://schemas.microsoft.com/office/drawing/2014/main" val="4281024395"/>
                    </a:ext>
                  </a:extLst>
                </a:gridCol>
              </a:tblGrid>
              <a:tr h="480601">
                <a:tc>
                  <a:txBody>
                    <a:bodyPr/>
                    <a:lstStyle/>
                    <a:p>
                      <a:r>
                        <a:rPr lang="en-US" dirty="0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7563"/>
                  </a:ext>
                </a:extLst>
              </a:tr>
              <a:tr h="480601">
                <a:tc>
                  <a:txBody>
                    <a:bodyPr/>
                    <a:lstStyle/>
                    <a:p>
                      <a:r>
                        <a:rPr lang="en-US" dirty="0"/>
                        <a:t>USA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25,028,830.17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330075"/>
                  </a:ext>
                </a:extLst>
              </a:tr>
              <a:tr h="480601">
                <a:tc>
                  <a:txBody>
                    <a:bodyPr/>
                    <a:lstStyle/>
                    <a:p>
                      <a:r>
                        <a:rPr lang="en-US" dirty="0"/>
                        <a:t>Mexico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24,887,654.89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568290"/>
                  </a:ext>
                </a:extLst>
              </a:tr>
              <a:tr h="480601">
                <a:tc>
                  <a:txBody>
                    <a:bodyPr/>
                    <a:lstStyle/>
                    <a:p>
                      <a:r>
                        <a:rPr lang="en-US" dirty="0"/>
                        <a:t>Germany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23,505,340.82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826759"/>
                  </a:ext>
                </a:extLst>
              </a:tr>
              <a:tr h="480601">
                <a:tc>
                  <a:txBody>
                    <a:bodyPr/>
                    <a:lstStyle/>
                    <a:p>
                      <a:r>
                        <a:rPr lang="en-US" dirty="0"/>
                        <a:t>France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24,354,172.28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6886611"/>
                  </a:ext>
                </a:extLst>
              </a:tr>
              <a:tr h="480601">
                <a:tc>
                  <a:txBody>
                    <a:bodyPr/>
                    <a:lstStyle/>
                    <a:p>
                      <a:r>
                        <a:rPr lang="en-US" dirty="0"/>
                        <a:t>Canada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20,949,352.11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8676785"/>
                  </a:ext>
                </a:extLst>
              </a:tr>
            </a:tbl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924BD858-6601-46ED-B330-40312B7BAA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3780822"/>
              </p:ext>
            </p:extLst>
          </p:nvPr>
        </p:nvGraphicFramePr>
        <p:xfrm>
          <a:off x="694944" y="1134940"/>
          <a:ext cx="4922085" cy="28836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707FBE37-B674-C059-7489-31F7CACCF7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3189662"/>
              </p:ext>
            </p:extLst>
          </p:nvPr>
        </p:nvGraphicFramePr>
        <p:xfrm>
          <a:off x="2592701" y="5069058"/>
          <a:ext cx="7006593" cy="1098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04741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B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945B6-5B16-A9B6-7BAA-DC93FD05A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6CF14-5186-E7D5-DA3F-134D42F06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5190" y="151752"/>
            <a:ext cx="8682238" cy="100368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B95CDE"/>
                </a:solidFill>
              </a:rPr>
              <a:t>Segment-wise Sales &amp; Profit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818DAEA-7D15-E521-AA99-B0A18A15D5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275922"/>
              </p:ext>
            </p:extLst>
          </p:nvPr>
        </p:nvGraphicFramePr>
        <p:xfrm>
          <a:off x="6827520" y="1648225"/>
          <a:ext cx="4434037" cy="2775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A7179911-502E-7C97-1858-F463DF8C81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5736688"/>
              </p:ext>
            </p:extLst>
          </p:nvPr>
        </p:nvGraphicFramePr>
        <p:xfrm>
          <a:off x="3324223" y="5069058"/>
          <a:ext cx="7006593" cy="1098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28BEC14-0DBC-47B8-8810-D3C25FEFC5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2831157"/>
              </p:ext>
            </p:extLst>
          </p:nvPr>
        </p:nvGraphicFramePr>
        <p:xfrm>
          <a:off x="930443" y="1307616"/>
          <a:ext cx="4434038" cy="34570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858075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B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559982-4CB5-04B3-C3ED-2276353B5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FED9-1449-BB9F-5E61-D5F92186BE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7479" y="60960"/>
            <a:ext cx="7697037" cy="1055379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B95CDE"/>
                </a:solidFill>
              </a:rPr>
              <a:t>Discount Band Impact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E90EFFE-1F79-6C64-FCA7-97B9132B97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9377229"/>
              </p:ext>
            </p:extLst>
          </p:nvPr>
        </p:nvGraphicFramePr>
        <p:xfrm>
          <a:off x="6534912" y="1482666"/>
          <a:ext cx="4137445" cy="24052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77ACBEB-107C-4321-F4B2-672E62EA89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19460206"/>
              </p:ext>
            </p:extLst>
          </p:nvPr>
        </p:nvGraphicFramePr>
        <p:xfrm>
          <a:off x="2592700" y="4826177"/>
          <a:ext cx="7006593" cy="1098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8C6677C-F879-40B8-926D-7D0F6F2361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6557627"/>
              </p:ext>
            </p:extLst>
          </p:nvPr>
        </p:nvGraphicFramePr>
        <p:xfrm>
          <a:off x="1052384" y="1258529"/>
          <a:ext cx="5043616" cy="3399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4082778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B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8BB98-FD07-A4E2-F18A-7EC6586D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1C1BAAD-5E35-CEAB-144E-767734D579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9020675"/>
              </p:ext>
            </p:extLst>
          </p:nvPr>
        </p:nvGraphicFramePr>
        <p:xfrm>
          <a:off x="85344" y="1308101"/>
          <a:ext cx="3159255" cy="2218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8C6DD006-850E-4C3A-57DB-6C3CDC2D7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3" y="0"/>
            <a:ext cx="11295890" cy="1288035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B95CDE"/>
                </a:solidFill>
              </a:rPr>
              <a:t>Monthly Sales Trend </a:t>
            </a:r>
            <a:br>
              <a:rPr lang="en-US" sz="5400" b="1" dirty="0">
                <a:solidFill>
                  <a:srgbClr val="B95CDE"/>
                </a:solidFill>
              </a:rPr>
            </a:br>
            <a:r>
              <a:rPr lang="en-US" sz="2700" b="1" dirty="0">
                <a:solidFill>
                  <a:srgbClr val="B95CDE"/>
                </a:solidFill>
              </a:rPr>
              <a:t>(2013 vs 2014)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B65AF299-97A0-E204-4A8C-6E061DE3BD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1965030"/>
              </p:ext>
            </p:extLst>
          </p:nvPr>
        </p:nvGraphicFramePr>
        <p:xfrm>
          <a:off x="8947401" y="1288035"/>
          <a:ext cx="3159255" cy="2218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3DA860F5-6314-9877-0F2B-FA3AE2ADBB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3656693"/>
              </p:ext>
            </p:extLst>
          </p:nvPr>
        </p:nvGraphicFramePr>
        <p:xfrm>
          <a:off x="2592700" y="4826177"/>
          <a:ext cx="7006593" cy="1098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449EDBF-C876-4AEA-895F-EB3ACF8384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652315"/>
              </p:ext>
            </p:extLst>
          </p:nvPr>
        </p:nvGraphicFramePr>
        <p:xfrm>
          <a:off x="3272786" y="1379711"/>
          <a:ext cx="564642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</p:spTree>
    <p:extLst>
      <p:ext uri="{BB962C8B-B14F-4D97-AF65-F5344CB8AC3E}">
        <p14:creationId xmlns:p14="http://schemas.microsoft.com/office/powerpoint/2010/main" val="2522622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B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63807-C6E4-5DB7-1C14-7CDF23F2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3B2F637-0FFC-2CD3-6153-9E9B021B4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191" y="89313"/>
            <a:ext cx="11295890" cy="1098314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B95CDE"/>
                </a:solidFill>
              </a:rPr>
              <a:t>Top 5 Products by Sales</a:t>
            </a:r>
            <a:endParaRPr lang="en-US" sz="2700" b="1" dirty="0">
              <a:solidFill>
                <a:srgbClr val="B95CDE"/>
              </a:solidFill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F9B416B1-32AB-7439-D5E4-B80646336048}"/>
              </a:ext>
            </a:extLst>
          </p:cNvPr>
          <p:cNvGraphicFramePr/>
          <p:nvPr/>
        </p:nvGraphicFramePr>
        <p:xfrm>
          <a:off x="2592700" y="4826177"/>
          <a:ext cx="7006593" cy="1098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2" name="Chart 1">
                <a:extLst>
                  <a:ext uri="{FF2B5EF4-FFF2-40B4-BE49-F238E27FC236}">
                    <a16:creationId xmlns:a16="http://schemas.microsoft.com/office/drawing/2014/main" id="{2FDA23DD-8B51-4205-A529-E2C2C532CF8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59920415"/>
                  </p:ext>
                </p:extLst>
              </p:nvPr>
            </p:nvGraphicFramePr>
            <p:xfrm>
              <a:off x="393191" y="1418759"/>
              <a:ext cx="5058040" cy="287853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2" name="Chart 1">
                <a:extLst>
                  <a:ext uri="{FF2B5EF4-FFF2-40B4-BE49-F238E27FC236}">
                    <a16:creationId xmlns:a16="http://schemas.microsoft.com/office/drawing/2014/main" id="{2FDA23DD-8B51-4205-A529-E2C2C532CF8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3191" y="1418759"/>
                <a:ext cx="5058040" cy="2878536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B1152EC5-7FA6-6453-3B9B-FE37A4FE2F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400887"/>
              </p:ext>
            </p:extLst>
          </p:nvPr>
        </p:nvGraphicFramePr>
        <p:xfrm>
          <a:off x="5908432" y="1418758"/>
          <a:ext cx="4731334" cy="2775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078311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B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24C90-3B2F-2AE1-A708-98FFBDAA1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B14875C-E3A0-817D-D8B0-860EC841B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3" y="0"/>
            <a:ext cx="11295890" cy="1288035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B95CDE"/>
                </a:solidFill>
              </a:rPr>
              <a:t>Sales vs COGS vs Profit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9B375CE-90A8-A42E-E0C1-8E51738442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262098"/>
              </p:ext>
            </p:extLst>
          </p:nvPr>
        </p:nvGraphicFramePr>
        <p:xfrm>
          <a:off x="8818447" y="1647887"/>
          <a:ext cx="3159255" cy="2218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F41C522-5649-A94F-CBF0-41BACF4357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586669"/>
              </p:ext>
            </p:extLst>
          </p:nvPr>
        </p:nvGraphicFramePr>
        <p:xfrm>
          <a:off x="2592700" y="4826177"/>
          <a:ext cx="7006593" cy="10983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39DBCE3-512E-4204-AC08-6FFF89E746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5005571"/>
              </p:ext>
            </p:extLst>
          </p:nvPr>
        </p:nvGraphicFramePr>
        <p:xfrm>
          <a:off x="3853539" y="1376309"/>
          <a:ext cx="4484914" cy="2788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503D96D-305A-ED12-E34C-58BD97F081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9348581"/>
              </p:ext>
            </p:extLst>
          </p:nvPr>
        </p:nvGraphicFramePr>
        <p:xfrm>
          <a:off x="362638" y="1631097"/>
          <a:ext cx="3159255" cy="22189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3601084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B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575E5F-74C2-E931-7D57-362FABC67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E58BA0C9-A9EB-42B9-AA0F-30F83CA32A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1095168"/>
              </p:ext>
            </p:extLst>
          </p:nvPr>
        </p:nvGraphicFramePr>
        <p:xfrm>
          <a:off x="1641231" y="767862"/>
          <a:ext cx="8909538" cy="5322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9431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B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63CD6-950B-EC95-67A8-8AC16E4A4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1E0F53A2-E1DF-85F8-92C3-11045118A4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603330"/>
              </p:ext>
            </p:extLst>
          </p:nvPr>
        </p:nvGraphicFramePr>
        <p:xfrm>
          <a:off x="1820485" y="784301"/>
          <a:ext cx="8551030" cy="5289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2035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CB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C6BFC-B6A9-2B28-FDDB-FC0FF88C4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44FE66-E85B-9285-6F85-B764105B60A3}"/>
              </a:ext>
            </a:extLst>
          </p:cNvPr>
          <p:cNvSpPr txBox="1"/>
          <p:nvPr/>
        </p:nvSpPr>
        <p:spPr>
          <a:xfrm>
            <a:off x="4314092" y="3013501"/>
            <a:ext cx="3563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B95CDE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07180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533</Words>
  <Application>Microsoft Office PowerPoint</Application>
  <PresentationFormat>Widescreen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Sales Performance Report 2013-2014</vt:lpstr>
      <vt:lpstr>Agenda</vt:lpstr>
      <vt:lpstr>Executive Summary</vt:lpstr>
      <vt:lpstr>Overall KPIs </vt:lpstr>
      <vt:lpstr>Sales by Country</vt:lpstr>
      <vt:lpstr>Segment-wise Sales &amp; Profit</vt:lpstr>
      <vt:lpstr>Discount Band Impact</vt:lpstr>
      <vt:lpstr>Monthly Sales Trend  (2013 vs 2014)</vt:lpstr>
      <vt:lpstr>Top 5 Products by Sales</vt:lpstr>
      <vt:lpstr>Sales vs COGS vs Profit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vishwaprasad R</dc:creator>
  <cp:lastModifiedBy>vishwaprasad R</cp:lastModifiedBy>
  <cp:revision>5</cp:revision>
  <dcterms:created xsi:type="dcterms:W3CDTF">2025-12-01T20:04:07Z</dcterms:created>
  <dcterms:modified xsi:type="dcterms:W3CDTF">2025-12-05T21:30:11Z</dcterms:modified>
</cp:coreProperties>
</file>